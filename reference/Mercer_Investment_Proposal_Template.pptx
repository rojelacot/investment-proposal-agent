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4.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5.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Allocation</c:v>
                </c:pt>
              </c:strCache>
            </c:strRef>
          </c:tx>
          <c:spPr>
            <a:solidFill>
              <a:schemeClr val="accent1"/>
            </a:solidFill>
            <a:ln w="9525" cap="flat">
              <a:solidFill>
                <a:srgbClr val="F9F9F9"/>
              </a:solidFill>
              <a:prstDash val="solid"/>
              <a:round/>
            </a:ln>
            <a:effectLst/>
          </c:spPr>
          <c:dPt>
            <c:idx val="0"/>
            <c:bubble3D val="0"/>
            <c:spPr>
              <a:solidFill>
                <a:srgbClr val="0D1B2A"/>
              </a:solidFill>
              <a:effectLst/>
            </c:spPr>
          </c:dPt>
          <c:dPt>
            <c:idx val="1"/>
            <c:bubble3D val="0"/>
            <c:spPr>
              <a:solidFill>
                <a:srgbClr val="B5922E"/>
              </a:solidFill>
              <a:effectLst/>
            </c:spPr>
          </c:dPt>
          <c:dPt>
            <c:idx val="2"/>
            <c:bubble3D val="0"/>
            <c:spPr>
              <a:solidFill>
                <a:srgbClr val="185FA5"/>
              </a:solidFill>
              <a:effectLst/>
            </c:spPr>
          </c:dPt>
          <c:dPt>
            <c:idx val="3"/>
            <c:bubble3D val="0"/>
            <c:spPr>
              <a:solidFill>
                <a:srgbClr val="718096"/>
              </a:solidFill>
              <a:effectLst/>
            </c:spPr>
          </c:dPt>
          <c:dLbls>
            <c:dLbl>
              <c:idx val="0"/>
              <c:numFmt formatCode="General" sourceLinked="0"/>
              <c:spPr/>
              <c:txPr>
                <a:bodyPr/>
                <a:lstStyle/>
                <a:p>
                  <a:pPr>
                    <a:defRPr sz="1000" b="1" i="0" u="none" strike="noStrike">
                      <a:solidFill>
                        <a:srgbClr val="FFFFFF"/>
                      </a:solidFill>
                      <a:latin typeface="Arial"/>
                    </a:defRPr>
                  </a:pPr>
                </a:p>
              </c:txPr>
              <c:showLegendKey val="0"/>
              <c:showVal val="0"/>
              <c:showCatName val="0"/>
              <c:showSerName val="0"/>
              <c:showPercent val="0"/>
              <c:showBubbleSize val="0"/>
            </c:dLbl>
            <c:dLbl>
              <c:idx val="1"/>
              <c:numFmt formatCode="General" sourceLinked="0"/>
              <c:spPr/>
              <c:txPr>
                <a:bodyPr/>
                <a:lstStyle/>
                <a:p>
                  <a:pPr>
                    <a:defRPr sz="1000" b="1" i="0" u="none" strike="noStrike">
                      <a:solidFill>
                        <a:srgbClr val="FFFFFF"/>
                      </a:solidFill>
                      <a:latin typeface="Arial"/>
                    </a:defRPr>
                  </a:pPr>
                </a:p>
              </c:txPr>
              <c:showLegendKey val="0"/>
              <c:showVal val="0"/>
              <c:showCatName val="0"/>
              <c:showSerName val="0"/>
              <c:showPercent val="0"/>
              <c:showBubbleSize val="0"/>
            </c:dLbl>
            <c:dLbl>
              <c:idx val="2"/>
              <c:numFmt formatCode="General" sourceLinked="0"/>
              <c:spPr/>
              <c:txPr>
                <a:bodyPr/>
                <a:lstStyle/>
                <a:p>
                  <a:pPr>
                    <a:defRPr sz="1000" b="1" i="0" u="none" strike="noStrike">
                      <a:solidFill>
                        <a:srgbClr val="FFFFFF"/>
                      </a:solidFill>
                      <a:latin typeface="Arial"/>
                    </a:defRPr>
                  </a:pPr>
                </a:p>
              </c:txPr>
              <c:showLegendKey val="0"/>
              <c:showVal val="0"/>
              <c:showCatName val="0"/>
              <c:showSerName val="0"/>
              <c:showPercent val="0"/>
              <c:showBubbleSize val="0"/>
            </c:dLbl>
            <c:dLbl>
              <c:idx val="3"/>
              <c:numFmt formatCode="General" sourceLinked="0"/>
              <c:spPr/>
              <c:txPr>
                <a:bodyPr/>
                <a:lstStyle/>
                <a:p>
                  <a:pPr>
                    <a:defRPr sz="1000" b="1" i="0" u="none" strike="noStrike">
                      <a:solidFill>
                        <a:srgbClr val="FFFFFF"/>
                      </a:solidFill>
                      <a:latin typeface="Arial"/>
                    </a:defRPr>
                  </a:pPr>
                </a:p>
              </c:txPr>
              <c:showLegendKey val="0"/>
              <c:showVal val="0"/>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NVIDIA (NVDA) — 64.6%</c:v>
                </c:pt>
                <c:pt idx="1">
                  <c:v>Diversified Equities — 23.6%</c:v>
                </c:pt>
                <c:pt idx="2">
                  <c:v>Muni Bonds — 7.6%</c:v>
                </c:pt>
                <c:pt idx="3">
                  <c:v>Cash &amp; Other — 4.2%</c:v>
                </c:pt>
              </c:strCache>
            </c:strRef>
          </c:cat>
          <c:val>
            <c:numRef>
              <c:f>Sheet1!$B$2:$B$5</c:f>
              <c:numCache>
                <c:ptCount val="4"/>
                <c:pt idx="0">
                  <c:v>46500000</c:v>
                </c:pt>
                <c:pt idx="1">
                  <c:v>17000000</c:v>
                </c:pt>
                <c:pt idx="2">
                  <c:v>5500000</c:v>
                </c:pt>
                <c:pt idx="3">
                  <c:v>3000000</c:v>
                </c:pt>
              </c:numCache>
            </c:numRef>
          </c:val>
        </c:ser>
        <c:firstSliceAng val="0"/>
        <c:holeSize val="60"/>
      </c:doughnutChart>
      <c:spPr>
        <a:noFill/>
        <a:ln>
          <a:noFill/>
        </a:ln>
        <a:effectLst/>
      </c:spPr>
    </c:plotArea>
    <c:legend>
      <c:legendPos val="b"/>
      <c:overlay val="0"/>
      <c:txPr>
        <a:bodyPr/>
        <a:lstStyle/>
        <a:p>
          <a:pPr>
            <a:defRPr sz="900">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Allocation</c:v>
                </c:pt>
              </c:strCache>
            </c:strRef>
          </c:tx>
          <c:spPr>
            <a:solidFill>
              <a:schemeClr val="accent1"/>
            </a:solidFill>
            <a:ln w="9525" cap="flat">
              <a:solidFill>
                <a:srgbClr val="F9F9F9"/>
              </a:solidFill>
              <a:prstDash val="solid"/>
              <a:round/>
            </a:ln>
            <a:effectLst/>
          </c:spPr>
          <c:dPt>
            <c:idx val="0"/>
            <c:bubble3D val="0"/>
            <c:spPr>
              <a:solidFill>
                <a:srgbClr val="0D1B2A"/>
              </a:solidFill>
              <a:effectLst/>
            </c:spPr>
          </c:dPt>
          <c:dPt>
            <c:idx val="1"/>
            <c:bubble3D val="0"/>
            <c:spPr>
              <a:solidFill>
                <a:srgbClr val="B5922E"/>
              </a:solidFill>
              <a:effectLst/>
            </c:spPr>
          </c:dPt>
          <c:dPt>
            <c:idx val="2"/>
            <c:bubble3D val="0"/>
            <c:spPr>
              <a:solidFill>
                <a:srgbClr val="185FA5"/>
              </a:solidFill>
              <a:effectLst/>
            </c:spPr>
          </c:dPt>
          <c:dLbls>
            <c:dLbl>
              <c:idx val="0"/>
              <c:numFmt formatCode="General" sourceLinked="0"/>
              <c:spPr/>
              <c:txPr>
                <a:bodyPr/>
                <a:lstStyle/>
                <a:p>
                  <a:pPr>
                    <a:defRPr sz="1100" b="1" i="0" u="none" strike="noStrike">
                      <a:solidFill>
                        <a:srgbClr val="FFFFFF"/>
                      </a:solidFill>
                      <a:latin typeface="Arial"/>
                    </a:defRPr>
                  </a:pPr>
                </a:p>
              </c:txPr>
              <c:showLegendKey val="0"/>
              <c:showVal val="0"/>
              <c:showCatName val="0"/>
              <c:showSerName val="0"/>
              <c:showPercent val="0"/>
              <c:showBubbleSize val="0"/>
            </c:dLbl>
            <c:dLbl>
              <c:idx val="1"/>
              <c:numFmt formatCode="General" sourceLinked="0"/>
              <c:spPr/>
              <c:txPr>
                <a:bodyPr/>
                <a:lstStyle/>
                <a:p>
                  <a:pPr>
                    <a:defRPr sz="1100" b="1" i="0" u="none" strike="noStrike">
                      <a:solidFill>
                        <a:srgbClr val="FFFFFF"/>
                      </a:solidFill>
                      <a:latin typeface="Arial"/>
                    </a:defRPr>
                  </a:pPr>
                </a:p>
              </c:txPr>
              <c:showLegendKey val="0"/>
              <c:showVal val="0"/>
              <c:showCatName val="0"/>
              <c:showSerName val="0"/>
              <c:showPercent val="0"/>
              <c:showBubbleSize val="0"/>
            </c:dLbl>
            <c:dLbl>
              <c:idx val="2"/>
              <c:numFmt formatCode="General" sourceLinked="0"/>
              <c:spPr/>
              <c:txPr>
                <a:bodyPr/>
                <a:lstStyle/>
                <a:p>
                  <a:pPr>
                    <a:defRPr sz="1100" b="1" i="0" u="none" strike="noStrike">
                      <a:solidFill>
                        <a:srgbClr val="FFFFFF"/>
                      </a:solidFill>
                      <a:latin typeface="Arial"/>
                    </a:defRPr>
                  </a:pPr>
                </a:p>
              </c:txPr>
              <c:showLegendKey val="0"/>
              <c:showVal val="0"/>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Equity — 53.5%</c:v>
                </c:pt>
                <c:pt idx="1">
                  <c:v>Fixed Income / Munis — 24.5%</c:v>
                </c:pt>
                <c:pt idx="2">
                  <c:v>Diversified Alternatives — 22.0%</c:v>
                </c:pt>
              </c:strCache>
            </c:strRef>
          </c:cat>
          <c:val>
            <c:numRef>
              <c:f>Sheet1!$B$2:$B$4</c:f>
              <c:numCache>
                <c:ptCount val="3"/>
                <c:pt idx="0">
                  <c:v>53.5</c:v>
                </c:pt>
                <c:pt idx="1">
                  <c:v>24.5</c:v>
                </c:pt>
                <c:pt idx="2">
                  <c:v>22</c:v>
                </c:pt>
              </c:numCache>
            </c:numRef>
          </c:val>
        </c:ser>
        <c:firstSliceAng val="0"/>
        <c:holeSize val="58"/>
      </c:doughnutChart>
      <c:spPr>
        <a:noFill/>
        <a:ln>
          <a:noFill/>
        </a:ln>
        <a:effectLst/>
      </c:spPr>
    </c:plotArea>
    <c:legend>
      <c:legendPos val="b"/>
      <c:overlay val="0"/>
      <c:txPr>
        <a:bodyPr/>
        <a:lstStyle/>
        <a:p>
          <a:pPr>
            <a:defRPr sz="850">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Long Only</c:v>
                </c:pt>
              </c:strCache>
            </c:strRef>
          </c:tx>
          <c:spPr>
            <a:solidFill>
              <a:srgbClr val="718096"/>
            </a:solidFill>
            <a:ln w="31750" cap="flat">
              <a:solidFill>
                <a:srgbClr val="71809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718096"/>
              </a:solidFill>
              <a:ln w="9525" cap="flat">
                <a:solidFill>
                  <a:srgbClr val="718096"/>
                </a:solidFill>
                <a:prstDash val="solid"/>
                <a:round/>
              </a:ln>
              <a:effectLst/>
            </c:spPr>
          </c:marker>
          <c:cat>
            <c:multiLvlStrRef>
              <c:f>Sheet1!$A$2:$A$17</c:f>
              <c:multiLvlStrCache>
                <c:ptCount val="16"/>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lvl>
              </c:multiLvlStrCache>
            </c:multiLvlStrRef>
          </c:cat>
          <c:val>
            <c:numRef>
              <c:f>Sheet1!$B$2:$B$17</c:f>
              <c:numCache>
                <c:formatCode>General</c:formatCode>
                <c:ptCount val="16"/>
                <c:pt idx="0">
                  <c:v>12500000</c:v>
                </c:pt>
                <c:pt idx="1">
                  <c:v>13262000</c:v>
                </c:pt>
                <c:pt idx="2">
                  <c:v>14070452</c:v>
                </c:pt>
                <c:pt idx="3">
                  <c:v>14928186</c:v>
                </c:pt>
                <c:pt idx="4">
                  <c:v>15838208</c:v>
                </c:pt>
                <c:pt idx="5">
                  <c:v>16803706</c:v>
                </c:pt>
                <c:pt idx="6">
                  <c:v>17828060</c:v>
                </c:pt>
                <c:pt idx="7">
                  <c:v>18914858</c:v>
                </c:pt>
                <c:pt idx="8">
                  <c:v>20067908</c:v>
                </c:pt>
                <c:pt idx="9">
                  <c:v>21291247</c:v>
                </c:pt>
                <c:pt idx="10">
                  <c:v>22589162</c:v>
                </c:pt>
                <c:pt idx="11">
                  <c:v>23966197</c:v>
                </c:pt>
                <c:pt idx="12">
                  <c:v>25427177</c:v>
                </c:pt>
                <c:pt idx="13">
                  <c:v>26977217</c:v>
                </c:pt>
                <c:pt idx="14">
                  <c:v>28621748</c:v>
                </c:pt>
                <c:pt idx="15">
                  <c:v>30366530</c:v>
                </c:pt>
              </c:numCache>
            </c:numRef>
          </c:val>
          <c:smooth val="1"/>
        </c:ser>
        <c:ser>
          <c:idx val="1"/>
          <c:order val="1"/>
          <c:tx>
            <c:strRef>
              <c:f>Sheet1!$C$1</c:f>
              <c:strCache>
                <c:ptCount val="1"/>
                <c:pt idx="0">
                  <c:v>130/20</c:v>
                </c:pt>
              </c:strCache>
            </c:strRef>
          </c:tx>
          <c:spPr>
            <a:solidFill>
              <a:srgbClr val="B5922E"/>
            </a:solidFill>
            <a:ln w="31750" cap="flat">
              <a:solidFill>
                <a:srgbClr val="B5922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B5922E"/>
              </a:solidFill>
              <a:ln w="9525" cap="flat">
                <a:solidFill>
                  <a:srgbClr val="B5922E"/>
                </a:solidFill>
                <a:prstDash val="solid"/>
                <a:round/>
              </a:ln>
              <a:effectLst/>
            </c:spPr>
          </c:marker>
          <c:cat>
            <c:multiLvlStrRef>
              <c:f>Sheet1!$A$2:$A$17</c:f>
              <c:multiLvlStrCache>
                <c:ptCount val="16"/>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lvl>
              </c:multiLvlStrCache>
            </c:multiLvlStrRef>
          </c:cat>
          <c:val>
            <c:numRef>
              <c:f>Sheet1!$C$2:$C$17</c:f>
              <c:numCache>
                <c:formatCode>General</c:formatCode>
                <c:ptCount val="16"/>
                <c:pt idx="0">
                  <c:v>12500000</c:v>
                </c:pt>
                <c:pt idx="1">
                  <c:v>13329840</c:v>
                </c:pt>
                <c:pt idx="2">
                  <c:v>14213111</c:v>
                </c:pt>
                <c:pt idx="3">
                  <c:v>15153253</c:v>
                </c:pt>
                <c:pt idx="4">
                  <c:v>16153929</c:v>
                </c:pt>
                <c:pt idx="5">
                  <c:v>17219035</c:v>
                </c:pt>
                <c:pt idx="6">
                  <c:v>18352721</c:v>
                </c:pt>
                <c:pt idx="7">
                  <c:v>19559401</c:v>
                </c:pt>
                <c:pt idx="8">
                  <c:v>20843776</c:v>
                </c:pt>
                <c:pt idx="9">
                  <c:v>22210849</c:v>
                </c:pt>
                <c:pt idx="10">
                  <c:v>23665943</c:v>
                </c:pt>
                <c:pt idx="11">
                  <c:v>25214727</c:v>
                </c:pt>
                <c:pt idx="12">
                  <c:v>26863232</c:v>
                </c:pt>
                <c:pt idx="13">
                  <c:v>28617881</c:v>
                </c:pt>
                <c:pt idx="14">
                  <c:v>30485506</c:v>
                </c:pt>
                <c:pt idx="15">
                  <c:v>32473382</c:v>
                </c:pt>
              </c:numCache>
            </c:numRef>
          </c:val>
          <c:smooth val="1"/>
        </c:ser>
        <c:ser>
          <c:idx val="2"/>
          <c:order val="2"/>
          <c:tx>
            <c:strRef>
              <c:f>Sheet1!$D$1</c:f>
              <c:strCache>
                <c:ptCount val="1"/>
                <c:pt idx="0">
                  <c:v>130/30</c:v>
                </c:pt>
              </c:strCache>
            </c:strRef>
          </c:tx>
          <c:spPr>
            <a:solidFill>
              <a:srgbClr val="0D1B2A"/>
            </a:solidFill>
            <a:ln w="31750" cap="flat">
              <a:solidFill>
                <a:srgbClr val="0D1B2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D1B2A"/>
              </a:solidFill>
              <a:ln w="9525" cap="flat">
                <a:solidFill>
                  <a:srgbClr val="0D1B2A"/>
                </a:solidFill>
                <a:prstDash val="solid"/>
                <a:round/>
              </a:ln>
              <a:effectLst/>
            </c:spPr>
          </c:marker>
          <c:cat>
            <c:multiLvlStrRef>
              <c:f>Sheet1!$A$2:$A$17</c:f>
              <c:multiLvlStrCache>
                <c:ptCount val="16"/>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lvl>
              </c:multiLvlStrCache>
            </c:multiLvlStrRef>
          </c:cat>
          <c:val>
            <c:numRef>
              <c:f>Sheet1!$D$2:$D$17</c:f>
              <c:numCache>
                <c:formatCode>General</c:formatCode>
                <c:ptCount val="16"/>
                <c:pt idx="0">
                  <c:v>12500000</c:v>
                </c:pt>
                <c:pt idx="1">
                  <c:v>13388160</c:v>
                </c:pt>
                <c:pt idx="2">
                  <c:v>14335874</c:v>
                </c:pt>
                <c:pt idx="3">
                  <c:v>15347134</c:v>
                </c:pt>
                <c:pt idx="4">
                  <c:v>16426202</c:v>
                </c:pt>
                <c:pt idx="5">
                  <c:v>17577625</c:v>
                </c:pt>
                <c:pt idx="6">
                  <c:v>18806254</c:v>
                </c:pt>
                <c:pt idx="7">
                  <c:v>20117266</c:v>
                </c:pt>
                <c:pt idx="8">
                  <c:v>21516185</c:v>
                </c:pt>
                <c:pt idx="9">
                  <c:v>23008906</c:v>
                </c:pt>
                <c:pt idx="10">
                  <c:v>24601717</c:v>
                </c:pt>
                <c:pt idx="11">
                  <c:v>26301331</c:v>
                </c:pt>
                <c:pt idx="12">
                  <c:v>28114909</c:v>
                </c:pt>
                <c:pt idx="13">
                  <c:v>30050093</c:v>
                </c:pt>
                <c:pt idx="14">
                  <c:v>32115035</c:v>
                </c:pt>
                <c:pt idx="15">
                  <c:v>34318439</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718096"/>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EDE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718096"/>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Unprotected</c:v>
                </c:pt>
              </c:strCache>
            </c:strRef>
          </c:tx>
          <c:spPr>
            <a:solidFill>
              <a:srgbClr val="DEDEDE"/>
            </a:solidFill>
            <a:ln w="31750" cap="flat">
              <a:solidFill>
                <a:srgbClr val="DEDED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EDEDE"/>
              </a:solidFill>
              <a:ln w="9525" cap="flat">
                <a:solidFill>
                  <a:srgbClr val="DEDEDE"/>
                </a:solidFill>
                <a:prstDash val="solid"/>
                <a:round/>
              </a:ln>
              <a:effectLst/>
            </c:spPr>
          </c:marker>
          <c:cat>
            <c:multiLvlStrRef>
              <c:f>Sheet1!$A$2:$A$24</c:f>
              <c:multiLvlStrCache>
                <c:ptCount val="23"/>
                <c:lvl>
                  <c:pt idx="0">
                    <c:v>$74</c:v>
                  </c:pt>
                  <c:pt idx="1">
                    <c:v>$80</c:v>
                  </c:pt>
                  <c:pt idx="2">
                    <c:v>$85</c:v>
                  </c:pt>
                  <c:pt idx="3">
                    <c:v>$90</c:v>
                  </c:pt>
                  <c:pt idx="4">
                    <c:v>$96</c:v>
                  </c:pt>
                  <c:pt idx="5">
                    <c:v>$101</c:v>
                  </c:pt>
                  <c:pt idx="6">
                    <c:v>$107</c:v>
                  </c:pt>
                  <c:pt idx="7">
                    <c:v>$112</c:v>
                  </c:pt>
                  <c:pt idx="8">
                    <c:v>$117</c:v>
                  </c:pt>
                  <c:pt idx="9">
                    <c:v>$123</c:v>
                  </c:pt>
                  <c:pt idx="10">
                    <c:v>$128</c:v>
                  </c:pt>
                  <c:pt idx="11">
                    <c:v>$134</c:v>
                  </c:pt>
                  <c:pt idx="12">
                    <c:v>$139</c:v>
                  </c:pt>
                  <c:pt idx="13">
                    <c:v>$144</c:v>
                  </c:pt>
                  <c:pt idx="14">
                    <c:v>$150</c:v>
                  </c:pt>
                  <c:pt idx="15">
                    <c:v>$155</c:v>
                  </c:pt>
                  <c:pt idx="16">
                    <c:v>$161</c:v>
                  </c:pt>
                  <c:pt idx="17">
                    <c:v>$166</c:v>
                  </c:pt>
                  <c:pt idx="18">
                    <c:v>$171</c:v>
                  </c:pt>
                  <c:pt idx="19">
                    <c:v>$177</c:v>
                  </c:pt>
                  <c:pt idx="20">
                    <c:v>$182</c:v>
                  </c:pt>
                  <c:pt idx="21">
                    <c:v>$188</c:v>
                  </c:pt>
                  <c:pt idx="22">
                    <c:v>$193</c:v>
                  </c:pt>
                </c:lvl>
              </c:multiLvlStrCache>
            </c:multiLvlStrRef>
          </c:cat>
          <c:val>
            <c:numRef>
              <c:f>Sheet1!$B$2:$B$24</c:f>
              <c:numCache>
                <c:formatCode>General</c:formatCode>
                <c:ptCount val="23"/>
                <c:pt idx="0">
                  <c:v>-14175000</c:v>
                </c:pt>
                <c:pt idx="1">
                  <c:v>-12915000</c:v>
                </c:pt>
                <c:pt idx="2">
                  <c:v>-11655000</c:v>
                </c:pt>
                <c:pt idx="3">
                  <c:v>-10395000</c:v>
                </c:pt>
                <c:pt idx="4">
                  <c:v>-9135000</c:v>
                </c:pt>
                <c:pt idx="5">
                  <c:v>-7875000</c:v>
                </c:pt>
                <c:pt idx="6">
                  <c:v>-6615000</c:v>
                </c:pt>
                <c:pt idx="7">
                  <c:v>-5355000</c:v>
                </c:pt>
                <c:pt idx="8">
                  <c:v>-4095000</c:v>
                </c:pt>
                <c:pt idx="9">
                  <c:v>-2835000</c:v>
                </c:pt>
                <c:pt idx="10">
                  <c:v>-1575000</c:v>
                </c:pt>
                <c:pt idx="11">
                  <c:v>-315000</c:v>
                </c:pt>
                <c:pt idx="12">
                  <c:v>945000</c:v>
                </c:pt>
                <c:pt idx="13">
                  <c:v>2205000</c:v>
                </c:pt>
                <c:pt idx="14">
                  <c:v>3465000</c:v>
                </c:pt>
                <c:pt idx="15">
                  <c:v>4725000</c:v>
                </c:pt>
                <c:pt idx="16">
                  <c:v>5985000</c:v>
                </c:pt>
                <c:pt idx="17">
                  <c:v>7245000</c:v>
                </c:pt>
                <c:pt idx="18">
                  <c:v>8505000</c:v>
                </c:pt>
                <c:pt idx="19">
                  <c:v>9765000</c:v>
                </c:pt>
                <c:pt idx="20">
                  <c:v>11025000</c:v>
                </c:pt>
                <c:pt idx="21">
                  <c:v>12285000</c:v>
                </c:pt>
                <c:pt idx="22">
                  <c:v>13545000</c:v>
                </c:pt>
              </c:numCache>
            </c:numRef>
          </c:val>
          <c:smooth val="0"/>
        </c:ser>
        <c:ser>
          <c:idx val="1"/>
          <c:order val="1"/>
          <c:tx>
            <c:strRef>
              <c:f>Sheet1!$C$1</c:f>
              <c:strCache>
                <c:ptCount val="1"/>
                <c:pt idx="0">
                  <c:v>With Collar</c:v>
                </c:pt>
              </c:strCache>
            </c:strRef>
          </c:tx>
          <c:spPr>
            <a:solidFill>
              <a:srgbClr val="0D1B2A"/>
            </a:solidFill>
            <a:ln w="31750" cap="flat">
              <a:solidFill>
                <a:srgbClr val="0D1B2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D1B2A"/>
              </a:solidFill>
              <a:ln w="9525" cap="flat">
                <a:solidFill>
                  <a:srgbClr val="0D1B2A"/>
                </a:solidFill>
                <a:prstDash val="solid"/>
                <a:round/>
              </a:ln>
              <a:effectLst/>
            </c:spPr>
          </c:marker>
          <c:cat>
            <c:multiLvlStrRef>
              <c:f>Sheet1!$A$2:$A$24</c:f>
              <c:multiLvlStrCache>
                <c:ptCount val="23"/>
                <c:lvl>
                  <c:pt idx="0">
                    <c:v>$74</c:v>
                  </c:pt>
                  <c:pt idx="1">
                    <c:v>$80</c:v>
                  </c:pt>
                  <c:pt idx="2">
                    <c:v>$85</c:v>
                  </c:pt>
                  <c:pt idx="3">
                    <c:v>$90</c:v>
                  </c:pt>
                  <c:pt idx="4">
                    <c:v>$96</c:v>
                  </c:pt>
                  <c:pt idx="5">
                    <c:v>$101</c:v>
                  </c:pt>
                  <c:pt idx="6">
                    <c:v>$107</c:v>
                  </c:pt>
                  <c:pt idx="7">
                    <c:v>$112</c:v>
                  </c:pt>
                  <c:pt idx="8">
                    <c:v>$117</c:v>
                  </c:pt>
                  <c:pt idx="9">
                    <c:v>$123</c:v>
                  </c:pt>
                  <c:pt idx="10">
                    <c:v>$128</c:v>
                  </c:pt>
                  <c:pt idx="11">
                    <c:v>$134</c:v>
                  </c:pt>
                  <c:pt idx="12">
                    <c:v>$139</c:v>
                  </c:pt>
                  <c:pt idx="13">
                    <c:v>$144</c:v>
                  </c:pt>
                  <c:pt idx="14">
                    <c:v>$150</c:v>
                  </c:pt>
                  <c:pt idx="15">
                    <c:v>$155</c:v>
                  </c:pt>
                  <c:pt idx="16">
                    <c:v>$161</c:v>
                  </c:pt>
                  <c:pt idx="17">
                    <c:v>$166</c:v>
                  </c:pt>
                  <c:pt idx="18">
                    <c:v>$171</c:v>
                  </c:pt>
                  <c:pt idx="19">
                    <c:v>$177</c:v>
                  </c:pt>
                  <c:pt idx="20">
                    <c:v>$182</c:v>
                  </c:pt>
                  <c:pt idx="21">
                    <c:v>$188</c:v>
                  </c:pt>
                  <c:pt idx="22">
                    <c:v>$193</c:v>
                  </c:pt>
                </c:lvl>
              </c:multiLvlStrCache>
            </c:multiLvlStrRef>
          </c:cat>
          <c:val>
            <c:numRef>
              <c:f>Sheet1!$C$2:$C$24</c:f>
              <c:numCache>
                <c:formatCode>General</c:formatCode>
                <c:ptCount val="23"/>
                <c:pt idx="0">
                  <c:v>-3780000</c:v>
                </c:pt>
                <c:pt idx="1">
                  <c:v>-3780000</c:v>
                </c:pt>
                <c:pt idx="2">
                  <c:v>-3780000</c:v>
                </c:pt>
                <c:pt idx="3">
                  <c:v>-3780000</c:v>
                </c:pt>
                <c:pt idx="4">
                  <c:v>-3780000</c:v>
                </c:pt>
                <c:pt idx="5">
                  <c:v>-3780000</c:v>
                </c:pt>
                <c:pt idx="6">
                  <c:v>-3780000</c:v>
                </c:pt>
                <c:pt idx="7">
                  <c:v>-3780000</c:v>
                </c:pt>
                <c:pt idx="8">
                  <c:v>-3780000</c:v>
                </c:pt>
                <c:pt idx="9">
                  <c:v>-2835000</c:v>
                </c:pt>
                <c:pt idx="10">
                  <c:v>-1575000</c:v>
                </c:pt>
                <c:pt idx="11">
                  <c:v>-315000</c:v>
                </c:pt>
                <c:pt idx="12">
                  <c:v>945000</c:v>
                </c:pt>
                <c:pt idx="13">
                  <c:v>2205000</c:v>
                </c:pt>
                <c:pt idx="14">
                  <c:v>3465000</c:v>
                </c:pt>
                <c:pt idx="15">
                  <c:v>4725000</c:v>
                </c:pt>
                <c:pt idx="16">
                  <c:v>5355000</c:v>
                </c:pt>
                <c:pt idx="17">
                  <c:v>5355000</c:v>
                </c:pt>
                <c:pt idx="18">
                  <c:v>5355000</c:v>
                </c:pt>
                <c:pt idx="19">
                  <c:v>5355000</c:v>
                </c:pt>
                <c:pt idx="20">
                  <c:v>5355000</c:v>
                </c:pt>
                <c:pt idx="21">
                  <c:v>5355000</c:v>
                </c:pt>
                <c:pt idx="22">
                  <c:v>5355000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718096"/>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EDE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718096"/>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Total Estate</c:v>
                </c:pt>
              </c:strCache>
            </c:strRef>
          </c:tx>
          <c:spPr>
            <a:solidFill>
              <a:srgbClr val="0D1B2A"/>
            </a:solidFill>
            <a:ln w="31750" cap="flat">
              <a:solidFill>
                <a:srgbClr val="0D1B2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D1B2A"/>
              </a:solidFill>
              <a:ln w="9525" cap="flat">
                <a:solidFill>
                  <a:srgbClr val="0D1B2A"/>
                </a:solidFill>
                <a:prstDash val="solid"/>
                <a:round/>
              </a:ln>
              <a:effectLst/>
            </c:spPr>
          </c:marker>
          <c:cat>
            <c:multiLvlStrRef>
              <c:f>Sheet1!$A$2:$A$15</c:f>
              <c:multiLvlStrCache>
                <c:ptCount val="14"/>
                <c:lvl>
                  <c:pt idx="0">
                    <c:v>Today</c:v>
                  </c:pt>
                  <c:pt idx="1">
                    <c:v>Yr 3</c:v>
                  </c:pt>
                  <c:pt idx="2">
                    <c:v>Yr 6</c:v>
                  </c:pt>
                  <c:pt idx="3">
                    <c:v>Yr 9</c:v>
                  </c:pt>
                  <c:pt idx="4">
                    <c:v>Yr 12</c:v>
                  </c:pt>
                  <c:pt idx="5">
                    <c:v>Yr 15</c:v>
                  </c:pt>
                  <c:pt idx="6">
                    <c:v>Yr 18</c:v>
                  </c:pt>
                  <c:pt idx="7">
                    <c:v>Yr 21</c:v>
                  </c:pt>
                  <c:pt idx="8">
                    <c:v>Yr 24</c:v>
                  </c:pt>
                  <c:pt idx="9">
                    <c:v>Yr 27</c:v>
                  </c:pt>
                  <c:pt idx="10">
                    <c:v>Yr 30</c:v>
                  </c:pt>
                  <c:pt idx="11">
                    <c:v>Yr 33</c:v>
                  </c:pt>
                  <c:pt idx="12">
                    <c:v>Yr 36</c:v>
                  </c:pt>
                  <c:pt idx="13">
                    <c:v>Yr 37</c:v>
                  </c:pt>
                </c:lvl>
              </c:multiLvlStrCache>
            </c:multiLvlStrRef>
          </c:cat>
          <c:val>
            <c:numRef>
              <c:f>Sheet1!$B$2:$B$15</c:f>
              <c:numCache>
                <c:formatCode>General</c:formatCode>
                <c:ptCount val="14"/>
                <c:pt idx="0">
                  <c:v>118000000</c:v>
                </c:pt>
                <c:pt idx="1">
                  <c:v>144555074</c:v>
                </c:pt>
                <c:pt idx="2">
                  <c:v>177086182</c:v>
                </c:pt>
                <c:pt idx="3">
                  <c:v>216938187</c:v>
                </c:pt>
                <c:pt idx="4">
                  <c:v>265758607</c:v>
                </c:pt>
                <c:pt idx="5">
                  <c:v>325565722</c:v>
                </c:pt>
                <c:pt idx="6">
                  <c:v>398832009</c:v>
                </c:pt>
                <c:pt idx="7">
                  <c:v>488586360</c:v>
                </c:pt>
                <c:pt idx="8">
                  <c:v>598539300</c:v>
                </c:pt>
                <c:pt idx="9">
                  <c:v>733236380</c:v>
                </c:pt>
                <c:pt idx="10">
                  <c:v>898246095</c:v>
                </c:pt>
                <c:pt idx="11">
                  <c:v>1100390091</c:v>
                </c:pt>
                <c:pt idx="12">
                  <c:v>1348025178</c:v>
                </c:pt>
                <c:pt idx="13">
                  <c:v>1442386941</c:v>
                </c:pt>
              </c:numCache>
            </c:numRef>
          </c:val>
          <c:smooth val="1"/>
        </c:ser>
        <c:ser>
          <c:idx val="1"/>
          <c:order val="1"/>
          <c:tx>
            <c:strRef>
              <c:f>Sheet1!$C$1</c:f>
              <c:strCache>
                <c:ptCount val="1"/>
                <c:pt idx="0">
                  <c:v>Net to Heirs</c:v>
                </c:pt>
              </c:strCache>
            </c:strRef>
          </c:tx>
          <c:spPr>
            <a:solidFill>
              <a:srgbClr val="1A6B45"/>
            </a:solidFill>
            <a:ln w="31750" cap="flat">
              <a:solidFill>
                <a:srgbClr val="1A6B4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A6B45"/>
              </a:solidFill>
              <a:ln w="9525" cap="flat">
                <a:solidFill>
                  <a:srgbClr val="1A6B45"/>
                </a:solidFill>
                <a:prstDash val="solid"/>
                <a:round/>
              </a:ln>
              <a:effectLst/>
            </c:spPr>
          </c:marker>
          <c:cat>
            <c:multiLvlStrRef>
              <c:f>Sheet1!$A$2:$A$15</c:f>
              <c:multiLvlStrCache>
                <c:ptCount val="14"/>
                <c:lvl>
                  <c:pt idx="0">
                    <c:v>Today</c:v>
                  </c:pt>
                  <c:pt idx="1">
                    <c:v>Yr 3</c:v>
                  </c:pt>
                  <c:pt idx="2">
                    <c:v>Yr 6</c:v>
                  </c:pt>
                  <c:pt idx="3">
                    <c:v>Yr 9</c:v>
                  </c:pt>
                  <c:pt idx="4">
                    <c:v>Yr 12</c:v>
                  </c:pt>
                  <c:pt idx="5">
                    <c:v>Yr 15</c:v>
                  </c:pt>
                  <c:pt idx="6">
                    <c:v>Yr 18</c:v>
                  </c:pt>
                  <c:pt idx="7">
                    <c:v>Yr 21</c:v>
                  </c:pt>
                  <c:pt idx="8">
                    <c:v>Yr 24</c:v>
                  </c:pt>
                  <c:pt idx="9">
                    <c:v>Yr 27</c:v>
                  </c:pt>
                  <c:pt idx="10">
                    <c:v>Yr 30</c:v>
                  </c:pt>
                  <c:pt idx="11">
                    <c:v>Yr 33</c:v>
                  </c:pt>
                  <c:pt idx="12">
                    <c:v>Yr 36</c:v>
                  </c:pt>
                  <c:pt idx="13">
                    <c:v>Yr 37</c:v>
                  </c:pt>
                </c:lvl>
              </c:multiLvlStrCache>
            </c:multiLvlStrRef>
          </c:cat>
          <c:val>
            <c:numRef>
              <c:f>Sheet1!$C$2:$C$15</c:f>
              <c:numCache>
                <c:formatCode>General</c:formatCode>
                <c:ptCount val="14"/>
                <c:pt idx="0">
                  <c:v>82800000</c:v>
                </c:pt>
                <c:pt idx="1">
                  <c:v>98733044</c:v>
                </c:pt>
                <c:pt idx="2">
                  <c:v>118251709</c:v>
                </c:pt>
                <c:pt idx="3">
                  <c:v>142162912</c:v>
                </c:pt>
                <c:pt idx="4">
                  <c:v>171455164</c:v>
                </c:pt>
                <c:pt idx="5">
                  <c:v>207339433</c:v>
                </c:pt>
                <c:pt idx="6">
                  <c:v>251299205</c:v>
                </c:pt>
                <c:pt idx="7">
                  <c:v>305151816</c:v>
                </c:pt>
                <c:pt idx="8">
                  <c:v>371123580</c:v>
                </c:pt>
                <c:pt idx="9">
                  <c:v>451941828</c:v>
                </c:pt>
                <c:pt idx="10">
                  <c:v>550947657</c:v>
                </c:pt>
                <c:pt idx="11">
                  <c:v>672234055</c:v>
                </c:pt>
                <c:pt idx="12">
                  <c:v>820815107</c:v>
                </c:pt>
                <c:pt idx="13">
                  <c:v>877432165</c:v>
                </c:pt>
              </c:numCache>
            </c:numRef>
          </c:val>
          <c:smooth val="1"/>
        </c:ser>
        <c:ser>
          <c:idx val="2"/>
          <c:order val="2"/>
          <c:tx>
            <c:strRef>
              <c:f>Sheet1!$D$1</c:f>
              <c:strCache>
                <c:ptCount val="1"/>
                <c:pt idx="0">
                  <c:v>Estate Tax</c:v>
                </c:pt>
              </c:strCache>
            </c:strRef>
          </c:tx>
          <c:spPr>
            <a:solidFill>
              <a:srgbClr val="C0392B"/>
            </a:solidFill>
            <a:ln w="31750" cap="flat">
              <a:solidFill>
                <a:srgbClr val="C039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0392B"/>
              </a:solidFill>
              <a:ln w="9525" cap="flat">
                <a:solidFill>
                  <a:srgbClr val="C0392B"/>
                </a:solidFill>
                <a:prstDash val="solid"/>
                <a:round/>
              </a:ln>
              <a:effectLst/>
            </c:spPr>
          </c:marker>
          <c:cat>
            <c:multiLvlStrRef>
              <c:f>Sheet1!$A$2:$A$15</c:f>
              <c:multiLvlStrCache>
                <c:ptCount val="14"/>
                <c:lvl>
                  <c:pt idx="0">
                    <c:v>Today</c:v>
                  </c:pt>
                  <c:pt idx="1">
                    <c:v>Yr 3</c:v>
                  </c:pt>
                  <c:pt idx="2">
                    <c:v>Yr 6</c:v>
                  </c:pt>
                  <c:pt idx="3">
                    <c:v>Yr 9</c:v>
                  </c:pt>
                  <c:pt idx="4">
                    <c:v>Yr 12</c:v>
                  </c:pt>
                  <c:pt idx="5">
                    <c:v>Yr 15</c:v>
                  </c:pt>
                  <c:pt idx="6">
                    <c:v>Yr 18</c:v>
                  </c:pt>
                  <c:pt idx="7">
                    <c:v>Yr 21</c:v>
                  </c:pt>
                  <c:pt idx="8">
                    <c:v>Yr 24</c:v>
                  </c:pt>
                  <c:pt idx="9">
                    <c:v>Yr 27</c:v>
                  </c:pt>
                  <c:pt idx="10">
                    <c:v>Yr 30</c:v>
                  </c:pt>
                  <c:pt idx="11">
                    <c:v>Yr 33</c:v>
                  </c:pt>
                  <c:pt idx="12">
                    <c:v>Yr 36</c:v>
                  </c:pt>
                  <c:pt idx="13">
                    <c:v>Yr 37</c:v>
                  </c:pt>
                </c:lvl>
              </c:multiLvlStrCache>
            </c:multiLvlStrRef>
          </c:cat>
          <c:val>
            <c:numRef>
              <c:f>Sheet1!$D$2:$D$15</c:f>
              <c:numCache>
                <c:formatCode>General</c:formatCode>
                <c:ptCount val="14"/>
                <c:pt idx="0">
                  <c:v>35200000</c:v>
                </c:pt>
                <c:pt idx="1">
                  <c:v>45822030</c:v>
                </c:pt>
                <c:pt idx="2">
                  <c:v>58834473</c:v>
                </c:pt>
                <c:pt idx="3">
                  <c:v>74775275</c:v>
                </c:pt>
                <c:pt idx="4">
                  <c:v>94303443</c:v>
                </c:pt>
                <c:pt idx="5">
                  <c:v>118226289</c:v>
                </c:pt>
                <c:pt idx="6">
                  <c:v>147532804</c:v>
                </c:pt>
                <c:pt idx="7">
                  <c:v>183434544</c:v>
                </c:pt>
                <c:pt idx="8">
                  <c:v>227415720</c:v>
                </c:pt>
                <c:pt idx="9">
                  <c:v>281294552</c:v>
                </c:pt>
                <c:pt idx="10">
                  <c:v>347298438</c:v>
                </c:pt>
                <c:pt idx="11">
                  <c:v>428156036</c:v>
                </c:pt>
                <c:pt idx="12">
                  <c:v>527210071</c:v>
                </c:pt>
                <c:pt idx="13">
                  <c:v>564954776</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718096"/>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EDE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718096"/>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slideLayout" Target="../slideLayouts/slideLayout1.xml"/><Relationship Id="rId7"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B5922E"/>
          </a:solidFill>
          <a:ln w="12700">
            <a:solidFill>
              <a:srgbClr val="B5922E"/>
            </a:solidFill>
            <a:prstDash val="solid"/>
          </a:ln>
        </p:spPr>
      </p:sp>
      <p:sp>
        <p:nvSpPr>
          <p:cNvPr id="3" name="Shape 1"/>
          <p:cNvSpPr/>
          <p:nvPr/>
        </p:nvSpPr>
        <p:spPr>
          <a:xfrm>
            <a:off x="6035040" y="0"/>
            <a:ext cx="3108960" cy="5143500"/>
          </a:xfrm>
          <a:prstGeom prst="rect">
            <a:avLst/>
          </a:prstGeom>
          <a:solidFill>
            <a:srgbClr val="1A2E45"/>
          </a:solidFill>
          <a:ln w="12700">
            <a:solidFill>
              <a:srgbClr val="1A2E45"/>
            </a:solidFill>
            <a:prstDash val="solid"/>
          </a:ln>
        </p:spPr>
      </p:sp>
      <p:sp>
        <p:nvSpPr>
          <p:cNvPr id="4" name="Shape 2"/>
          <p:cNvSpPr/>
          <p:nvPr/>
        </p:nvSpPr>
        <p:spPr>
          <a:xfrm>
            <a:off x="6035040" y="0"/>
            <a:ext cx="10973" cy="5143500"/>
          </a:xfrm>
          <a:prstGeom prst="rect">
            <a:avLst/>
          </a:prstGeom>
          <a:solidFill>
            <a:srgbClr val="B5922E"/>
          </a:solidFill>
          <a:ln w="12700">
            <a:solidFill>
              <a:srgbClr val="B5922E"/>
            </a:solidFill>
            <a:prstDash val="solid"/>
          </a:ln>
        </p:spPr>
      </p:sp>
      <p:sp>
        <p:nvSpPr>
          <p:cNvPr id="5" name="Text 3"/>
          <p:cNvSpPr/>
          <p:nvPr/>
        </p:nvSpPr>
        <p:spPr>
          <a:xfrm>
            <a:off x="411480" y="502920"/>
            <a:ext cx="5303520" cy="201168"/>
          </a:xfrm>
          <a:prstGeom prst="rect">
            <a:avLst/>
          </a:prstGeom>
          <a:noFill/>
          <a:ln/>
        </p:spPr>
        <p:txBody>
          <a:bodyPr wrap="square" lIns="0" tIns="0" rIns="0" bIns="0" rtlCol="0" anchor="ctr"/>
          <a:lstStyle/>
          <a:p>
            <a:pPr indent="0" marL="0">
              <a:buNone/>
            </a:pPr>
            <a:r>
              <a:rPr lang="en-US" sz="900" b="1" spc="300" kern="0" dirty="0">
                <a:solidFill>
                  <a:srgbClr val="B5922E"/>
                </a:solidFill>
                <a:latin typeface="Calibri" pitchFamily="34" charset="0"/>
                <a:ea typeface="Calibri" pitchFamily="34" charset="-122"/>
                <a:cs typeface="Calibri" pitchFamily="34" charset="-120"/>
              </a:rPr>
              <a:t>INVESTMENT PROPOSAL · 2026</a:t>
            </a:r>
            <a:endParaRPr lang="en-US" sz="900" dirty="0"/>
          </a:p>
        </p:txBody>
      </p:sp>
      <p:sp>
        <p:nvSpPr>
          <p:cNvPr id="6" name="Text 4"/>
          <p:cNvSpPr/>
          <p:nvPr/>
        </p:nvSpPr>
        <p:spPr>
          <a:xfrm>
            <a:off x="411480" y="804672"/>
            <a:ext cx="5303520" cy="1463040"/>
          </a:xfrm>
          <a:prstGeom prst="rect">
            <a:avLst/>
          </a:prstGeom>
          <a:noFill/>
          <a:ln/>
        </p:spPr>
        <p:txBody>
          <a:bodyPr wrap="square" lIns="0" tIns="0" rIns="0" bIns="0" rtlCol="0" anchor="ctr"/>
          <a:lstStyle/>
          <a:p>
            <a:pPr indent="0" marL="0">
              <a:buNone/>
            </a:pPr>
            <a:r>
              <a:rPr lang="en-US" sz="5200" b="1" dirty="0">
                <a:solidFill>
                  <a:srgbClr val="FFFFFF"/>
                </a:solidFill>
                <a:latin typeface="Garamond" pitchFamily="34" charset="0"/>
                <a:ea typeface="Garamond" pitchFamily="34" charset="-122"/>
                <a:cs typeface="Garamond" pitchFamily="34" charset="-120"/>
              </a:rPr>
              <a:t>Mercer</a:t>
            </a:r>
            <a:endParaRPr lang="en-US" sz="5200" dirty="0"/>
          </a:p>
          <a:p>
            <a:pPr indent="0" marL="0">
              <a:buNone/>
            </a:pPr>
            <a:r>
              <a:rPr lang="en-US" sz="5200" b="1" dirty="0">
                <a:solidFill>
                  <a:srgbClr val="FFFFFF"/>
                </a:solidFill>
                <a:latin typeface="Garamond" pitchFamily="34" charset="0"/>
                <a:ea typeface="Garamond" pitchFamily="34" charset="-122"/>
                <a:cs typeface="Garamond" pitchFamily="34" charset="-120"/>
              </a:rPr>
              <a:t>Household</a:t>
            </a:r>
            <a:endParaRPr lang="en-US" sz="5200" dirty="0"/>
          </a:p>
        </p:txBody>
      </p:sp>
      <p:sp>
        <p:nvSpPr>
          <p:cNvPr id="7" name="Text 5"/>
          <p:cNvSpPr/>
          <p:nvPr/>
        </p:nvSpPr>
        <p:spPr>
          <a:xfrm>
            <a:off x="411480" y="2395728"/>
            <a:ext cx="5303520" cy="822960"/>
          </a:xfrm>
          <a:prstGeom prst="rect">
            <a:avLst/>
          </a:prstGeom>
          <a:noFill/>
          <a:ln/>
        </p:spPr>
        <p:txBody>
          <a:bodyPr wrap="square" lIns="0" tIns="0" rIns="0" bIns="0" rtlCol="0" anchor="ctr"/>
          <a:lstStyle/>
          <a:p>
            <a:pPr indent="0" marL="0">
              <a:buNone/>
            </a:pPr>
            <a:r>
              <a:rPr lang="en-US" sz="1250" dirty="0">
                <a:solidFill>
                  <a:srgbClr val="A0B4C8"/>
                </a:solidFill>
                <a:latin typeface="Calibri" pitchFamily="34" charset="0"/>
                <a:ea typeface="Calibri" pitchFamily="34" charset="-122"/>
                <a:cs typeface="Calibri" pitchFamily="34" charset="-120"/>
              </a:rPr>
              <a:t>A comprehensive, tax-coordinated wealth management proposal</a:t>
            </a:r>
            <a:endParaRPr lang="en-US" sz="1250" dirty="0"/>
          </a:p>
          <a:p>
            <a:pPr indent="0" marL="0">
              <a:buNone/>
            </a:pPr>
            <a:r>
              <a:rPr lang="en-US" sz="1250" dirty="0">
                <a:solidFill>
                  <a:srgbClr val="A0B4C8"/>
                </a:solidFill>
                <a:latin typeface="Calibri" pitchFamily="34" charset="0"/>
                <a:ea typeface="Calibri" pitchFamily="34" charset="-122"/>
                <a:cs typeface="Calibri" pitchFamily="34" charset="-120"/>
              </a:rPr>
              <a:t>addressing portfolio concentration, multi-generational estate</a:t>
            </a:r>
            <a:endParaRPr lang="en-US" sz="1250" dirty="0"/>
          </a:p>
          <a:p>
            <a:pPr indent="0" marL="0">
              <a:buNone/>
            </a:pPr>
            <a:r>
              <a:rPr lang="en-US" sz="1250" dirty="0">
                <a:solidFill>
                  <a:srgbClr val="A0B4C8"/>
                </a:solidFill>
                <a:latin typeface="Calibri" pitchFamily="34" charset="0"/>
                <a:ea typeface="Calibri" pitchFamily="34" charset="-122"/>
                <a:cs typeface="Calibri" pitchFamily="34" charset="-120"/>
              </a:rPr>
              <a:t>planning, and philanthropic legacy for the Mercer family.</a:t>
            </a:r>
            <a:endParaRPr lang="en-US" sz="1250" dirty="0"/>
          </a:p>
        </p:txBody>
      </p:sp>
      <p:sp>
        <p:nvSpPr>
          <p:cNvPr id="8" name="Shape 6"/>
          <p:cNvSpPr/>
          <p:nvPr/>
        </p:nvSpPr>
        <p:spPr>
          <a:xfrm>
            <a:off x="411480" y="3401568"/>
            <a:ext cx="5029200" cy="10973"/>
          </a:xfrm>
          <a:prstGeom prst="rect">
            <a:avLst/>
          </a:prstGeom>
          <a:solidFill>
            <a:srgbClr val="2A3E54"/>
          </a:solidFill>
          <a:ln w="12700">
            <a:solidFill>
              <a:srgbClr val="2A3E54"/>
            </a:solidFill>
            <a:prstDash val="solid"/>
          </a:ln>
        </p:spPr>
      </p:sp>
      <p:sp>
        <p:nvSpPr>
          <p:cNvPr id="9" name="Text 7"/>
          <p:cNvSpPr/>
          <p:nvPr/>
        </p:nvSpPr>
        <p:spPr>
          <a:xfrm>
            <a:off x="411480" y="3547872"/>
            <a:ext cx="1645920" cy="164592"/>
          </a:xfrm>
          <a:prstGeom prst="rect">
            <a:avLst/>
          </a:prstGeom>
          <a:noFill/>
          <a:ln/>
        </p:spPr>
        <p:txBody>
          <a:bodyPr wrap="square" lIns="0" tIns="0" rIns="0" bIns="0" rtlCol="0" anchor="ctr"/>
          <a:lstStyle/>
          <a:p>
            <a:pPr indent="0" marL="0">
              <a:buNone/>
            </a:pPr>
            <a:r>
              <a:rPr lang="en-US" sz="800" spc="150" kern="0" dirty="0">
                <a:solidFill>
                  <a:srgbClr val="607D8B"/>
                </a:solidFill>
                <a:latin typeface="Calibri" pitchFamily="34" charset="0"/>
                <a:ea typeface="Calibri" pitchFamily="34" charset="-122"/>
                <a:cs typeface="Calibri" pitchFamily="34" charset="-120"/>
              </a:rPr>
              <a:t>PREPARED FOR</a:t>
            </a:r>
            <a:endParaRPr lang="en-US" sz="800" dirty="0"/>
          </a:p>
        </p:txBody>
      </p:sp>
      <p:sp>
        <p:nvSpPr>
          <p:cNvPr id="10" name="Text 8"/>
          <p:cNvSpPr/>
          <p:nvPr/>
        </p:nvSpPr>
        <p:spPr>
          <a:xfrm>
            <a:off x="411480" y="3749040"/>
            <a:ext cx="1645920" cy="20116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Daniel &amp; Claire Mercer</a:t>
            </a:r>
            <a:endParaRPr lang="en-US" sz="1100" dirty="0"/>
          </a:p>
        </p:txBody>
      </p:sp>
      <p:sp>
        <p:nvSpPr>
          <p:cNvPr id="11" name="Text 9"/>
          <p:cNvSpPr/>
          <p:nvPr/>
        </p:nvSpPr>
        <p:spPr>
          <a:xfrm>
            <a:off x="2194560" y="3547872"/>
            <a:ext cx="1645920" cy="164592"/>
          </a:xfrm>
          <a:prstGeom prst="rect">
            <a:avLst/>
          </a:prstGeom>
          <a:noFill/>
          <a:ln/>
        </p:spPr>
        <p:txBody>
          <a:bodyPr wrap="square" lIns="0" tIns="0" rIns="0" bIns="0" rtlCol="0" anchor="ctr"/>
          <a:lstStyle/>
          <a:p>
            <a:pPr indent="0" marL="0">
              <a:buNone/>
            </a:pPr>
            <a:r>
              <a:rPr lang="en-US" sz="800" spc="150" kern="0" dirty="0">
                <a:solidFill>
                  <a:srgbClr val="607D8B"/>
                </a:solidFill>
                <a:latin typeface="Calibri" pitchFamily="34" charset="0"/>
                <a:ea typeface="Calibri" pitchFamily="34" charset="-122"/>
                <a:cs typeface="Calibri" pitchFamily="34" charset="-120"/>
              </a:rPr>
              <a:t>DATE</a:t>
            </a:r>
            <a:endParaRPr lang="en-US" sz="800" dirty="0"/>
          </a:p>
        </p:txBody>
      </p:sp>
      <p:sp>
        <p:nvSpPr>
          <p:cNvPr id="12" name="Text 10"/>
          <p:cNvSpPr/>
          <p:nvPr/>
        </p:nvSpPr>
        <p:spPr>
          <a:xfrm>
            <a:off x="2194560" y="3749040"/>
            <a:ext cx="1645920" cy="20116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June 2026</a:t>
            </a:r>
            <a:endParaRPr lang="en-US" sz="1100" dirty="0"/>
          </a:p>
        </p:txBody>
      </p:sp>
      <p:sp>
        <p:nvSpPr>
          <p:cNvPr id="13" name="Text 11"/>
          <p:cNvSpPr/>
          <p:nvPr/>
        </p:nvSpPr>
        <p:spPr>
          <a:xfrm>
            <a:off x="3977640" y="3547872"/>
            <a:ext cx="1645920" cy="164592"/>
          </a:xfrm>
          <a:prstGeom prst="rect">
            <a:avLst/>
          </a:prstGeom>
          <a:noFill/>
          <a:ln/>
        </p:spPr>
        <p:txBody>
          <a:bodyPr wrap="square" lIns="0" tIns="0" rIns="0" bIns="0" rtlCol="0" anchor="ctr"/>
          <a:lstStyle/>
          <a:p>
            <a:pPr indent="0" marL="0">
              <a:buNone/>
            </a:pPr>
            <a:r>
              <a:rPr lang="en-US" sz="800" spc="150" kern="0" dirty="0">
                <a:solidFill>
                  <a:srgbClr val="607D8B"/>
                </a:solidFill>
                <a:latin typeface="Calibri" pitchFamily="34" charset="0"/>
                <a:ea typeface="Calibri" pitchFamily="34" charset="-122"/>
                <a:cs typeface="Calibri" pitchFamily="34" charset="-120"/>
              </a:rPr>
              <a:t>LOCATION</a:t>
            </a:r>
            <a:endParaRPr lang="en-US" sz="800" dirty="0"/>
          </a:p>
        </p:txBody>
      </p:sp>
      <p:sp>
        <p:nvSpPr>
          <p:cNvPr id="14" name="Text 12"/>
          <p:cNvSpPr/>
          <p:nvPr/>
        </p:nvSpPr>
        <p:spPr>
          <a:xfrm>
            <a:off x="3977640" y="3749040"/>
            <a:ext cx="1645920" cy="20116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Atherton, CA</a:t>
            </a:r>
            <a:endParaRPr lang="en-US" sz="1100" dirty="0"/>
          </a:p>
        </p:txBody>
      </p:sp>
      <p:sp>
        <p:nvSpPr>
          <p:cNvPr id="15" name="Shape 13"/>
          <p:cNvSpPr/>
          <p:nvPr/>
        </p:nvSpPr>
        <p:spPr>
          <a:xfrm>
            <a:off x="6199632" y="256032"/>
            <a:ext cx="2761488" cy="1024128"/>
          </a:xfrm>
          <a:prstGeom prst="rect">
            <a:avLst/>
          </a:prstGeom>
          <a:solidFill>
            <a:srgbClr val="192C3E"/>
          </a:solidFill>
          <a:ln w="9525">
            <a:solidFill>
              <a:srgbClr val="2A4055"/>
            </a:solidFill>
            <a:prstDash val="solid"/>
          </a:ln>
        </p:spPr>
      </p:sp>
      <p:sp>
        <p:nvSpPr>
          <p:cNvPr id="16" name="Text 14"/>
          <p:cNvSpPr/>
          <p:nvPr/>
        </p:nvSpPr>
        <p:spPr>
          <a:xfrm>
            <a:off x="6364224" y="365760"/>
            <a:ext cx="2468880" cy="164592"/>
          </a:xfrm>
          <a:prstGeom prst="rect">
            <a:avLst/>
          </a:prstGeom>
          <a:noFill/>
          <a:ln/>
        </p:spPr>
        <p:txBody>
          <a:bodyPr wrap="square" lIns="0" tIns="0" rIns="0" bIns="0" rtlCol="0" anchor="ctr"/>
          <a:lstStyle/>
          <a:p>
            <a:pPr indent="0" marL="0">
              <a:buNone/>
            </a:pPr>
            <a:r>
              <a:rPr lang="en-US" sz="800" b="1" spc="150" kern="0" dirty="0">
                <a:solidFill>
                  <a:srgbClr val="B5922E"/>
                </a:solidFill>
                <a:latin typeface="Calibri" pitchFamily="34" charset="0"/>
                <a:ea typeface="Calibri" pitchFamily="34" charset="-122"/>
                <a:cs typeface="Calibri" pitchFamily="34" charset="-120"/>
              </a:rPr>
              <a:t>EST. NET WORTH</a:t>
            </a:r>
            <a:endParaRPr lang="en-US" sz="800" dirty="0"/>
          </a:p>
        </p:txBody>
      </p:sp>
      <p:sp>
        <p:nvSpPr>
          <p:cNvPr id="17" name="Text 15"/>
          <p:cNvSpPr/>
          <p:nvPr/>
        </p:nvSpPr>
        <p:spPr>
          <a:xfrm>
            <a:off x="6364224" y="566928"/>
            <a:ext cx="2468880" cy="402336"/>
          </a:xfrm>
          <a:prstGeom prst="rect">
            <a:avLst/>
          </a:prstGeom>
          <a:noFill/>
          <a:ln/>
        </p:spPr>
        <p:txBody>
          <a:bodyPr wrap="square" lIns="0" tIns="0" rIns="0" bIns="0" rtlCol="0" anchor="ctr"/>
          <a:lstStyle/>
          <a:p>
            <a:pPr indent="0" marL="0">
              <a:buNone/>
            </a:pPr>
            <a:r>
              <a:rPr lang="en-US" sz="2000" b="1" dirty="0">
                <a:solidFill>
                  <a:srgbClr val="FFFFFF"/>
                </a:solidFill>
                <a:latin typeface="Garamond" pitchFamily="34" charset="0"/>
                <a:ea typeface="Garamond" pitchFamily="34" charset="-122"/>
                <a:cs typeface="Garamond" pitchFamily="34" charset="-120"/>
              </a:rPr>
              <a:t>$118,000,000</a:t>
            </a:r>
            <a:endParaRPr lang="en-US" sz="2000" dirty="0"/>
          </a:p>
        </p:txBody>
      </p:sp>
      <p:sp>
        <p:nvSpPr>
          <p:cNvPr id="18" name="Text 16"/>
          <p:cNvSpPr/>
          <p:nvPr/>
        </p:nvSpPr>
        <p:spPr>
          <a:xfrm>
            <a:off x="6364224" y="1005840"/>
            <a:ext cx="2468880" cy="164592"/>
          </a:xfrm>
          <a:prstGeom prst="rect">
            <a:avLst/>
          </a:prstGeom>
          <a:noFill/>
          <a:ln/>
        </p:spPr>
        <p:txBody>
          <a:bodyPr wrap="square" lIns="0" tIns="0" rIns="0" bIns="0" rtlCol="0" anchor="ctr"/>
          <a:lstStyle/>
          <a:p>
            <a:pPr indent="0" marL="0">
              <a:buNone/>
            </a:pPr>
            <a:r>
              <a:rPr lang="en-US" sz="900" dirty="0">
                <a:solidFill>
                  <a:srgbClr val="607D8B"/>
                </a:solidFill>
                <a:latin typeface="Calibri" pitchFamily="34" charset="0"/>
                <a:ea typeface="Calibri" pitchFamily="34" charset="-122"/>
                <a:cs typeface="Calibri" pitchFamily="34" charset="-120"/>
              </a:rPr>
              <a:t>Total household</a:t>
            </a:r>
            <a:endParaRPr lang="en-US" sz="900" dirty="0"/>
          </a:p>
        </p:txBody>
      </p:sp>
      <p:sp>
        <p:nvSpPr>
          <p:cNvPr id="19" name="Shape 17"/>
          <p:cNvSpPr/>
          <p:nvPr/>
        </p:nvSpPr>
        <p:spPr>
          <a:xfrm>
            <a:off x="6199632" y="1426464"/>
            <a:ext cx="2761488" cy="1024128"/>
          </a:xfrm>
          <a:prstGeom prst="rect">
            <a:avLst/>
          </a:prstGeom>
          <a:solidFill>
            <a:srgbClr val="192C3E"/>
          </a:solidFill>
          <a:ln w="9525">
            <a:solidFill>
              <a:srgbClr val="2A4055"/>
            </a:solidFill>
            <a:prstDash val="solid"/>
          </a:ln>
        </p:spPr>
      </p:sp>
      <p:sp>
        <p:nvSpPr>
          <p:cNvPr id="20" name="Text 18"/>
          <p:cNvSpPr/>
          <p:nvPr/>
        </p:nvSpPr>
        <p:spPr>
          <a:xfrm>
            <a:off x="6364224" y="1536192"/>
            <a:ext cx="2468880" cy="164592"/>
          </a:xfrm>
          <a:prstGeom prst="rect">
            <a:avLst/>
          </a:prstGeom>
          <a:noFill/>
          <a:ln/>
        </p:spPr>
        <p:txBody>
          <a:bodyPr wrap="square" lIns="0" tIns="0" rIns="0" bIns="0" rtlCol="0" anchor="ctr"/>
          <a:lstStyle/>
          <a:p>
            <a:pPr indent="0" marL="0">
              <a:buNone/>
            </a:pPr>
            <a:r>
              <a:rPr lang="en-US" sz="800" b="1" spc="150" kern="0" dirty="0">
                <a:solidFill>
                  <a:srgbClr val="B5922E"/>
                </a:solidFill>
                <a:latin typeface="Calibri" pitchFamily="34" charset="0"/>
                <a:ea typeface="Calibri" pitchFamily="34" charset="-122"/>
                <a:cs typeface="Calibri" pitchFamily="34" charset="-120"/>
              </a:rPr>
              <a:t>MANAGED ASSETS</a:t>
            </a:r>
            <a:endParaRPr lang="en-US" sz="800" dirty="0"/>
          </a:p>
        </p:txBody>
      </p:sp>
      <p:sp>
        <p:nvSpPr>
          <p:cNvPr id="21" name="Text 19"/>
          <p:cNvSpPr/>
          <p:nvPr/>
        </p:nvSpPr>
        <p:spPr>
          <a:xfrm>
            <a:off x="6364224" y="1737360"/>
            <a:ext cx="2468880" cy="402336"/>
          </a:xfrm>
          <a:prstGeom prst="rect">
            <a:avLst/>
          </a:prstGeom>
          <a:noFill/>
          <a:ln/>
        </p:spPr>
        <p:txBody>
          <a:bodyPr wrap="square" lIns="0" tIns="0" rIns="0" bIns="0" rtlCol="0" anchor="ctr"/>
          <a:lstStyle/>
          <a:p>
            <a:pPr indent="0" marL="0">
              <a:buNone/>
            </a:pPr>
            <a:r>
              <a:rPr lang="en-US" sz="2000" b="1" dirty="0">
                <a:solidFill>
                  <a:srgbClr val="FFFFFF"/>
                </a:solidFill>
                <a:latin typeface="Garamond" pitchFamily="34" charset="0"/>
                <a:ea typeface="Garamond" pitchFamily="34" charset="-122"/>
                <a:cs typeface="Garamond" pitchFamily="34" charset="-120"/>
              </a:rPr>
              <a:t>$72,000,000</a:t>
            </a:r>
            <a:endParaRPr lang="en-US" sz="2000" dirty="0"/>
          </a:p>
        </p:txBody>
      </p:sp>
      <p:sp>
        <p:nvSpPr>
          <p:cNvPr id="22" name="Text 20"/>
          <p:cNvSpPr/>
          <p:nvPr/>
        </p:nvSpPr>
        <p:spPr>
          <a:xfrm>
            <a:off x="6364224" y="2176272"/>
            <a:ext cx="2468880" cy="164592"/>
          </a:xfrm>
          <a:prstGeom prst="rect">
            <a:avLst/>
          </a:prstGeom>
          <a:noFill/>
          <a:ln/>
        </p:spPr>
        <p:txBody>
          <a:bodyPr wrap="square" lIns="0" tIns="0" rIns="0" bIns="0" rtlCol="0" anchor="ctr"/>
          <a:lstStyle/>
          <a:p>
            <a:pPr indent="0" marL="0">
              <a:buNone/>
            </a:pPr>
            <a:r>
              <a:rPr lang="en-US" sz="900" dirty="0">
                <a:solidFill>
                  <a:srgbClr val="607D8B"/>
                </a:solidFill>
                <a:latin typeface="Calibri" pitchFamily="34" charset="0"/>
                <a:ea typeface="Calibri" pitchFamily="34" charset="-122"/>
                <a:cs typeface="Calibri" pitchFamily="34" charset="-120"/>
              </a:rPr>
              <a:t>4 accounts</a:t>
            </a:r>
            <a:endParaRPr lang="en-US" sz="900" dirty="0"/>
          </a:p>
        </p:txBody>
      </p:sp>
      <p:sp>
        <p:nvSpPr>
          <p:cNvPr id="23" name="Shape 21"/>
          <p:cNvSpPr/>
          <p:nvPr/>
        </p:nvSpPr>
        <p:spPr>
          <a:xfrm>
            <a:off x="6199632" y="2596896"/>
            <a:ext cx="2761488" cy="1024128"/>
          </a:xfrm>
          <a:prstGeom prst="rect">
            <a:avLst/>
          </a:prstGeom>
          <a:solidFill>
            <a:srgbClr val="192C3E"/>
          </a:solidFill>
          <a:ln w="9525">
            <a:solidFill>
              <a:srgbClr val="2A4055"/>
            </a:solidFill>
            <a:prstDash val="solid"/>
          </a:ln>
        </p:spPr>
      </p:sp>
      <p:sp>
        <p:nvSpPr>
          <p:cNvPr id="24" name="Text 22"/>
          <p:cNvSpPr/>
          <p:nvPr/>
        </p:nvSpPr>
        <p:spPr>
          <a:xfrm>
            <a:off x="6364224" y="2706624"/>
            <a:ext cx="2468880" cy="164592"/>
          </a:xfrm>
          <a:prstGeom prst="rect">
            <a:avLst/>
          </a:prstGeom>
          <a:noFill/>
          <a:ln/>
        </p:spPr>
        <p:txBody>
          <a:bodyPr wrap="square" lIns="0" tIns="0" rIns="0" bIns="0" rtlCol="0" anchor="ctr"/>
          <a:lstStyle/>
          <a:p>
            <a:pPr indent="0" marL="0">
              <a:buNone/>
            </a:pPr>
            <a:r>
              <a:rPr lang="en-US" sz="800" b="1" spc="150" kern="0" dirty="0">
                <a:solidFill>
                  <a:srgbClr val="B5922E"/>
                </a:solidFill>
                <a:latin typeface="Calibri" pitchFamily="34" charset="0"/>
                <a:ea typeface="Calibri" pitchFamily="34" charset="-122"/>
                <a:cs typeface="Calibri" pitchFamily="34" charset="-120"/>
              </a:rPr>
              <a:t>NVDA CONCENTRATION</a:t>
            </a:r>
            <a:endParaRPr lang="en-US" sz="800" dirty="0"/>
          </a:p>
        </p:txBody>
      </p:sp>
      <p:sp>
        <p:nvSpPr>
          <p:cNvPr id="25" name="Text 23"/>
          <p:cNvSpPr/>
          <p:nvPr/>
        </p:nvSpPr>
        <p:spPr>
          <a:xfrm>
            <a:off x="6364224" y="2907792"/>
            <a:ext cx="2468880" cy="402336"/>
          </a:xfrm>
          <a:prstGeom prst="rect">
            <a:avLst/>
          </a:prstGeom>
          <a:noFill/>
          <a:ln/>
        </p:spPr>
        <p:txBody>
          <a:bodyPr wrap="square" lIns="0" tIns="0" rIns="0" bIns="0" rtlCol="0" anchor="ctr"/>
          <a:lstStyle/>
          <a:p>
            <a:pPr indent="0" marL="0">
              <a:buNone/>
            </a:pPr>
            <a:r>
              <a:rPr lang="en-US" sz="2000" b="1" dirty="0">
                <a:solidFill>
                  <a:srgbClr val="FFFFFF"/>
                </a:solidFill>
                <a:latin typeface="Garamond" pitchFamily="34" charset="0"/>
                <a:ea typeface="Garamond" pitchFamily="34" charset="-122"/>
                <a:cs typeface="Garamond" pitchFamily="34" charset="-120"/>
              </a:rPr>
              <a:t>64.6%</a:t>
            </a:r>
            <a:endParaRPr lang="en-US" sz="2000" dirty="0"/>
          </a:p>
        </p:txBody>
      </p:sp>
      <p:sp>
        <p:nvSpPr>
          <p:cNvPr id="26" name="Text 24"/>
          <p:cNvSpPr/>
          <p:nvPr/>
        </p:nvSpPr>
        <p:spPr>
          <a:xfrm>
            <a:off x="6364224" y="3346704"/>
            <a:ext cx="2468880" cy="164592"/>
          </a:xfrm>
          <a:prstGeom prst="rect">
            <a:avLst/>
          </a:prstGeom>
          <a:noFill/>
          <a:ln/>
        </p:spPr>
        <p:txBody>
          <a:bodyPr wrap="square" lIns="0" tIns="0" rIns="0" bIns="0" rtlCol="0" anchor="ctr"/>
          <a:lstStyle/>
          <a:p>
            <a:pPr indent="0" marL="0">
              <a:buNone/>
            </a:pPr>
            <a:r>
              <a:rPr lang="en-US" sz="900" dirty="0">
                <a:solidFill>
                  <a:srgbClr val="607D8B"/>
                </a:solidFill>
                <a:latin typeface="Calibri" pitchFamily="34" charset="0"/>
                <a:ea typeface="Calibri" pitchFamily="34" charset="-122"/>
                <a:cs typeface="Calibri" pitchFamily="34" charset="-120"/>
              </a:rPr>
              <a:t>$46.5M of managed assets</a:t>
            </a:r>
            <a:endParaRPr lang="en-US" sz="900" dirty="0"/>
          </a:p>
        </p:txBody>
      </p:sp>
      <p:sp>
        <p:nvSpPr>
          <p:cNvPr id="27" name="Shape 25"/>
          <p:cNvSpPr/>
          <p:nvPr/>
        </p:nvSpPr>
        <p:spPr>
          <a:xfrm>
            <a:off x="6199632" y="3767328"/>
            <a:ext cx="2761488" cy="1024128"/>
          </a:xfrm>
          <a:prstGeom prst="rect">
            <a:avLst/>
          </a:prstGeom>
          <a:solidFill>
            <a:srgbClr val="192C3E"/>
          </a:solidFill>
          <a:ln w="9525">
            <a:solidFill>
              <a:srgbClr val="2A4055"/>
            </a:solidFill>
            <a:prstDash val="solid"/>
          </a:ln>
        </p:spPr>
      </p:sp>
      <p:sp>
        <p:nvSpPr>
          <p:cNvPr id="28" name="Text 26"/>
          <p:cNvSpPr/>
          <p:nvPr/>
        </p:nvSpPr>
        <p:spPr>
          <a:xfrm>
            <a:off x="6364224" y="3877056"/>
            <a:ext cx="2468880" cy="164592"/>
          </a:xfrm>
          <a:prstGeom prst="rect">
            <a:avLst/>
          </a:prstGeom>
          <a:noFill/>
          <a:ln/>
        </p:spPr>
        <p:txBody>
          <a:bodyPr wrap="square" lIns="0" tIns="0" rIns="0" bIns="0" rtlCol="0" anchor="ctr"/>
          <a:lstStyle/>
          <a:p>
            <a:pPr indent="0" marL="0">
              <a:buNone/>
            </a:pPr>
            <a:r>
              <a:rPr lang="en-US" sz="800" b="1" spc="150" kern="0" dirty="0">
                <a:solidFill>
                  <a:srgbClr val="B5922E"/>
                </a:solidFill>
                <a:latin typeface="Calibri" pitchFamily="34" charset="0"/>
                <a:ea typeface="Calibri" pitchFamily="34" charset="-122"/>
                <a:cs typeface="Calibri" pitchFamily="34" charset="-120"/>
              </a:rPr>
              <a:t>RISK NUMBER</a:t>
            </a:r>
            <a:endParaRPr lang="en-US" sz="800" dirty="0"/>
          </a:p>
        </p:txBody>
      </p:sp>
      <p:sp>
        <p:nvSpPr>
          <p:cNvPr id="29" name="Text 27"/>
          <p:cNvSpPr/>
          <p:nvPr/>
        </p:nvSpPr>
        <p:spPr>
          <a:xfrm>
            <a:off x="6364224" y="4078224"/>
            <a:ext cx="2468880" cy="402336"/>
          </a:xfrm>
          <a:prstGeom prst="rect">
            <a:avLst/>
          </a:prstGeom>
          <a:noFill/>
          <a:ln/>
        </p:spPr>
        <p:txBody>
          <a:bodyPr wrap="square" lIns="0" tIns="0" rIns="0" bIns="0" rtlCol="0" anchor="ctr"/>
          <a:lstStyle/>
          <a:p>
            <a:pPr indent="0" marL="0">
              <a:buNone/>
            </a:pPr>
            <a:r>
              <a:rPr lang="en-US" sz="2000" b="1" dirty="0">
                <a:solidFill>
                  <a:srgbClr val="FFFFFF"/>
                </a:solidFill>
                <a:latin typeface="Garamond" pitchFamily="34" charset="0"/>
                <a:ea typeface="Garamond" pitchFamily="34" charset="-122"/>
                <a:cs typeface="Garamond" pitchFamily="34" charset="-120"/>
              </a:rPr>
              <a:t>64 / 99</a:t>
            </a:r>
            <a:endParaRPr lang="en-US" sz="2000" dirty="0"/>
          </a:p>
        </p:txBody>
      </p:sp>
      <p:sp>
        <p:nvSpPr>
          <p:cNvPr id="30" name="Text 28"/>
          <p:cNvSpPr/>
          <p:nvPr/>
        </p:nvSpPr>
        <p:spPr>
          <a:xfrm>
            <a:off x="6364224" y="4517136"/>
            <a:ext cx="2468880" cy="164592"/>
          </a:xfrm>
          <a:prstGeom prst="rect">
            <a:avLst/>
          </a:prstGeom>
          <a:noFill/>
          <a:ln/>
        </p:spPr>
        <p:txBody>
          <a:bodyPr wrap="square" lIns="0" tIns="0" rIns="0" bIns="0" rtlCol="0" anchor="ctr"/>
          <a:lstStyle/>
          <a:p>
            <a:pPr indent="0" marL="0">
              <a:buNone/>
            </a:pPr>
            <a:r>
              <a:rPr lang="en-US" sz="900" dirty="0">
                <a:solidFill>
                  <a:srgbClr val="607D8B"/>
                </a:solidFill>
                <a:latin typeface="Calibri" pitchFamily="34" charset="0"/>
                <a:ea typeface="Calibri" pitchFamily="34" charset="-122"/>
                <a:cs typeface="Calibri" pitchFamily="34" charset="-120"/>
              </a:rPr>
              <a:t>Balanced Plus · 60/40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1B2A"/>
          </a:solidFill>
          <a:ln w="12700">
            <a:solidFill>
              <a:srgbClr val="0D1B2A"/>
            </a:solidFill>
            <a:prstDash val="solid"/>
          </a:ln>
        </p:spPr>
      </p:sp>
      <p:sp>
        <p:nvSpPr>
          <p:cNvPr id="3" name="Text 1"/>
          <p:cNvSpPr/>
          <p:nvPr/>
        </p:nvSpPr>
        <p:spPr>
          <a:xfrm>
            <a:off x="256032" y="274320"/>
            <a:ext cx="7315200" cy="201168"/>
          </a:xfrm>
          <a:prstGeom prst="rect">
            <a:avLst/>
          </a:prstGeom>
          <a:noFill/>
          <a:ln/>
        </p:spPr>
        <p:txBody>
          <a:bodyPr wrap="square" lIns="0" tIns="0" rIns="0" bIns="0" rtlCol="0" anchor="ctr"/>
          <a:lstStyle/>
          <a:p>
            <a:pPr indent="0" marL="0">
              <a:buNone/>
            </a:pPr>
            <a:r>
              <a:rPr lang="en-US" sz="900" b="1" spc="300" kern="0" dirty="0">
                <a:solidFill>
                  <a:srgbClr val="B5922E"/>
                </a:solidFill>
                <a:latin typeface="Calibri" pitchFamily="34" charset="0"/>
                <a:ea typeface="Calibri" pitchFamily="34" charset="-122"/>
                <a:cs typeface="Calibri" pitchFamily="34" charset="-120"/>
              </a:rPr>
              <a:t>EXECUTIVE SUMMARY</a:t>
            </a:r>
            <a:endParaRPr lang="en-US" sz="900" dirty="0"/>
          </a:p>
        </p:txBody>
      </p:sp>
      <p:sp>
        <p:nvSpPr>
          <p:cNvPr id="4" name="Text 2"/>
          <p:cNvSpPr/>
          <p:nvPr/>
        </p:nvSpPr>
        <p:spPr>
          <a:xfrm>
            <a:off x="256032" y="493776"/>
            <a:ext cx="8686800" cy="502920"/>
          </a:xfrm>
          <a:prstGeom prst="rect">
            <a:avLst/>
          </a:prstGeom>
          <a:noFill/>
          <a:ln/>
        </p:spPr>
        <p:txBody>
          <a:bodyPr wrap="square" lIns="0" tIns="0" rIns="0" bIns="0" rtlCol="0" anchor="ctr"/>
          <a:lstStyle/>
          <a:p>
            <a:pPr indent="0" marL="0">
              <a:buNone/>
            </a:pPr>
            <a:r>
              <a:rPr lang="en-US" sz="2200" b="1" dirty="0">
                <a:solidFill>
                  <a:srgbClr val="0D1B2A"/>
                </a:solidFill>
                <a:latin typeface="Garamond" pitchFamily="34" charset="0"/>
                <a:ea typeface="Garamond" pitchFamily="34" charset="-122"/>
                <a:cs typeface="Garamond" pitchFamily="34" charset="-120"/>
              </a:rPr>
              <a:t>Mercer Household — 2026 Proposal Summary</a:t>
            </a:r>
            <a:endParaRPr lang="en-US" sz="2200" dirty="0"/>
          </a:p>
        </p:txBody>
      </p:sp>
      <p:sp>
        <p:nvSpPr>
          <p:cNvPr id="5" name="Shape 3"/>
          <p:cNvSpPr/>
          <p:nvPr/>
        </p:nvSpPr>
        <p:spPr>
          <a:xfrm>
            <a:off x="256032" y="1005840"/>
            <a:ext cx="8686800" cy="658368"/>
          </a:xfrm>
          <a:prstGeom prst="rect">
            <a:avLst/>
          </a:prstGeom>
          <a:solidFill>
            <a:srgbClr val="0D1B2A"/>
          </a:solidFill>
          <a:ln w="12700">
            <a:solidFill>
              <a:srgbClr val="0D1B2A"/>
            </a:solidFill>
            <a:prstDash val="solid"/>
          </a:ln>
        </p:spPr>
      </p:sp>
      <p:sp>
        <p:nvSpPr>
          <p:cNvPr id="6" name="Text 4"/>
          <p:cNvSpPr/>
          <p:nvPr/>
        </p:nvSpPr>
        <p:spPr>
          <a:xfrm>
            <a:off x="420624" y="1060704"/>
            <a:ext cx="1005840" cy="164592"/>
          </a:xfrm>
          <a:prstGeom prst="rect">
            <a:avLst/>
          </a:prstGeom>
          <a:noFill/>
          <a:ln/>
        </p:spPr>
        <p:txBody>
          <a:bodyPr wrap="square" lIns="0" tIns="0" rIns="0" bIns="0" rtlCol="0" anchor="ctr"/>
          <a:lstStyle/>
          <a:p>
            <a:pPr indent="0" marL="0">
              <a:buNone/>
            </a:pPr>
            <a:r>
              <a:rPr lang="en-US" sz="800" b="1" spc="200" kern="0" dirty="0">
                <a:solidFill>
                  <a:srgbClr val="B5922E"/>
                </a:solidFill>
                <a:latin typeface="Calibri" pitchFamily="34" charset="0"/>
                <a:ea typeface="Calibri" pitchFamily="34" charset="-122"/>
                <a:cs typeface="Calibri" pitchFamily="34" charset="-120"/>
              </a:rPr>
              <a:t>SITUATION</a:t>
            </a:r>
            <a:endParaRPr lang="en-US" sz="800" dirty="0"/>
          </a:p>
        </p:txBody>
      </p:sp>
      <p:sp>
        <p:nvSpPr>
          <p:cNvPr id="7" name="Text 5"/>
          <p:cNvSpPr/>
          <p:nvPr/>
        </p:nvSpPr>
        <p:spPr>
          <a:xfrm>
            <a:off x="420624" y="1225296"/>
            <a:ext cx="8412480" cy="38404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Daniel and Claire Mercer (ages 58 and 55) maintain an estimated net worth of $118,000,000, comprising $72,000,000 in managed assets, $28,000,000 in real estate holdings, and $18,000,000 in private and personal assets. Mr. Mercer's $46,500,000 NVIDIA position constitutes 64.6% of managed assets and represents the primary planning priority for this engagement.</a:t>
            </a:r>
            <a:endParaRPr lang="en-US" sz="1000" dirty="0"/>
          </a:p>
        </p:txBody>
      </p:sp>
      <p:sp>
        <p:nvSpPr>
          <p:cNvPr id="8" name="Shape 6"/>
          <p:cNvSpPr/>
          <p:nvPr/>
        </p:nvSpPr>
        <p:spPr>
          <a:xfrm>
            <a:off x="256032" y="1792224"/>
            <a:ext cx="2798064" cy="3054096"/>
          </a:xfrm>
          <a:prstGeom prst="rect">
            <a:avLst/>
          </a:prstGeom>
          <a:solidFill>
            <a:srgbClr val="FDF4F3"/>
          </a:solidFill>
          <a:ln w="9525">
            <a:solidFill>
              <a:srgbClr val="C0392B"/>
            </a:solidFill>
            <a:prstDash val="solid"/>
          </a:ln>
        </p:spPr>
      </p:sp>
      <p:sp>
        <p:nvSpPr>
          <p:cNvPr id="9" name="Shape 7"/>
          <p:cNvSpPr/>
          <p:nvPr/>
        </p:nvSpPr>
        <p:spPr>
          <a:xfrm>
            <a:off x="256032" y="1792224"/>
            <a:ext cx="2798064" cy="36576"/>
          </a:xfrm>
          <a:prstGeom prst="rect">
            <a:avLst/>
          </a:prstGeom>
          <a:solidFill>
            <a:srgbClr val="C0392B"/>
          </a:solidFill>
          <a:ln w="12700">
            <a:solidFill>
              <a:srgbClr val="C0392B"/>
            </a:solidFill>
            <a:prstDash val="solid"/>
          </a:ln>
        </p:spPr>
      </p:sp>
      <p:sp>
        <p:nvSpPr>
          <p:cNvPr id="10" name="Text 8"/>
          <p:cNvSpPr/>
          <p:nvPr/>
        </p:nvSpPr>
        <p:spPr>
          <a:xfrm>
            <a:off x="384048" y="1883664"/>
            <a:ext cx="292608" cy="292608"/>
          </a:xfrm>
          <a:prstGeom prst="rect">
            <a:avLst/>
          </a:prstGeom>
          <a:noFill/>
          <a:ln/>
        </p:spPr>
        <p:txBody>
          <a:bodyPr wrap="square" lIns="0" tIns="0" rIns="0" bIns="0" rtlCol="0" anchor="ctr"/>
          <a:lstStyle/>
          <a:p>
            <a:pPr indent="0" marL="0">
              <a:buNone/>
            </a:pPr>
            <a:r>
              <a:rPr lang="en-US" sz="1400" dirty="0">
                <a:solidFill>
                  <a:srgbClr val="C0392B"/>
                </a:solidFill>
                <a:latin typeface="Calibri" pitchFamily="34" charset="0"/>
                <a:ea typeface="Calibri" pitchFamily="34" charset="-122"/>
                <a:cs typeface="Calibri" pitchFamily="34" charset="-120"/>
              </a:rPr>
              <a:t>⚠</a:t>
            </a:r>
            <a:endParaRPr lang="en-US" sz="1400" dirty="0"/>
          </a:p>
        </p:txBody>
      </p:sp>
      <p:sp>
        <p:nvSpPr>
          <p:cNvPr id="11" name="Text 9"/>
          <p:cNvSpPr/>
          <p:nvPr/>
        </p:nvSpPr>
        <p:spPr>
          <a:xfrm>
            <a:off x="384048" y="1883664"/>
            <a:ext cx="2487168" cy="274320"/>
          </a:xfrm>
          <a:prstGeom prst="rect">
            <a:avLst/>
          </a:prstGeom>
          <a:noFill/>
          <a:ln/>
        </p:spPr>
        <p:txBody>
          <a:bodyPr wrap="square" lIns="0" tIns="0" rIns="0" bIns="0" rtlCol="0" anchor="ctr"/>
          <a:lstStyle/>
          <a:p>
            <a:pPr algn="ctr" indent="0" marL="0">
              <a:buNone/>
            </a:pPr>
            <a:r>
              <a:rPr lang="en-US" sz="1100" b="1" dirty="0">
                <a:solidFill>
                  <a:srgbClr val="7B2D26"/>
                </a:solidFill>
                <a:latin typeface="Calibri" pitchFamily="34" charset="0"/>
                <a:ea typeface="Calibri" pitchFamily="34" charset="-122"/>
                <a:cs typeface="Calibri" pitchFamily="34" charset="-120"/>
              </a:rPr>
              <a:t>Key Risk</a:t>
            </a:r>
            <a:endParaRPr lang="en-US" sz="1100" dirty="0"/>
          </a:p>
        </p:txBody>
      </p:sp>
      <p:sp>
        <p:nvSpPr>
          <p:cNvPr id="12" name="Shape 10"/>
          <p:cNvSpPr/>
          <p:nvPr/>
        </p:nvSpPr>
        <p:spPr>
          <a:xfrm>
            <a:off x="384048" y="2194560"/>
            <a:ext cx="2523744" cy="10973"/>
          </a:xfrm>
          <a:prstGeom prst="rect">
            <a:avLst/>
          </a:prstGeom>
          <a:solidFill>
            <a:srgbClr val="C0392B"/>
          </a:solidFill>
          <a:ln w="12700">
            <a:solidFill>
              <a:srgbClr val="C0392B"/>
            </a:solidFill>
            <a:prstDash val="solid"/>
          </a:ln>
        </p:spPr>
      </p:sp>
      <p:sp>
        <p:nvSpPr>
          <p:cNvPr id="13" name="Shape 11"/>
          <p:cNvSpPr/>
          <p:nvPr/>
        </p:nvSpPr>
        <p:spPr>
          <a:xfrm>
            <a:off x="384048" y="2322576"/>
            <a:ext cx="128016" cy="128016"/>
          </a:xfrm>
          <a:prstGeom prst="ellipse">
            <a:avLst/>
          </a:prstGeom>
          <a:solidFill>
            <a:srgbClr val="C0392B"/>
          </a:solidFill>
          <a:ln w="12700">
            <a:solidFill>
              <a:srgbClr val="C0392B"/>
            </a:solidFill>
            <a:prstDash val="solid"/>
          </a:ln>
        </p:spPr>
      </p:sp>
      <p:sp>
        <p:nvSpPr>
          <p:cNvPr id="14" name="Text 12"/>
          <p:cNvSpPr/>
          <p:nvPr/>
        </p:nvSpPr>
        <p:spPr>
          <a:xfrm>
            <a:off x="566928" y="2286000"/>
            <a:ext cx="2359152" cy="457200"/>
          </a:xfrm>
          <a:prstGeom prst="rect">
            <a:avLst/>
          </a:prstGeom>
          <a:noFill/>
          <a:ln/>
        </p:spPr>
        <p:txBody>
          <a:bodyPr wrap="square" lIns="0" tIns="0" rIns="0" bIns="0" rtlCol="0" anchor="ctr"/>
          <a:lstStyle/>
          <a:p>
            <a:pPr indent="0" marL="0">
              <a:buNone/>
            </a:pPr>
            <a:r>
              <a:rPr lang="en-US" sz="950" dirty="0">
                <a:solidFill>
                  <a:srgbClr val="7B2D26"/>
                </a:solidFill>
                <a:latin typeface="Calibri" pitchFamily="34" charset="0"/>
                <a:ea typeface="Calibri" pitchFamily="34" charset="-122"/>
                <a:cs typeface="Calibri" pitchFamily="34" charset="-120"/>
              </a:rPr>
              <a:t>64.6% concentration in a single stock (NVDA)</a:t>
            </a:r>
            <a:endParaRPr lang="en-US" sz="950" dirty="0"/>
          </a:p>
        </p:txBody>
      </p:sp>
      <p:sp>
        <p:nvSpPr>
          <p:cNvPr id="15" name="Shape 13"/>
          <p:cNvSpPr/>
          <p:nvPr/>
        </p:nvSpPr>
        <p:spPr>
          <a:xfrm>
            <a:off x="384048" y="2889504"/>
            <a:ext cx="128016" cy="128016"/>
          </a:xfrm>
          <a:prstGeom prst="ellipse">
            <a:avLst/>
          </a:prstGeom>
          <a:solidFill>
            <a:srgbClr val="C0392B"/>
          </a:solidFill>
          <a:ln w="12700">
            <a:solidFill>
              <a:srgbClr val="C0392B"/>
            </a:solidFill>
            <a:prstDash val="solid"/>
          </a:ln>
        </p:spPr>
      </p:sp>
      <p:sp>
        <p:nvSpPr>
          <p:cNvPr id="16" name="Text 14"/>
          <p:cNvSpPr/>
          <p:nvPr/>
        </p:nvSpPr>
        <p:spPr>
          <a:xfrm>
            <a:off x="566928" y="2852928"/>
            <a:ext cx="2359152" cy="457200"/>
          </a:xfrm>
          <a:prstGeom prst="rect">
            <a:avLst/>
          </a:prstGeom>
          <a:noFill/>
          <a:ln/>
        </p:spPr>
        <p:txBody>
          <a:bodyPr wrap="square" lIns="0" tIns="0" rIns="0" bIns="0" rtlCol="0" anchor="ctr"/>
          <a:lstStyle/>
          <a:p>
            <a:pPr indent="0" marL="0">
              <a:buNone/>
            </a:pPr>
            <a:r>
              <a:rPr lang="en-US" sz="950" dirty="0">
                <a:solidFill>
                  <a:srgbClr val="7B2D26"/>
                </a:solidFill>
                <a:latin typeface="Calibri" pitchFamily="34" charset="0"/>
                <a:ea typeface="Calibri" pitchFamily="34" charset="-122"/>
                <a:cs typeface="Calibri" pitchFamily="34" charset="-120"/>
              </a:rPr>
              <a:t>$88M taxable estate above $30M threshold</a:t>
            </a:r>
            <a:endParaRPr lang="en-US" sz="950" dirty="0"/>
          </a:p>
        </p:txBody>
      </p:sp>
      <p:sp>
        <p:nvSpPr>
          <p:cNvPr id="17" name="Shape 15"/>
          <p:cNvSpPr/>
          <p:nvPr/>
        </p:nvSpPr>
        <p:spPr>
          <a:xfrm>
            <a:off x="384048" y="3456432"/>
            <a:ext cx="128016" cy="128016"/>
          </a:xfrm>
          <a:prstGeom prst="ellipse">
            <a:avLst/>
          </a:prstGeom>
          <a:solidFill>
            <a:srgbClr val="C0392B"/>
          </a:solidFill>
          <a:ln w="12700">
            <a:solidFill>
              <a:srgbClr val="C0392B"/>
            </a:solidFill>
            <a:prstDash val="solid"/>
          </a:ln>
        </p:spPr>
      </p:sp>
      <p:sp>
        <p:nvSpPr>
          <p:cNvPr id="18" name="Text 16"/>
          <p:cNvSpPr/>
          <p:nvPr/>
        </p:nvSpPr>
        <p:spPr>
          <a:xfrm>
            <a:off x="566928" y="3419856"/>
            <a:ext cx="2359152" cy="457200"/>
          </a:xfrm>
          <a:prstGeom prst="rect">
            <a:avLst/>
          </a:prstGeom>
          <a:noFill/>
          <a:ln/>
        </p:spPr>
        <p:txBody>
          <a:bodyPr wrap="square" lIns="0" tIns="0" rIns="0" bIns="0" rtlCol="0" anchor="ctr"/>
          <a:lstStyle/>
          <a:p>
            <a:pPr indent="0" marL="0">
              <a:buNone/>
            </a:pPr>
            <a:r>
              <a:rPr lang="en-US" sz="950" dirty="0">
                <a:solidFill>
                  <a:srgbClr val="7B2D26"/>
                </a:solidFill>
                <a:latin typeface="Calibri" pitchFamily="34" charset="0"/>
                <a:ea typeface="Calibri" pitchFamily="34" charset="-122"/>
                <a:cs typeface="Calibri" pitchFamily="34" charset="-120"/>
              </a:rPr>
              <a:t>No current tax-loss offset strategy in place</a:t>
            </a:r>
            <a:endParaRPr lang="en-US" sz="950" dirty="0"/>
          </a:p>
        </p:txBody>
      </p:sp>
      <p:sp>
        <p:nvSpPr>
          <p:cNvPr id="19" name="Shape 17"/>
          <p:cNvSpPr/>
          <p:nvPr/>
        </p:nvSpPr>
        <p:spPr>
          <a:xfrm>
            <a:off x="384048" y="4023360"/>
            <a:ext cx="128016" cy="128016"/>
          </a:xfrm>
          <a:prstGeom prst="ellipse">
            <a:avLst/>
          </a:prstGeom>
          <a:solidFill>
            <a:srgbClr val="C0392B"/>
          </a:solidFill>
          <a:ln w="12700">
            <a:solidFill>
              <a:srgbClr val="C0392B"/>
            </a:solidFill>
            <a:prstDash val="solid"/>
          </a:ln>
        </p:spPr>
      </p:sp>
      <p:sp>
        <p:nvSpPr>
          <p:cNvPr id="20" name="Text 18"/>
          <p:cNvSpPr/>
          <p:nvPr/>
        </p:nvSpPr>
        <p:spPr>
          <a:xfrm>
            <a:off x="566928" y="3986784"/>
            <a:ext cx="2359152" cy="457200"/>
          </a:xfrm>
          <a:prstGeom prst="rect">
            <a:avLst/>
          </a:prstGeom>
          <a:noFill/>
          <a:ln/>
        </p:spPr>
        <p:txBody>
          <a:bodyPr wrap="square" lIns="0" tIns="0" rIns="0" bIns="0" rtlCol="0" anchor="ctr"/>
          <a:lstStyle/>
          <a:p>
            <a:pPr indent="0" marL="0">
              <a:buNone/>
            </a:pPr>
            <a:r>
              <a:rPr lang="en-US" sz="950" dirty="0">
                <a:solidFill>
                  <a:srgbClr val="7B2D26"/>
                </a:solidFill>
                <a:latin typeface="Calibri" pitchFamily="34" charset="0"/>
                <a:ea typeface="Calibri" pitchFamily="34" charset="-122"/>
                <a:cs typeface="Calibri" pitchFamily="34" charset="-120"/>
              </a:rPr>
              <a:t>Estate projected at $1.44B — $565M tax bill</a:t>
            </a:r>
            <a:endParaRPr lang="en-US" sz="950" dirty="0"/>
          </a:p>
        </p:txBody>
      </p:sp>
      <p:sp>
        <p:nvSpPr>
          <p:cNvPr id="21" name="Shape 19"/>
          <p:cNvSpPr/>
          <p:nvPr/>
        </p:nvSpPr>
        <p:spPr>
          <a:xfrm>
            <a:off x="3200400" y="1792224"/>
            <a:ext cx="2798064" cy="3054096"/>
          </a:xfrm>
          <a:prstGeom prst="rect">
            <a:avLst/>
          </a:prstGeom>
          <a:solidFill>
            <a:srgbClr val="F0F4FB"/>
          </a:solidFill>
          <a:ln w="9525">
            <a:solidFill>
              <a:srgbClr val="185FA5"/>
            </a:solidFill>
            <a:prstDash val="solid"/>
          </a:ln>
        </p:spPr>
      </p:sp>
      <p:sp>
        <p:nvSpPr>
          <p:cNvPr id="22" name="Shape 20"/>
          <p:cNvSpPr/>
          <p:nvPr/>
        </p:nvSpPr>
        <p:spPr>
          <a:xfrm>
            <a:off x="3200400" y="1792224"/>
            <a:ext cx="2798064" cy="36576"/>
          </a:xfrm>
          <a:prstGeom prst="rect">
            <a:avLst/>
          </a:prstGeom>
          <a:solidFill>
            <a:srgbClr val="185FA5"/>
          </a:solidFill>
          <a:ln w="12700">
            <a:solidFill>
              <a:srgbClr val="185FA5"/>
            </a:solidFill>
            <a:prstDash val="solid"/>
          </a:ln>
        </p:spPr>
      </p:sp>
      <p:sp>
        <p:nvSpPr>
          <p:cNvPr id="23" name="Text 21"/>
          <p:cNvSpPr/>
          <p:nvPr/>
        </p:nvSpPr>
        <p:spPr>
          <a:xfrm>
            <a:off x="3328416" y="1883664"/>
            <a:ext cx="292608" cy="292608"/>
          </a:xfrm>
          <a:prstGeom prst="rect">
            <a:avLst/>
          </a:prstGeom>
          <a:noFill/>
          <a:ln/>
        </p:spPr>
        <p:txBody>
          <a:bodyPr wrap="square" lIns="0" tIns="0" rIns="0" bIns="0" rtlCol="0" anchor="ctr"/>
          <a:lstStyle/>
          <a:p>
            <a:pPr indent="0" marL="0">
              <a:buNone/>
            </a:pPr>
            <a:r>
              <a:rPr lang="en-US" sz="1400" dirty="0">
                <a:solidFill>
                  <a:srgbClr val="185FA5"/>
                </a:solidFill>
                <a:latin typeface="Calibri" pitchFamily="34" charset="0"/>
                <a:ea typeface="Calibri" pitchFamily="34" charset="-122"/>
                <a:cs typeface="Calibri" pitchFamily="34" charset="-120"/>
              </a:rPr>
              <a:t>→</a:t>
            </a:r>
            <a:endParaRPr lang="en-US" sz="1400" dirty="0"/>
          </a:p>
        </p:txBody>
      </p:sp>
      <p:sp>
        <p:nvSpPr>
          <p:cNvPr id="24" name="Text 22"/>
          <p:cNvSpPr/>
          <p:nvPr/>
        </p:nvSpPr>
        <p:spPr>
          <a:xfrm>
            <a:off x="3328416" y="1883664"/>
            <a:ext cx="2487168" cy="274320"/>
          </a:xfrm>
          <a:prstGeom prst="rect">
            <a:avLst/>
          </a:prstGeom>
          <a:noFill/>
          <a:ln/>
        </p:spPr>
        <p:txBody>
          <a:bodyPr wrap="square" lIns="0" tIns="0" rIns="0" bIns="0" rtlCol="0" anchor="ctr"/>
          <a:lstStyle/>
          <a:p>
            <a:pPr algn="ctr" indent="0" marL="0">
              <a:buNone/>
            </a:pPr>
            <a:r>
              <a:rPr lang="en-US" sz="1100" b="1" dirty="0">
                <a:solidFill>
                  <a:srgbClr val="185FA5"/>
                </a:solidFill>
                <a:latin typeface="Calibri" pitchFamily="34" charset="0"/>
                <a:ea typeface="Calibri" pitchFamily="34" charset="-122"/>
                <a:cs typeface="Calibri" pitchFamily="34" charset="-120"/>
              </a:rPr>
              <a:t>Recommended Strategy</a:t>
            </a:r>
            <a:endParaRPr lang="en-US" sz="1100" dirty="0"/>
          </a:p>
        </p:txBody>
      </p:sp>
      <p:sp>
        <p:nvSpPr>
          <p:cNvPr id="25" name="Shape 23"/>
          <p:cNvSpPr/>
          <p:nvPr/>
        </p:nvSpPr>
        <p:spPr>
          <a:xfrm>
            <a:off x="3328416" y="2194560"/>
            <a:ext cx="2523744" cy="10973"/>
          </a:xfrm>
          <a:prstGeom prst="rect">
            <a:avLst/>
          </a:prstGeom>
          <a:solidFill>
            <a:srgbClr val="185FA5"/>
          </a:solidFill>
          <a:ln w="12700">
            <a:solidFill>
              <a:srgbClr val="185FA5"/>
            </a:solidFill>
            <a:prstDash val="solid"/>
          </a:ln>
        </p:spPr>
      </p:sp>
      <p:sp>
        <p:nvSpPr>
          <p:cNvPr id="26" name="Shape 24"/>
          <p:cNvSpPr/>
          <p:nvPr/>
        </p:nvSpPr>
        <p:spPr>
          <a:xfrm>
            <a:off x="3328416" y="2322576"/>
            <a:ext cx="128016" cy="128016"/>
          </a:xfrm>
          <a:prstGeom prst="ellipse">
            <a:avLst/>
          </a:prstGeom>
          <a:solidFill>
            <a:srgbClr val="185FA5"/>
          </a:solidFill>
          <a:ln w="12700">
            <a:solidFill>
              <a:srgbClr val="185FA5"/>
            </a:solidFill>
            <a:prstDash val="solid"/>
          </a:ln>
        </p:spPr>
      </p:sp>
      <p:sp>
        <p:nvSpPr>
          <p:cNvPr id="27" name="Text 25"/>
          <p:cNvSpPr/>
          <p:nvPr/>
        </p:nvSpPr>
        <p:spPr>
          <a:xfrm>
            <a:off x="3511296" y="2286000"/>
            <a:ext cx="2359152" cy="457200"/>
          </a:xfrm>
          <a:prstGeom prst="rect">
            <a:avLst/>
          </a:prstGeom>
          <a:noFill/>
          <a:ln/>
        </p:spPr>
        <p:txBody>
          <a:bodyPr wrap="square" lIns="0" tIns="0" rIns="0" bIns="0" rtlCol="0" anchor="ctr"/>
          <a:lstStyle/>
          <a:p>
            <a:pPr indent="0" marL="0">
              <a:buNone/>
            </a:pPr>
            <a:r>
              <a:rPr lang="en-US" sz="950" dirty="0">
                <a:solidFill>
                  <a:srgbClr val="185FA5"/>
                </a:solidFill>
                <a:latin typeface="Calibri" pitchFamily="34" charset="0"/>
                <a:ea typeface="Calibri" pitchFamily="34" charset="-122"/>
                <a:cs typeface="Calibri" pitchFamily="34" charset="-120"/>
              </a:rPr>
              <a:t>Select Liquidity · Balanced Plus 60/40</a:t>
            </a:r>
            <a:endParaRPr lang="en-US" sz="950" dirty="0"/>
          </a:p>
        </p:txBody>
      </p:sp>
      <p:sp>
        <p:nvSpPr>
          <p:cNvPr id="28" name="Shape 26"/>
          <p:cNvSpPr/>
          <p:nvPr/>
        </p:nvSpPr>
        <p:spPr>
          <a:xfrm>
            <a:off x="3328416" y="2889504"/>
            <a:ext cx="128016" cy="128016"/>
          </a:xfrm>
          <a:prstGeom prst="ellipse">
            <a:avLst/>
          </a:prstGeom>
          <a:solidFill>
            <a:srgbClr val="185FA5"/>
          </a:solidFill>
          <a:ln w="12700">
            <a:solidFill>
              <a:srgbClr val="185FA5"/>
            </a:solidFill>
            <a:prstDash val="solid"/>
          </a:ln>
        </p:spPr>
      </p:sp>
      <p:sp>
        <p:nvSpPr>
          <p:cNvPr id="29" name="Text 27"/>
          <p:cNvSpPr/>
          <p:nvPr/>
        </p:nvSpPr>
        <p:spPr>
          <a:xfrm>
            <a:off x="3511296" y="2852928"/>
            <a:ext cx="2359152" cy="457200"/>
          </a:xfrm>
          <a:prstGeom prst="rect">
            <a:avLst/>
          </a:prstGeom>
          <a:noFill/>
          <a:ln/>
        </p:spPr>
        <p:txBody>
          <a:bodyPr wrap="square" lIns="0" tIns="0" rIns="0" bIns="0" rtlCol="0" anchor="ctr"/>
          <a:lstStyle/>
          <a:p>
            <a:pPr indent="0" marL="0">
              <a:buNone/>
            </a:pPr>
            <a:r>
              <a:rPr lang="en-US" sz="950" dirty="0">
                <a:solidFill>
                  <a:srgbClr val="185FA5"/>
                </a:solidFill>
                <a:latin typeface="Calibri" pitchFamily="34" charset="0"/>
                <a:ea typeface="Calibri" pitchFamily="34" charset="-122"/>
                <a:cs typeface="Calibri" pitchFamily="34" charset="-120"/>
              </a:rPr>
              <a:t>Risk Number 64 · Multi-generational horizon</a:t>
            </a:r>
            <a:endParaRPr lang="en-US" sz="950" dirty="0"/>
          </a:p>
        </p:txBody>
      </p:sp>
      <p:sp>
        <p:nvSpPr>
          <p:cNvPr id="30" name="Shape 28"/>
          <p:cNvSpPr/>
          <p:nvPr/>
        </p:nvSpPr>
        <p:spPr>
          <a:xfrm>
            <a:off x="3328416" y="3456432"/>
            <a:ext cx="128016" cy="128016"/>
          </a:xfrm>
          <a:prstGeom prst="ellipse">
            <a:avLst/>
          </a:prstGeom>
          <a:solidFill>
            <a:srgbClr val="185FA5"/>
          </a:solidFill>
          <a:ln w="12700">
            <a:solidFill>
              <a:srgbClr val="185FA5"/>
            </a:solidFill>
            <a:prstDash val="solid"/>
          </a:ln>
        </p:spPr>
      </p:sp>
      <p:sp>
        <p:nvSpPr>
          <p:cNvPr id="31" name="Text 29"/>
          <p:cNvSpPr/>
          <p:nvPr/>
        </p:nvSpPr>
        <p:spPr>
          <a:xfrm>
            <a:off x="3511296" y="3419856"/>
            <a:ext cx="2359152" cy="457200"/>
          </a:xfrm>
          <a:prstGeom prst="rect">
            <a:avLst/>
          </a:prstGeom>
          <a:noFill/>
          <a:ln/>
        </p:spPr>
        <p:txBody>
          <a:bodyPr wrap="square" lIns="0" tIns="0" rIns="0" bIns="0" rtlCol="0" anchor="ctr"/>
          <a:lstStyle/>
          <a:p>
            <a:pPr indent="0" marL="0">
              <a:buNone/>
            </a:pPr>
            <a:r>
              <a:rPr lang="en-US" sz="950" dirty="0">
                <a:solidFill>
                  <a:srgbClr val="185FA5"/>
                </a:solidFill>
                <a:latin typeface="Calibri" pitchFamily="34" charset="0"/>
                <a:ea typeface="Calibri" pitchFamily="34" charset="-122"/>
                <a:cs typeface="Calibri" pitchFamily="34" charset="-120"/>
              </a:rPr>
              <a:t>CRT ($15M) + Options Collar + 130/30 TLH</a:t>
            </a:r>
            <a:endParaRPr lang="en-US" sz="950" dirty="0"/>
          </a:p>
        </p:txBody>
      </p:sp>
      <p:sp>
        <p:nvSpPr>
          <p:cNvPr id="32" name="Shape 30"/>
          <p:cNvSpPr/>
          <p:nvPr/>
        </p:nvSpPr>
        <p:spPr>
          <a:xfrm>
            <a:off x="3328416" y="4023360"/>
            <a:ext cx="128016" cy="128016"/>
          </a:xfrm>
          <a:prstGeom prst="ellipse">
            <a:avLst/>
          </a:prstGeom>
          <a:solidFill>
            <a:srgbClr val="185FA5"/>
          </a:solidFill>
          <a:ln w="12700">
            <a:solidFill>
              <a:srgbClr val="185FA5"/>
            </a:solidFill>
            <a:prstDash val="solid"/>
          </a:ln>
        </p:spPr>
      </p:sp>
      <p:sp>
        <p:nvSpPr>
          <p:cNvPr id="33" name="Text 31"/>
          <p:cNvSpPr/>
          <p:nvPr/>
        </p:nvSpPr>
        <p:spPr>
          <a:xfrm>
            <a:off x="3511296" y="3986784"/>
            <a:ext cx="2359152" cy="457200"/>
          </a:xfrm>
          <a:prstGeom prst="rect">
            <a:avLst/>
          </a:prstGeom>
          <a:noFill/>
          <a:ln/>
        </p:spPr>
        <p:txBody>
          <a:bodyPr wrap="square" lIns="0" tIns="0" rIns="0" bIns="0" rtlCol="0" anchor="ctr"/>
          <a:lstStyle/>
          <a:p>
            <a:pPr indent="0" marL="0">
              <a:buNone/>
            </a:pPr>
            <a:r>
              <a:rPr lang="en-US" sz="950" dirty="0">
                <a:solidFill>
                  <a:srgbClr val="185FA5"/>
                </a:solidFill>
                <a:latin typeface="Calibri" pitchFamily="34" charset="0"/>
                <a:ea typeface="Calibri" pitchFamily="34" charset="-122"/>
                <a:cs typeface="Calibri" pitchFamily="34" charset="-120"/>
              </a:rPr>
              <a:t>Staged NVDA sales $3–5M/yr with tax offsets</a:t>
            </a:r>
            <a:endParaRPr lang="en-US" sz="950" dirty="0"/>
          </a:p>
        </p:txBody>
      </p:sp>
      <p:sp>
        <p:nvSpPr>
          <p:cNvPr id="34" name="Shape 32"/>
          <p:cNvSpPr/>
          <p:nvPr/>
        </p:nvSpPr>
        <p:spPr>
          <a:xfrm>
            <a:off x="6144768" y="1792224"/>
            <a:ext cx="2798064" cy="3054096"/>
          </a:xfrm>
          <a:prstGeom prst="rect">
            <a:avLst/>
          </a:prstGeom>
          <a:solidFill>
            <a:srgbClr val="EFF7F2"/>
          </a:solidFill>
          <a:ln w="9525">
            <a:solidFill>
              <a:srgbClr val="1A6B45"/>
            </a:solidFill>
            <a:prstDash val="solid"/>
          </a:ln>
        </p:spPr>
      </p:sp>
      <p:sp>
        <p:nvSpPr>
          <p:cNvPr id="35" name="Shape 33"/>
          <p:cNvSpPr/>
          <p:nvPr/>
        </p:nvSpPr>
        <p:spPr>
          <a:xfrm>
            <a:off x="6144768" y="1792224"/>
            <a:ext cx="2798064" cy="36576"/>
          </a:xfrm>
          <a:prstGeom prst="rect">
            <a:avLst/>
          </a:prstGeom>
          <a:solidFill>
            <a:srgbClr val="1A6B45"/>
          </a:solidFill>
          <a:ln w="12700">
            <a:solidFill>
              <a:srgbClr val="1A6B45"/>
            </a:solidFill>
            <a:prstDash val="solid"/>
          </a:ln>
        </p:spPr>
      </p:sp>
      <p:sp>
        <p:nvSpPr>
          <p:cNvPr id="36" name="Text 34"/>
          <p:cNvSpPr/>
          <p:nvPr/>
        </p:nvSpPr>
        <p:spPr>
          <a:xfrm>
            <a:off x="6272784" y="1883664"/>
            <a:ext cx="292608" cy="292608"/>
          </a:xfrm>
          <a:prstGeom prst="rect">
            <a:avLst/>
          </a:prstGeom>
          <a:noFill/>
          <a:ln/>
        </p:spPr>
        <p:txBody>
          <a:bodyPr wrap="square" lIns="0" tIns="0" rIns="0" bIns="0" rtlCol="0" anchor="ctr"/>
          <a:lstStyle/>
          <a:p>
            <a:pPr indent="0" marL="0">
              <a:buNone/>
            </a:pPr>
            <a:r>
              <a:rPr lang="en-US" sz="1400" dirty="0">
                <a:solidFill>
                  <a:srgbClr val="1A6B45"/>
                </a:solidFill>
                <a:latin typeface="Calibri" pitchFamily="34" charset="0"/>
                <a:ea typeface="Calibri" pitchFamily="34" charset="-122"/>
                <a:cs typeface="Calibri" pitchFamily="34" charset="-120"/>
              </a:rPr>
              <a:t>✓</a:t>
            </a:r>
            <a:endParaRPr lang="en-US" sz="1400" dirty="0"/>
          </a:p>
        </p:txBody>
      </p:sp>
      <p:sp>
        <p:nvSpPr>
          <p:cNvPr id="37" name="Text 35"/>
          <p:cNvSpPr/>
          <p:nvPr/>
        </p:nvSpPr>
        <p:spPr>
          <a:xfrm>
            <a:off x="6272784" y="1883664"/>
            <a:ext cx="2487168" cy="274320"/>
          </a:xfrm>
          <a:prstGeom prst="rect">
            <a:avLst/>
          </a:prstGeom>
          <a:noFill/>
          <a:ln/>
        </p:spPr>
        <p:txBody>
          <a:bodyPr wrap="square" lIns="0" tIns="0" rIns="0" bIns="0" rtlCol="0" anchor="ctr"/>
          <a:lstStyle/>
          <a:p>
            <a:pPr algn="ctr" indent="0" marL="0">
              <a:buNone/>
            </a:pPr>
            <a:r>
              <a:rPr lang="en-US" sz="1100" b="1" dirty="0">
                <a:solidFill>
                  <a:srgbClr val="1A6B45"/>
                </a:solidFill>
                <a:latin typeface="Calibri" pitchFamily="34" charset="0"/>
                <a:ea typeface="Calibri" pitchFamily="34" charset="-122"/>
                <a:cs typeface="Calibri" pitchFamily="34" charset="-120"/>
              </a:rPr>
              <a:t>Expected Outcomes</a:t>
            </a:r>
            <a:endParaRPr lang="en-US" sz="1100" dirty="0"/>
          </a:p>
        </p:txBody>
      </p:sp>
      <p:sp>
        <p:nvSpPr>
          <p:cNvPr id="38" name="Shape 36"/>
          <p:cNvSpPr/>
          <p:nvPr/>
        </p:nvSpPr>
        <p:spPr>
          <a:xfrm>
            <a:off x="6272784" y="2194560"/>
            <a:ext cx="2523744" cy="10973"/>
          </a:xfrm>
          <a:prstGeom prst="rect">
            <a:avLst/>
          </a:prstGeom>
          <a:solidFill>
            <a:srgbClr val="1A6B45"/>
          </a:solidFill>
          <a:ln w="12700">
            <a:solidFill>
              <a:srgbClr val="1A6B45"/>
            </a:solidFill>
            <a:prstDash val="solid"/>
          </a:ln>
        </p:spPr>
      </p:sp>
      <p:sp>
        <p:nvSpPr>
          <p:cNvPr id="39" name="Shape 37"/>
          <p:cNvSpPr/>
          <p:nvPr/>
        </p:nvSpPr>
        <p:spPr>
          <a:xfrm>
            <a:off x="6272784" y="2322576"/>
            <a:ext cx="128016" cy="128016"/>
          </a:xfrm>
          <a:prstGeom prst="ellipse">
            <a:avLst/>
          </a:prstGeom>
          <a:solidFill>
            <a:srgbClr val="1A6B45"/>
          </a:solidFill>
          <a:ln w="12700">
            <a:solidFill>
              <a:srgbClr val="1A6B45"/>
            </a:solidFill>
            <a:prstDash val="solid"/>
          </a:ln>
        </p:spPr>
      </p:sp>
      <p:sp>
        <p:nvSpPr>
          <p:cNvPr id="40" name="Text 38"/>
          <p:cNvSpPr/>
          <p:nvPr/>
        </p:nvSpPr>
        <p:spPr>
          <a:xfrm>
            <a:off x="6455664" y="2286000"/>
            <a:ext cx="2359152" cy="457200"/>
          </a:xfrm>
          <a:prstGeom prst="rect">
            <a:avLst/>
          </a:prstGeom>
          <a:noFill/>
          <a:ln/>
        </p:spPr>
        <p:txBody>
          <a:bodyPr wrap="square" lIns="0" tIns="0" rIns="0" bIns="0" rtlCol="0" anchor="ctr"/>
          <a:lstStyle/>
          <a:p>
            <a:pPr indent="0" marL="0">
              <a:buNone/>
            </a:pPr>
            <a:r>
              <a:rPr lang="en-US" sz="950" dirty="0">
                <a:solidFill>
                  <a:srgbClr val="1A6B45"/>
                </a:solidFill>
                <a:latin typeface="Calibri" pitchFamily="34" charset="0"/>
                <a:ea typeface="Calibri" pitchFamily="34" charset="-122"/>
                <a:cs typeface="Calibri" pitchFamily="34" charset="-120"/>
              </a:rPr>
              <a:t>NVDA reduced from 64.6% → ~30% over time</a:t>
            </a:r>
            <a:endParaRPr lang="en-US" sz="950" dirty="0"/>
          </a:p>
        </p:txBody>
      </p:sp>
      <p:sp>
        <p:nvSpPr>
          <p:cNvPr id="41" name="Shape 39"/>
          <p:cNvSpPr/>
          <p:nvPr/>
        </p:nvSpPr>
        <p:spPr>
          <a:xfrm>
            <a:off x="6272784" y="2889504"/>
            <a:ext cx="128016" cy="128016"/>
          </a:xfrm>
          <a:prstGeom prst="ellipse">
            <a:avLst/>
          </a:prstGeom>
          <a:solidFill>
            <a:srgbClr val="1A6B45"/>
          </a:solidFill>
          <a:ln w="12700">
            <a:solidFill>
              <a:srgbClr val="1A6B45"/>
            </a:solidFill>
            <a:prstDash val="solid"/>
          </a:ln>
        </p:spPr>
      </p:sp>
      <p:sp>
        <p:nvSpPr>
          <p:cNvPr id="42" name="Text 40"/>
          <p:cNvSpPr/>
          <p:nvPr/>
        </p:nvSpPr>
        <p:spPr>
          <a:xfrm>
            <a:off x="6455664" y="2852928"/>
            <a:ext cx="2359152" cy="457200"/>
          </a:xfrm>
          <a:prstGeom prst="rect">
            <a:avLst/>
          </a:prstGeom>
          <a:noFill/>
          <a:ln/>
        </p:spPr>
        <p:txBody>
          <a:bodyPr wrap="square" lIns="0" tIns="0" rIns="0" bIns="0" rtlCol="0" anchor="ctr"/>
          <a:lstStyle/>
          <a:p>
            <a:pPr indent="0" marL="0">
              <a:buNone/>
            </a:pPr>
            <a:r>
              <a:rPr lang="en-US" sz="950" dirty="0">
                <a:solidFill>
                  <a:srgbClr val="1A6B45"/>
                </a:solidFill>
                <a:latin typeface="Calibri" pitchFamily="34" charset="0"/>
                <a:ea typeface="Calibri" pitchFamily="34" charset="-122"/>
                <a:cs typeface="Calibri" pitchFamily="34" charset="-120"/>
              </a:rPr>
              <a:t>$750K+ annual CRT income for Daniel &amp; Claire</a:t>
            </a:r>
            <a:endParaRPr lang="en-US" sz="950" dirty="0"/>
          </a:p>
        </p:txBody>
      </p:sp>
      <p:sp>
        <p:nvSpPr>
          <p:cNvPr id="43" name="Shape 41"/>
          <p:cNvSpPr/>
          <p:nvPr/>
        </p:nvSpPr>
        <p:spPr>
          <a:xfrm>
            <a:off x="6272784" y="3456432"/>
            <a:ext cx="128016" cy="128016"/>
          </a:xfrm>
          <a:prstGeom prst="ellipse">
            <a:avLst/>
          </a:prstGeom>
          <a:solidFill>
            <a:srgbClr val="1A6B45"/>
          </a:solidFill>
          <a:ln w="12700">
            <a:solidFill>
              <a:srgbClr val="1A6B45"/>
            </a:solidFill>
            <a:prstDash val="solid"/>
          </a:ln>
        </p:spPr>
      </p:sp>
      <p:sp>
        <p:nvSpPr>
          <p:cNvPr id="44" name="Text 42"/>
          <p:cNvSpPr/>
          <p:nvPr/>
        </p:nvSpPr>
        <p:spPr>
          <a:xfrm>
            <a:off x="6455664" y="3419856"/>
            <a:ext cx="2359152" cy="457200"/>
          </a:xfrm>
          <a:prstGeom prst="rect">
            <a:avLst/>
          </a:prstGeom>
          <a:noFill/>
          <a:ln/>
        </p:spPr>
        <p:txBody>
          <a:bodyPr wrap="square" lIns="0" tIns="0" rIns="0" bIns="0" rtlCol="0" anchor="ctr"/>
          <a:lstStyle/>
          <a:p>
            <a:pPr indent="0" marL="0">
              <a:buNone/>
            </a:pPr>
            <a:r>
              <a:rPr lang="en-US" sz="950" dirty="0">
                <a:solidFill>
                  <a:srgbClr val="1A6B45"/>
                </a:solidFill>
                <a:latin typeface="Calibri" pitchFamily="34" charset="0"/>
                <a:ea typeface="Calibri" pitchFamily="34" charset="-122"/>
                <a:cs typeface="Calibri" pitchFamily="34" charset="-120"/>
              </a:rPr>
              <a:t>Diversified portfolio $25–30M in public equities</a:t>
            </a:r>
            <a:endParaRPr lang="en-US" sz="950" dirty="0"/>
          </a:p>
        </p:txBody>
      </p:sp>
      <p:sp>
        <p:nvSpPr>
          <p:cNvPr id="45" name="Shape 43"/>
          <p:cNvSpPr/>
          <p:nvPr/>
        </p:nvSpPr>
        <p:spPr>
          <a:xfrm>
            <a:off x="6272784" y="4023360"/>
            <a:ext cx="128016" cy="128016"/>
          </a:xfrm>
          <a:prstGeom prst="ellipse">
            <a:avLst/>
          </a:prstGeom>
          <a:solidFill>
            <a:srgbClr val="1A6B45"/>
          </a:solidFill>
          <a:ln w="12700">
            <a:solidFill>
              <a:srgbClr val="1A6B45"/>
            </a:solidFill>
            <a:prstDash val="solid"/>
          </a:ln>
        </p:spPr>
      </p:sp>
      <p:sp>
        <p:nvSpPr>
          <p:cNvPr id="46" name="Text 44"/>
          <p:cNvSpPr/>
          <p:nvPr/>
        </p:nvSpPr>
        <p:spPr>
          <a:xfrm>
            <a:off x="6455664" y="3986784"/>
            <a:ext cx="2359152" cy="457200"/>
          </a:xfrm>
          <a:prstGeom prst="rect">
            <a:avLst/>
          </a:prstGeom>
          <a:noFill/>
          <a:ln/>
        </p:spPr>
        <p:txBody>
          <a:bodyPr wrap="square" lIns="0" tIns="0" rIns="0" bIns="0" rtlCol="0" anchor="ctr"/>
          <a:lstStyle/>
          <a:p>
            <a:pPr indent="0" marL="0">
              <a:buNone/>
            </a:pPr>
            <a:r>
              <a:rPr lang="en-US" sz="950" dirty="0">
                <a:solidFill>
                  <a:srgbClr val="1A6B45"/>
                </a:solidFill>
                <a:latin typeface="Calibri" pitchFamily="34" charset="0"/>
                <a:ea typeface="Calibri" pitchFamily="34" charset="-122"/>
                <a:cs typeface="Calibri" pitchFamily="34" charset="-120"/>
              </a:rPr>
              <a:t>Estate planning gap reduced by ~$150–200M</a:t>
            </a:r>
            <a:endParaRPr lang="en-US" sz="950" dirty="0"/>
          </a:p>
        </p:txBody>
      </p:sp>
      <p:sp>
        <p:nvSpPr>
          <p:cNvPr id="47" name="Text 45"/>
          <p:cNvSpPr/>
          <p:nvPr/>
        </p:nvSpPr>
        <p:spPr>
          <a:xfrm>
            <a:off x="256032" y="4882896"/>
            <a:ext cx="8686800" cy="164592"/>
          </a:xfrm>
          <a:prstGeom prst="rect">
            <a:avLst/>
          </a:prstGeom>
          <a:noFill/>
          <a:ln/>
        </p:spPr>
        <p:txBody>
          <a:bodyPr wrap="square" lIns="0" tIns="0" rIns="0" bIns="0" rtlCol="0" anchor="ctr"/>
          <a:lstStyle/>
          <a:p>
            <a:pPr indent="0" marL="0">
              <a:buNone/>
            </a:pPr>
            <a:r>
              <a:rPr lang="en-US" sz="850" i="1" dirty="0">
                <a:solidFill>
                  <a:srgbClr val="718096"/>
                </a:solidFill>
                <a:latin typeface="Calibri" pitchFamily="34" charset="0"/>
                <a:ea typeface="Calibri" pitchFamily="34" charset="-122"/>
                <a:cs typeface="Calibri" pitchFamily="34" charset="-120"/>
              </a:rPr>
              <a:t>This proposal addresses all 10 client goals across 7 coordinated planning areas. Sections may be used independently or as a complete proposal.</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B5922E"/>
          </a:solidFill>
          <a:ln w="12700">
            <a:solidFill>
              <a:srgbClr val="B5922E"/>
            </a:solidFill>
            <a:prstDash val="solid"/>
          </a:ln>
        </p:spPr>
      </p:sp>
      <p:sp>
        <p:nvSpPr>
          <p:cNvPr id="3" name="Text 1"/>
          <p:cNvSpPr/>
          <p:nvPr/>
        </p:nvSpPr>
        <p:spPr>
          <a:xfrm>
            <a:off x="411480" y="1371600"/>
            <a:ext cx="2743200" cy="1097280"/>
          </a:xfrm>
          <a:prstGeom prst="rect">
            <a:avLst/>
          </a:prstGeom>
          <a:noFill/>
          <a:ln/>
        </p:spPr>
        <p:txBody>
          <a:bodyPr wrap="square" lIns="0" tIns="0" rIns="0" bIns="0" rtlCol="0" anchor="ctr"/>
          <a:lstStyle/>
          <a:p>
            <a:pPr indent="0" marL="0">
              <a:buNone/>
            </a:pPr>
            <a:r>
              <a:rPr lang="en-US" sz="9600" b="1" dirty="0">
                <a:solidFill>
                  <a:srgbClr val="1E3347"/>
                </a:solidFill>
                <a:latin typeface="Garamond" pitchFamily="34" charset="0"/>
                <a:ea typeface="Garamond" pitchFamily="34" charset="-122"/>
                <a:cs typeface="Garamond" pitchFamily="34" charset="-120"/>
              </a:rPr>
              <a:t>01</a:t>
            </a:r>
            <a:endParaRPr lang="en-US" sz="9600" dirty="0"/>
          </a:p>
        </p:txBody>
      </p:sp>
      <p:sp>
        <p:nvSpPr>
          <p:cNvPr id="4" name="Text 2"/>
          <p:cNvSpPr/>
          <p:nvPr/>
        </p:nvSpPr>
        <p:spPr>
          <a:xfrm>
            <a:off x="411480" y="1234440"/>
            <a:ext cx="7315200" cy="201168"/>
          </a:xfrm>
          <a:prstGeom prst="rect">
            <a:avLst/>
          </a:prstGeom>
          <a:noFill/>
          <a:ln/>
        </p:spPr>
        <p:txBody>
          <a:bodyPr wrap="square" lIns="0" tIns="0" rIns="0" bIns="0" rtlCol="0" anchor="ctr"/>
          <a:lstStyle/>
          <a:p>
            <a:pPr indent="0" marL="0">
              <a:buNone/>
            </a:pPr>
            <a:r>
              <a:rPr lang="en-US" sz="900" b="1" spc="300" kern="0" dirty="0">
                <a:solidFill>
                  <a:srgbClr val="B5922E"/>
                </a:solidFill>
                <a:latin typeface="Calibri" pitchFamily="34" charset="0"/>
                <a:ea typeface="Calibri" pitchFamily="34" charset="-122"/>
                <a:cs typeface="Calibri" pitchFamily="34" charset="-120"/>
              </a:rPr>
              <a:t>SECTION</a:t>
            </a:r>
            <a:endParaRPr lang="en-US" sz="900" dirty="0"/>
          </a:p>
        </p:txBody>
      </p:sp>
      <p:sp>
        <p:nvSpPr>
          <p:cNvPr id="5" name="Text 3"/>
          <p:cNvSpPr/>
          <p:nvPr/>
        </p:nvSpPr>
        <p:spPr>
          <a:xfrm>
            <a:off x="411480" y="2395728"/>
            <a:ext cx="6400800" cy="502920"/>
          </a:xfrm>
          <a:prstGeom prst="rect">
            <a:avLst/>
          </a:prstGeom>
          <a:noFill/>
          <a:ln/>
        </p:spPr>
        <p:txBody>
          <a:bodyPr wrap="square" lIns="0" tIns="0" rIns="0" bIns="0" rtlCol="0" anchor="ctr"/>
          <a:lstStyle/>
          <a:p>
            <a:pPr indent="0" marL="0">
              <a:buNone/>
            </a:pPr>
            <a:r>
              <a:rPr lang="en-US" sz="3600" b="1" dirty="0">
                <a:solidFill>
                  <a:srgbClr val="FFFFFF"/>
                </a:solidFill>
                <a:latin typeface="Garamond" pitchFamily="34" charset="0"/>
                <a:ea typeface="Garamond" pitchFamily="34" charset="-122"/>
                <a:cs typeface="Garamond" pitchFamily="34" charset="-120"/>
              </a:rPr>
              <a:t>Client Profile</a:t>
            </a:r>
            <a:endParaRPr lang="en-US" sz="3600" dirty="0"/>
          </a:p>
          <a:p>
            <a:pPr indent="0" marL="0">
              <a:buNone/>
            </a:pPr>
            <a:r>
              <a:rPr lang="en-US" sz="3600" b="1" dirty="0">
                <a:solidFill>
                  <a:srgbClr val="FFFFFF"/>
                </a:solidFill>
                <a:latin typeface="Garamond" pitchFamily="34" charset="0"/>
                <a:ea typeface="Garamond" pitchFamily="34" charset="-122"/>
                <a:cs typeface="Garamond" pitchFamily="34" charset="-120"/>
              </a:rPr>
              <a:t>&amp; Goals</a:t>
            </a:r>
            <a:endParaRPr lang="en-US" sz="3600" dirty="0"/>
          </a:p>
        </p:txBody>
      </p:sp>
      <p:sp>
        <p:nvSpPr>
          <p:cNvPr id="6" name="Text 4"/>
          <p:cNvSpPr/>
          <p:nvPr/>
        </p:nvSpPr>
        <p:spPr>
          <a:xfrm>
            <a:off x="411480" y="3364992"/>
            <a:ext cx="6400800" cy="365760"/>
          </a:xfrm>
          <a:prstGeom prst="rect">
            <a:avLst/>
          </a:prstGeom>
          <a:noFill/>
          <a:ln/>
        </p:spPr>
        <p:txBody>
          <a:bodyPr wrap="square" lIns="0" tIns="0" rIns="0" bIns="0" rtlCol="0" anchor="ctr"/>
          <a:lstStyle/>
          <a:p>
            <a:pPr indent="0" marL="0">
              <a:buNone/>
            </a:pPr>
            <a:r>
              <a:rPr lang="en-US" sz="1300" dirty="0">
                <a:solidFill>
                  <a:srgbClr val="A0B4C8"/>
                </a:solidFill>
                <a:latin typeface="Calibri" pitchFamily="34" charset="0"/>
                <a:ea typeface="Calibri" pitchFamily="34" charset="-122"/>
                <a:cs typeface="Calibri" pitchFamily="34" charset="-120"/>
              </a:rPr>
              <a:t>Household overview, principal members, stated investment objectives, and applicable restrictions.</a:t>
            </a:r>
            <a:endParaRPr lang="en-US" sz="1300" dirty="0"/>
          </a:p>
        </p:txBody>
      </p:sp>
      <p:pic>
        <p:nvPicPr>
          <p:cNvPr id="7" name="Image 0" descr="preencoded.png">    </p:cNvPr>
          <p:cNvPicPr>
            <a:picLocks noChangeAspect="1"/>
          </p:cNvPicPr>
          <p:nvPr/>
        </p:nvPicPr>
        <p:blipFill>
          <a:blip r:embed="rId1">
            <a:alphaModFix amt="30000"/>
          </a:blip>
          <a:stretch>
            <a:fillRect/>
          </a:stretch>
        </p:blipFill>
        <p:spPr>
          <a:xfrm>
            <a:off x="7132320" y="1645920"/>
            <a:ext cx="1371600" cy="13716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1B2A"/>
          </a:solidFill>
          <a:ln w="12700">
            <a:solidFill>
              <a:srgbClr val="0D1B2A"/>
            </a:solidFill>
            <a:prstDash val="solid"/>
          </a:ln>
        </p:spPr>
      </p:sp>
      <p:sp>
        <p:nvSpPr>
          <p:cNvPr id="3" name="Text 1"/>
          <p:cNvSpPr/>
          <p:nvPr/>
        </p:nvSpPr>
        <p:spPr>
          <a:xfrm>
            <a:off x="256032" y="274320"/>
            <a:ext cx="7315200" cy="201168"/>
          </a:xfrm>
          <a:prstGeom prst="rect">
            <a:avLst/>
          </a:prstGeom>
          <a:noFill/>
          <a:ln/>
        </p:spPr>
        <p:txBody>
          <a:bodyPr wrap="square" lIns="0" tIns="0" rIns="0" bIns="0" rtlCol="0" anchor="ctr"/>
          <a:lstStyle/>
          <a:p>
            <a:pPr indent="0" marL="0">
              <a:buNone/>
            </a:pPr>
            <a:r>
              <a:rPr lang="en-US" sz="900" b="1" spc="300" kern="0" dirty="0">
                <a:solidFill>
                  <a:srgbClr val="B5922E"/>
                </a:solidFill>
                <a:latin typeface="Calibri" pitchFamily="34" charset="0"/>
                <a:ea typeface="Calibri" pitchFamily="34" charset="-122"/>
                <a:cs typeface="Calibri" pitchFamily="34" charset="-120"/>
              </a:rPr>
              <a:t>SECTION 01 · CLIENT PROFILE</a:t>
            </a:r>
            <a:endParaRPr lang="en-US" sz="900" dirty="0"/>
          </a:p>
        </p:txBody>
      </p:sp>
      <p:sp>
        <p:nvSpPr>
          <p:cNvPr id="4" name="Text 2"/>
          <p:cNvSpPr/>
          <p:nvPr/>
        </p:nvSpPr>
        <p:spPr>
          <a:xfrm>
            <a:off x="256032" y="493776"/>
            <a:ext cx="8686800" cy="502920"/>
          </a:xfrm>
          <a:prstGeom prst="rect">
            <a:avLst/>
          </a:prstGeom>
          <a:noFill/>
          <a:ln/>
        </p:spPr>
        <p:txBody>
          <a:bodyPr wrap="square" lIns="0" tIns="0" rIns="0" bIns="0" rtlCol="0" anchor="ctr"/>
          <a:lstStyle/>
          <a:p>
            <a:pPr indent="0" marL="0">
              <a:buNone/>
            </a:pPr>
            <a:r>
              <a:rPr lang="en-US" sz="2400" b="1" dirty="0">
                <a:solidFill>
                  <a:srgbClr val="0D1B2A"/>
                </a:solidFill>
                <a:latin typeface="Garamond" pitchFamily="34" charset="0"/>
                <a:ea typeface="Garamond" pitchFamily="34" charset="-122"/>
                <a:cs typeface="Garamond" pitchFamily="34" charset="-120"/>
              </a:rPr>
              <a:t>Mercer Household Overview</a:t>
            </a:r>
            <a:endParaRPr lang="en-US" sz="2400" dirty="0"/>
          </a:p>
        </p:txBody>
      </p:sp>
      <p:sp>
        <p:nvSpPr>
          <p:cNvPr id="5" name="Shape 3"/>
          <p:cNvSpPr/>
          <p:nvPr/>
        </p:nvSpPr>
        <p:spPr>
          <a:xfrm>
            <a:off x="256032" y="1024128"/>
            <a:ext cx="2029968" cy="1115568"/>
          </a:xfrm>
          <a:prstGeom prst="rect">
            <a:avLst/>
          </a:prstGeom>
          <a:solidFill>
            <a:srgbClr val="FFFFFF"/>
          </a:solidFill>
          <a:ln w="9525">
            <a:solidFill>
              <a:srgbClr val="DEDEDE"/>
            </a:solidFill>
            <a:prstDash val="solid"/>
          </a:ln>
          <a:effectLst>
            <a:outerShdw sx="100000" sy="100000" kx="0" ky="0" algn="bl" rotWithShape="0" blurRad="101600" dist="25400" dir="8100000">
              <a:srgbClr val="000000">
                <a:alpha val="6000"/>
              </a:srgbClr>
            </a:outerShdw>
          </a:effectLst>
        </p:spPr>
      </p:sp>
      <p:sp>
        <p:nvSpPr>
          <p:cNvPr id="6" name="Shape 4"/>
          <p:cNvSpPr/>
          <p:nvPr/>
        </p:nvSpPr>
        <p:spPr>
          <a:xfrm>
            <a:off x="256032" y="1024128"/>
            <a:ext cx="2029968" cy="41148"/>
          </a:xfrm>
          <a:prstGeom prst="rect">
            <a:avLst/>
          </a:prstGeom>
          <a:solidFill>
            <a:srgbClr val="B5922E"/>
          </a:solidFill>
          <a:ln w="12700">
            <a:solidFill>
              <a:srgbClr val="B5922E"/>
            </a:solidFill>
            <a:prstDash val="solid"/>
          </a:ln>
        </p:spPr>
      </p:sp>
      <p:sp>
        <p:nvSpPr>
          <p:cNvPr id="7" name="Text 5"/>
          <p:cNvSpPr/>
          <p:nvPr/>
        </p:nvSpPr>
        <p:spPr>
          <a:xfrm>
            <a:off x="420624" y="1188720"/>
            <a:ext cx="1700784" cy="182880"/>
          </a:xfrm>
          <a:prstGeom prst="rect">
            <a:avLst/>
          </a:prstGeom>
          <a:noFill/>
          <a:ln/>
        </p:spPr>
        <p:txBody>
          <a:bodyPr wrap="square" lIns="0" tIns="0" rIns="0" bIns="0" rtlCol="0" anchor="ctr"/>
          <a:lstStyle/>
          <a:p>
            <a:pPr indent="0" marL="0">
              <a:buNone/>
            </a:pPr>
            <a:r>
              <a:rPr lang="en-US" sz="850" b="1" spc="150" kern="0" dirty="0">
                <a:solidFill>
                  <a:srgbClr val="718096"/>
                </a:solidFill>
                <a:latin typeface="Calibri" pitchFamily="34" charset="0"/>
                <a:ea typeface="Calibri" pitchFamily="34" charset="-122"/>
                <a:cs typeface="Calibri" pitchFamily="34" charset="-120"/>
              </a:rPr>
              <a:t>NET WORTH</a:t>
            </a:r>
            <a:endParaRPr lang="en-US" sz="850" dirty="0"/>
          </a:p>
        </p:txBody>
      </p:sp>
      <p:sp>
        <p:nvSpPr>
          <p:cNvPr id="8" name="Text 6"/>
          <p:cNvSpPr/>
          <p:nvPr/>
        </p:nvSpPr>
        <p:spPr>
          <a:xfrm>
            <a:off x="420624" y="1389888"/>
            <a:ext cx="1700784" cy="475488"/>
          </a:xfrm>
          <a:prstGeom prst="rect">
            <a:avLst/>
          </a:prstGeom>
          <a:noFill/>
          <a:ln/>
        </p:spPr>
        <p:txBody>
          <a:bodyPr wrap="square" lIns="0" tIns="0" rIns="0" bIns="0" rtlCol="0" anchor="ctr"/>
          <a:lstStyle/>
          <a:p>
            <a:pPr indent="0" marL="0">
              <a:buNone/>
            </a:pPr>
            <a:r>
              <a:rPr lang="en-US" sz="2400" b="1" dirty="0">
                <a:solidFill>
                  <a:srgbClr val="0D1B2A"/>
                </a:solidFill>
                <a:latin typeface="Garamond" pitchFamily="34" charset="0"/>
                <a:ea typeface="Garamond" pitchFamily="34" charset="-122"/>
                <a:cs typeface="Garamond" pitchFamily="34" charset="-120"/>
              </a:rPr>
              <a:t>$118M</a:t>
            </a:r>
            <a:endParaRPr lang="en-US" sz="2400" dirty="0"/>
          </a:p>
        </p:txBody>
      </p:sp>
      <p:sp>
        <p:nvSpPr>
          <p:cNvPr id="9" name="Text 7"/>
          <p:cNvSpPr/>
          <p:nvPr/>
        </p:nvSpPr>
        <p:spPr>
          <a:xfrm>
            <a:off x="420624" y="1883664"/>
            <a:ext cx="1700784" cy="164592"/>
          </a:xfrm>
          <a:prstGeom prst="rect">
            <a:avLst/>
          </a:prstGeom>
          <a:noFill/>
          <a:ln/>
        </p:spPr>
        <p:txBody>
          <a:bodyPr wrap="square" lIns="0" tIns="0" rIns="0" bIns="0" rtlCol="0" anchor="ctr"/>
          <a:lstStyle/>
          <a:p>
            <a:pPr indent="0" marL="0">
              <a:buNone/>
            </a:pPr>
            <a:r>
              <a:rPr lang="en-US" sz="900" dirty="0">
                <a:solidFill>
                  <a:srgbClr val="718096"/>
                </a:solidFill>
                <a:latin typeface="Calibri" pitchFamily="34" charset="0"/>
                <a:ea typeface="Calibri" pitchFamily="34" charset="-122"/>
                <a:cs typeface="Calibri" pitchFamily="34" charset="-120"/>
              </a:rPr>
              <a:t>Total estimated</a:t>
            </a:r>
            <a:endParaRPr lang="en-US" sz="900" dirty="0"/>
          </a:p>
        </p:txBody>
      </p:sp>
      <p:sp>
        <p:nvSpPr>
          <p:cNvPr id="10" name="Shape 8"/>
          <p:cNvSpPr/>
          <p:nvPr/>
        </p:nvSpPr>
        <p:spPr>
          <a:xfrm>
            <a:off x="2468880" y="1024128"/>
            <a:ext cx="2029968" cy="1115568"/>
          </a:xfrm>
          <a:prstGeom prst="rect">
            <a:avLst/>
          </a:prstGeom>
          <a:solidFill>
            <a:srgbClr val="FFFFFF"/>
          </a:solidFill>
          <a:ln w="9525">
            <a:solidFill>
              <a:srgbClr val="DEDEDE"/>
            </a:solidFill>
            <a:prstDash val="solid"/>
          </a:ln>
          <a:effectLst>
            <a:outerShdw sx="100000" sy="100000" kx="0" ky="0" algn="bl" rotWithShape="0" blurRad="101600" dist="25400" dir="8100000">
              <a:srgbClr val="000000">
                <a:alpha val="6000"/>
              </a:srgbClr>
            </a:outerShdw>
          </a:effectLst>
        </p:spPr>
      </p:sp>
      <p:sp>
        <p:nvSpPr>
          <p:cNvPr id="11" name="Shape 9"/>
          <p:cNvSpPr/>
          <p:nvPr/>
        </p:nvSpPr>
        <p:spPr>
          <a:xfrm>
            <a:off x="2468880" y="1024128"/>
            <a:ext cx="2029968" cy="41148"/>
          </a:xfrm>
          <a:prstGeom prst="rect">
            <a:avLst/>
          </a:prstGeom>
          <a:solidFill>
            <a:srgbClr val="B5922E"/>
          </a:solidFill>
          <a:ln w="12700">
            <a:solidFill>
              <a:srgbClr val="B5922E"/>
            </a:solidFill>
            <a:prstDash val="solid"/>
          </a:ln>
        </p:spPr>
      </p:sp>
      <p:sp>
        <p:nvSpPr>
          <p:cNvPr id="12" name="Text 10"/>
          <p:cNvSpPr/>
          <p:nvPr/>
        </p:nvSpPr>
        <p:spPr>
          <a:xfrm>
            <a:off x="2633472" y="1188720"/>
            <a:ext cx="1700784" cy="182880"/>
          </a:xfrm>
          <a:prstGeom prst="rect">
            <a:avLst/>
          </a:prstGeom>
          <a:noFill/>
          <a:ln/>
        </p:spPr>
        <p:txBody>
          <a:bodyPr wrap="square" lIns="0" tIns="0" rIns="0" bIns="0" rtlCol="0" anchor="ctr"/>
          <a:lstStyle/>
          <a:p>
            <a:pPr indent="0" marL="0">
              <a:buNone/>
            </a:pPr>
            <a:r>
              <a:rPr lang="en-US" sz="850" b="1" spc="150" kern="0" dirty="0">
                <a:solidFill>
                  <a:srgbClr val="718096"/>
                </a:solidFill>
                <a:latin typeface="Calibri" pitchFamily="34" charset="0"/>
                <a:ea typeface="Calibri" pitchFamily="34" charset="-122"/>
                <a:cs typeface="Calibri" pitchFamily="34" charset="-120"/>
              </a:rPr>
              <a:t>MANAGED ASSETS</a:t>
            </a:r>
            <a:endParaRPr lang="en-US" sz="850" dirty="0"/>
          </a:p>
        </p:txBody>
      </p:sp>
      <p:sp>
        <p:nvSpPr>
          <p:cNvPr id="13" name="Text 11"/>
          <p:cNvSpPr/>
          <p:nvPr/>
        </p:nvSpPr>
        <p:spPr>
          <a:xfrm>
            <a:off x="2633472" y="1389888"/>
            <a:ext cx="1700784" cy="475488"/>
          </a:xfrm>
          <a:prstGeom prst="rect">
            <a:avLst/>
          </a:prstGeom>
          <a:noFill/>
          <a:ln/>
        </p:spPr>
        <p:txBody>
          <a:bodyPr wrap="square" lIns="0" tIns="0" rIns="0" bIns="0" rtlCol="0" anchor="ctr"/>
          <a:lstStyle/>
          <a:p>
            <a:pPr indent="0" marL="0">
              <a:buNone/>
            </a:pPr>
            <a:r>
              <a:rPr lang="en-US" sz="2400" b="1" dirty="0">
                <a:solidFill>
                  <a:srgbClr val="0D1B2A"/>
                </a:solidFill>
                <a:latin typeface="Garamond" pitchFamily="34" charset="0"/>
                <a:ea typeface="Garamond" pitchFamily="34" charset="-122"/>
                <a:cs typeface="Garamond" pitchFamily="34" charset="-120"/>
              </a:rPr>
              <a:t>$72M</a:t>
            </a:r>
            <a:endParaRPr lang="en-US" sz="2400" dirty="0"/>
          </a:p>
        </p:txBody>
      </p:sp>
      <p:sp>
        <p:nvSpPr>
          <p:cNvPr id="14" name="Text 12"/>
          <p:cNvSpPr/>
          <p:nvPr/>
        </p:nvSpPr>
        <p:spPr>
          <a:xfrm>
            <a:off x="2633472" y="1883664"/>
            <a:ext cx="1700784" cy="164592"/>
          </a:xfrm>
          <a:prstGeom prst="rect">
            <a:avLst/>
          </a:prstGeom>
          <a:noFill/>
          <a:ln/>
        </p:spPr>
        <p:txBody>
          <a:bodyPr wrap="square" lIns="0" tIns="0" rIns="0" bIns="0" rtlCol="0" anchor="ctr"/>
          <a:lstStyle/>
          <a:p>
            <a:pPr indent="0" marL="0">
              <a:buNone/>
            </a:pPr>
            <a:r>
              <a:rPr lang="en-US" sz="900" dirty="0">
                <a:solidFill>
                  <a:srgbClr val="718096"/>
                </a:solidFill>
                <a:latin typeface="Calibri" pitchFamily="34" charset="0"/>
                <a:ea typeface="Calibri" pitchFamily="34" charset="-122"/>
                <a:cs typeface="Calibri" pitchFamily="34" charset="-120"/>
              </a:rPr>
              <a:t>4 accounts</a:t>
            </a:r>
            <a:endParaRPr lang="en-US" sz="900" dirty="0"/>
          </a:p>
        </p:txBody>
      </p:sp>
      <p:sp>
        <p:nvSpPr>
          <p:cNvPr id="15" name="Shape 13"/>
          <p:cNvSpPr/>
          <p:nvPr/>
        </p:nvSpPr>
        <p:spPr>
          <a:xfrm>
            <a:off x="4681728" y="1024128"/>
            <a:ext cx="2029968" cy="1115568"/>
          </a:xfrm>
          <a:prstGeom prst="rect">
            <a:avLst/>
          </a:prstGeom>
          <a:solidFill>
            <a:srgbClr val="FFFFFF"/>
          </a:solidFill>
          <a:ln w="9525">
            <a:solidFill>
              <a:srgbClr val="DEDEDE"/>
            </a:solidFill>
            <a:prstDash val="solid"/>
          </a:ln>
          <a:effectLst>
            <a:outerShdw sx="100000" sy="100000" kx="0" ky="0" algn="bl" rotWithShape="0" blurRad="101600" dist="25400" dir="8100000">
              <a:srgbClr val="000000">
                <a:alpha val="6000"/>
              </a:srgbClr>
            </a:outerShdw>
          </a:effectLst>
        </p:spPr>
      </p:sp>
      <p:sp>
        <p:nvSpPr>
          <p:cNvPr id="16" name="Shape 14"/>
          <p:cNvSpPr/>
          <p:nvPr/>
        </p:nvSpPr>
        <p:spPr>
          <a:xfrm>
            <a:off x="4681728" y="1024128"/>
            <a:ext cx="2029968" cy="41148"/>
          </a:xfrm>
          <a:prstGeom prst="rect">
            <a:avLst/>
          </a:prstGeom>
          <a:solidFill>
            <a:srgbClr val="B5922E"/>
          </a:solidFill>
          <a:ln w="12700">
            <a:solidFill>
              <a:srgbClr val="B5922E"/>
            </a:solidFill>
            <a:prstDash val="solid"/>
          </a:ln>
        </p:spPr>
      </p:sp>
      <p:sp>
        <p:nvSpPr>
          <p:cNvPr id="17" name="Text 15"/>
          <p:cNvSpPr/>
          <p:nvPr/>
        </p:nvSpPr>
        <p:spPr>
          <a:xfrm>
            <a:off x="4846320" y="1188720"/>
            <a:ext cx="1700784" cy="182880"/>
          </a:xfrm>
          <a:prstGeom prst="rect">
            <a:avLst/>
          </a:prstGeom>
          <a:noFill/>
          <a:ln/>
        </p:spPr>
        <p:txBody>
          <a:bodyPr wrap="square" lIns="0" tIns="0" rIns="0" bIns="0" rtlCol="0" anchor="ctr"/>
          <a:lstStyle/>
          <a:p>
            <a:pPr indent="0" marL="0">
              <a:buNone/>
            </a:pPr>
            <a:r>
              <a:rPr lang="en-US" sz="850" b="1" spc="150" kern="0" dirty="0">
                <a:solidFill>
                  <a:srgbClr val="718096"/>
                </a:solidFill>
                <a:latin typeface="Calibri" pitchFamily="34" charset="0"/>
                <a:ea typeface="Calibri" pitchFamily="34" charset="-122"/>
                <a:cs typeface="Calibri" pitchFamily="34" charset="-120"/>
              </a:rPr>
              <a:t>REAL ESTATE</a:t>
            </a:r>
            <a:endParaRPr lang="en-US" sz="850" dirty="0"/>
          </a:p>
        </p:txBody>
      </p:sp>
      <p:sp>
        <p:nvSpPr>
          <p:cNvPr id="18" name="Text 16"/>
          <p:cNvSpPr/>
          <p:nvPr/>
        </p:nvSpPr>
        <p:spPr>
          <a:xfrm>
            <a:off x="4846320" y="1389888"/>
            <a:ext cx="1700784" cy="475488"/>
          </a:xfrm>
          <a:prstGeom prst="rect">
            <a:avLst/>
          </a:prstGeom>
          <a:noFill/>
          <a:ln/>
        </p:spPr>
        <p:txBody>
          <a:bodyPr wrap="square" lIns="0" tIns="0" rIns="0" bIns="0" rtlCol="0" anchor="ctr"/>
          <a:lstStyle/>
          <a:p>
            <a:pPr indent="0" marL="0">
              <a:buNone/>
            </a:pPr>
            <a:r>
              <a:rPr lang="en-US" sz="2400" b="1" dirty="0">
                <a:solidFill>
                  <a:srgbClr val="0D1B2A"/>
                </a:solidFill>
                <a:latin typeface="Garamond" pitchFamily="34" charset="0"/>
                <a:ea typeface="Garamond" pitchFamily="34" charset="-122"/>
                <a:cs typeface="Garamond" pitchFamily="34" charset="-120"/>
              </a:rPr>
              <a:t>$28M</a:t>
            </a:r>
            <a:endParaRPr lang="en-US" sz="2400" dirty="0"/>
          </a:p>
        </p:txBody>
      </p:sp>
      <p:sp>
        <p:nvSpPr>
          <p:cNvPr id="19" name="Text 17"/>
          <p:cNvSpPr/>
          <p:nvPr/>
        </p:nvSpPr>
        <p:spPr>
          <a:xfrm>
            <a:off x="4846320" y="1883664"/>
            <a:ext cx="1700784" cy="164592"/>
          </a:xfrm>
          <a:prstGeom prst="rect">
            <a:avLst/>
          </a:prstGeom>
          <a:noFill/>
          <a:ln/>
        </p:spPr>
        <p:txBody>
          <a:bodyPr wrap="square" lIns="0" tIns="0" rIns="0" bIns="0" rtlCol="0" anchor="ctr"/>
          <a:lstStyle/>
          <a:p>
            <a:pPr indent="0" marL="0">
              <a:buNone/>
            </a:pPr>
            <a:r>
              <a:rPr lang="en-US" sz="900" dirty="0">
                <a:solidFill>
                  <a:srgbClr val="718096"/>
                </a:solidFill>
                <a:latin typeface="Calibri" pitchFamily="34" charset="0"/>
                <a:ea typeface="Calibri" pitchFamily="34" charset="-122"/>
                <a:cs typeface="Calibri" pitchFamily="34" charset="-120"/>
              </a:rPr>
              <a:t>Atherton + Palo Alto</a:t>
            </a:r>
            <a:endParaRPr lang="en-US" sz="900" dirty="0"/>
          </a:p>
        </p:txBody>
      </p:sp>
      <p:sp>
        <p:nvSpPr>
          <p:cNvPr id="20" name="Shape 18"/>
          <p:cNvSpPr/>
          <p:nvPr/>
        </p:nvSpPr>
        <p:spPr>
          <a:xfrm>
            <a:off x="6894576" y="1024128"/>
            <a:ext cx="2029968" cy="1115568"/>
          </a:xfrm>
          <a:prstGeom prst="rect">
            <a:avLst/>
          </a:prstGeom>
          <a:solidFill>
            <a:srgbClr val="FFFFFF"/>
          </a:solidFill>
          <a:ln w="9525">
            <a:solidFill>
              <a:srgbClr val="DEDEDE"/>
            </a:solidFill>
            <a:prstDash val="solid"/>
          </a:ln>
          <a:effectLst>
            <a:outerShdw sx="100000" sy="100000" kx="0" ky="0" algn="bl" rotWithShape="0" blurRad="101600" dist="25400" dir="8100000">
              <a:srgbClr val="000000">
                <a:alpha val="6000"/>
              </a:srgbClr>
            </a:outerShdw>
          </a:effectLst>
        </p:spPr>
      </p:sp>
      <p:sp>
        <p:nvSpPr>
          <p:cNvPr id="21" name="Shape 19"/>
          <p:cNvSpPr/>
          <p:nvPr/>
        </p:nvSpPr>
        <p:spPr>
          <a:xfrm>
            <a:off x="6894576" y="1024128"/>
            <a:ext cx="2029968" cy="41148"/>
          </a:xfrm>
          <a:prstGeom prst="rect">
            <a:avLst/>
          </a:prstGeom>
          <a:solidFill>
            <a:srgbClr val="B5922E"/>
          </a:solidFill>
          <a:ln w="12700">
            <a:solidFill>
              <a:srgbClr val="B5922E"/>
            </a:solidFill>
            <a:prstDash val="solid"/>
          </a:ln>
        </p:spPr>
      </p:sp>
      <p:sp>
        <p:nvSpPr>
          <p:cNvPr id="22" name="Text 20"/>
          <p:cNvSpPr/>
          <p:nvPr/>
        </p:nvSpPr>
        <p:spPr>
          <a:xfrm>
            <a:off x="7059168" y="1188720"/>
            <a:ext cx="1700784" cy="182880"/>
          </a:xfrm>
          <a:prstGeom prst="rect">
            <a:avLst/>
          </a:prstGeom>
          <a:noFill/>
          <a:ln/>
        </p:spPr>
        <p:txBody>
          <a:bodyPr wrap="square" lIns="0" tIns="0" rIns="0" bIns="0" rtlCol="0" anchor="ctr"/>
          <a:lstStyle/>
          <a:p>
            <a:pPr indent="0" marL="0">
              <a:buNone/>
            </a:pPr>
            <a:r>
              <a:rPr lang="en-US" sz="850" b="1" spc="150" kern="0" dirty="0">
                <a:solidFill>
                  <a:srgbClr val="718096"/>
                </a:solidFill>
                <a:latin typeface="Calibri" pitchFamily="34" charset="0"/>
                <a:ea typeface="Calibri" pitchFamily="34" charset="-122"/>
                <a:cs typeface="Calibri" pitchFamily="34" charset="-120"/>
              </a:rPr>
              <a:t>OTHER ASSETS</a:t>
            </a:r>
            <a:endParaRPr lang="en-US" sz="850" dirty="0"/>
          </a:p>
        </p:txBody>
      </p:sp>
      <p:sp>
        <p:nvSpPr>
          <p:cNvPr id="23" name="Text 21"/>
          <p:cNvSpPr/>
          <p:nvPr/>
        </p:nvSpPr>
        <p:spPr>
          <a:xfrm>
            <a:off x="7059168" y="1389888"/>
            <a:ext cx="1700784" cy="475488"/>
          </a:xfrm>
          <a:prstGeom prst="rect">
            <a:avLst/>
          </a:prstGeom>
          <a:noFill/>
          <a:ln/>
        </p:spPr>
        <p:txBody>
          <a:bodyPr wrap="square" lIns="0" tIns="0" rIns="0" bIns="0" rtlCol="0" anchor="ctr"/>
          <a:lstStyle/>
          <a:p>
            <a:pPr indent="0" marL="0">
              <a:buNone/>
            </a:pPr>
            <a:r>
              <a:rPr lang="en-US" sz="2400" b="1" dirty="0">
                <a:solidFill>
                  <a:srgbClr val="0D1B2A"/>
                </a:solidFill>
                <a:latin typeface="Garamond" pitchFamily="34" charset="0"/>
                <a:ea typeface="Garamond" pitchFamily="34" charset="-122"/>
                <a:cs typeface="Garamond" pitchFamily="34" charset="-120"/>
              </a:rPr>
              <a:t>$18M</a:t>
            </a:r>
            <a:endParaRPr lang="en-US" sz="2400" dirty="0"/>
          </a:p>
        </p:txBody>
      </p:sp>
      <p:sp>
        <p:nvSpPr>
          <p:cNvPr id="24" name="Text 22"/>
          <p:cNvSpPr/>
          <p:nvPr/>
        </p:nvSpPr>
        <p:spPr>
          <a:xfrm>
            <a:off x="7059168" y="1883664"/>
            <a:ext cx="1700784" cy="164592"/>
          </a:xfrm>
          <a:prstGeom prst="rect">
            <a:avLst/>
          </a:prstGeom>
          <a:noFill/>
          <a:ln/>
        </p:spPr>
        <p:txBody>
          <a:bodyPr wrap="square" lIns="0" tIns="0" rIns="0" bIns="0" rtlCol="0" anchor="ctr"/>
          <a:lstStyle/>
          <a:p>
            <a:pPr indent="0" marL="0">
              <a:buNone/>
            </a:pPr>
            <a:r>
              <a:rPr lang="en-US" sz="900" dirty="0">
                <a:solidFill>
                  <a:srgbClr val="718096"/>
                </a:solidFill>
                <a:latin typeface="Calibri" pitchFamily="34" charset="0"/>
                <a:ea typeface="Calibri" pitchFamily="34" charset="-122"/>
                <a:cs typeface="Calibri" pitchFamily="34" charset="-120"/>
              </a:rPr>
              <a:t>Private &amp; personal</a:t>
            </a:r>
            <a:endParaRPr lang="en-US" sz="900" dirty="0"/>
          </a:p>
        </p:txBody>
      </p:sp>
      <p:sp>
        <p:nvSpPr>
          <p:cNvPr id="25" name="Shape 23"/>
          <p:cNvSpPr/>
          <p:nvPr/>
        </p:nvSpPr>
        <p:spPr>
          <a:xfrm>
            <a:off x="256032" y="2304288"/>
            <a:ext cx="2029968" cy="2468880"/>
          </a:xfrm>
          <a:prstGeom prst="rect">
            <a:avLst/>
          </a:prstGeom>
          <a:solidFill>
            <a:srgbClr val="FFFFFF"/>
          </a:solidFill>
          <a:ln w="9525">
            <a:solidFill>
              <a:srgbClr val="DEDEDE"/>
            </a:solidFill>
            <a:prstDash val="solid"/>
          </a:ln>
          <a:effectLst>
            <a:outerShdw sx="100000" sy="100000" kx="0" ky="0" algn="bl" rotWithShape="0" blurRad="101600" dist="25400" dir="8100000">
              <a:srgbClr val="000000">
                <a:alpha val="6000"/>
              </a:srgbClr>
            </a:outerShdw>
          </a:effectLst>
        </p:spPr>
      </p:sp>
      <p:sp>
        <p:nvSpPr>
          <p:cNvPr id="26" name="Shape 24"/>
          <p:cNvSpPr/>
          <p:nvPr/>
        </p:nvSpPr>
        <p:spPr>
          <a:xfrm>
            <a:off x="420624" y="2487168"/>
            <a:ext cx="502920" cy="502920"/>
          </a:xfrm>
          <a:prstGeom prst="ellipse">
            <a:avLst/>
          </a:prstGeom>
          <a:solidFill>
            <a:srgbClr val="0D1B2A"/>
          </a:solidFill>
          <a:ln w="12700">
            <a:solidFill>
              <a:srgbClr val="0D1B2A"/>
            </a:solidFill>
            <a:prstDash val="solid"/>
          </a:ln>
        </p:spPr>
      </p:sp>
      <p:sp>
        <p:nvSpPr>
          <p:cNvPr id="27" name="Text 25"/>
          <p:cNvSpPr/>
          <p:nvPr/>
        </p:nvSpPr>
        <p:spPr>
          <a:xfrm>
            <a:off x="420624" y="2487168"/>
            <a:ext cx="502920" cy="502920"/>
          </a:xfrm>
          <a:prstGeom prst="rect">
            <a:avLst/>
          </a:prstGeom>
          <a:noFill/>
          <a:ln/>
        </p:spPr>
        <p:txBody>
          <a:bodyPr wrap="square" lIns="0" tIns="0" rIns="0" bIns="0" rtlCol="0" anchor="ctr"/>
          <a:lstStyle/>
          <a:p>
            <a:pPr algn="ctr" indent="0" marL="0">
              <a:buNone/>
            </a:pPr>
            <a:r>
              <a:rPr lang="en-US" sz="1100" b="1" dirty="0">
                <a:solidFill>
                  <a:srgbClr val="B5922E"/>
                </a:solidFill>
                <a:latin typeface="Garamond" pitchFamily="34" charset="0"/>
                <a:ea typeface="Garamond" pitchFamily="34" charset="-122"/>
                <a:cs typeface="Garamond" pitchFamily="34" charset="-120"/>
              </a:rPr>
              <a:t>DM</a:t>
            </a:r>
            <a:endParaRPr lang="en-US" sz="1100" dirty="0"/>
          </a:p>
        </p:txBody>
      </p:sp>
      <p:sp>
        <p:nvSpPr>
          <p:cNvPr id="28" name="Text 26"/>
          <p:cNvSpPr/>
          <p:nvPr/>
        </p:nvSpPr>
        <p:spPr>
          <a:xfrm>
            <a:off x="420624" y="3072384"/>
            <a:ext cx="1737360" cy="219456"/>
          </a:xfrm>
          <a:prstGeom prst="rect">
            <a:avLst/>
          </a:prstGeom>
          <a:noFill/>
          <a:ln/>
        </p:spPr>
        <p:txBody>
          <a:bodyPr wrap="square" lIns="0" tIns="0" rIns="0" bIns="0" rtlCol="0" anchor="ctr"/>
          <a:lstStyle/>
          <a:p>
            <a:pPr indent="0" marL="0">
              <a:buNone/>
            </a:pPr>
            <a:r>
              <a:rPr lang="en-US" sz="1100" b="1" dirty="0">
                <a:solidFill>
                  <a:srgbClr val="0D1B2A"/>
                </a:solidFill>
                <a:latin typeface="Garamond" pitchFamily="34" charset="0"/>
                <a:ea typeface="Garamond" pitchFamily="34" charset="-122"/>
                <a:cs typeface="Garamond" pitchFamily="34" charset="-120"/>
              </a:rPr>
              <a:t>Daniel Mercer</a:t>
            </a:r>
            <a:endParaRPr lang="en-US" sz="1100" dirty="0"/>
          </a:p>
        </p:txBody>
      </p:sp>
      <p:sp>
        <p:nvSpPr>
          <p:cNvPr id="29" name="Text 27"/>
          <p:cNvSpPr/>
          <p:nvPr/>
        </p:nvSpPr>
        <p:spPr>
          <a:xfrm>
            <a:off x="420624" y="3310128"/>
            <a:ext cx="1737360" cy="201168"/>
          </a:xfrm>
          <a:prstGeom prst="rect">
            <a:avLst/>
          </a:prstGeom>
          <a:noFill/>
          <a:ln/>
        </p:spPr>
        <p:txBody>
          <a:bodyPr wrap="square" lIns="0" tIns="0" rIns="0" bIns="0" rtlCol="0" anchor="ctr"/>
          <a:lstStyle/>
          <a:p>
            <a:pPr indent="0" marL="0">
              <a:buNone/>
            </a:pPr>
            <a:r>
              <a:rPr lang="en-US" sz="900" dirty="0">
                <a:solidFill>
                  <a:srgbClr val="718096"/>
                </a:solidFill>
                <a:latin typeface="Calibri" pitchFamily="34" charset="0"/>
                <a:ea typeface="Calibri" pitchFamily="34" charset="-122"/>
                <a:cs typeface="Calibri" pitchFamily="34" charset="-120"/>
              </a:rPr>
              <a:t>Primary Client · Age 58</a:t>
            </a:r>
            <a:endParaRPr lang="en-US" sz="900" dirty="0"/>
          </a:p>
        </p:txBody>
      </p:sp>
      <p:sp>
        <p:nvSpPr>
          <p:cNvPr id="30" name="Shape 28"/>
          <p:cNvSpPr/>
          <p:nvPr/>
        </p:nvSpPr>
        <p:spPr>
          <a:xfrm>
            <a:off x="420624" y="3547872"/>
            <a:ext cx="1700784" cy="10973"/>
          </a:xfrm>
          <a:prstGeom prst="rect">
            <a:avLst/>
          </a:prstGeom>
          <a:solidFill>
            <a:srgbClr val="DEDEDE"/>
          </a:solidFill>
          <a:ln w="12700">
            <a:solidFill>
              <a:srgbClr val="DEDEDE"/>
            </a:solidFill>
            <a:prstDash val="solid"/>
          </a:ln>
        </p:spPr>
      </p:sp>
      <p:sp>
        <p:nvSpPr>
          <p:cNvPr id="31" name="Text 29"/>
          <p:cNvSpPr/>
          <p:nvPr/>
        </p:nvSpPr>
        <p:spPr>
          <a:xfrm>
            <a:off x="420624" y="3639312"/>
            <a:ext cx="1700784" cy="969264"/>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Founder &amp; Executive Chairman. Prefers direct recommendations with numbers and downside scenarios. Emotionally attached to NVIDIA.</a:t>
            </a:r>
            <a:endParaRPr lang="en-US" sz="900" dirty="0"/>
          </a:p>
        </p:txBody>
      </p:sp>
      <p:sp>
        <p:nvSpPr>
          <p:cNvPr id="32" name="Shape 30"/>
          <p:cNvSpPr/>
          <p:nvPr/>
        </p:nvSpPr>
        <p:spPr>
          <a:xfrm>
            <a:off x="2468880" y="2304288"/>
            <a:ext cx="2029968" cy="2468880"/>
          </a:xfrm>
          <a:prstGeom prst="rect">
            <a:avLst/>
          </a:prstGeom>
          <a:solidFill>
            <a:srgbClr val="FFFFFF"/>
          </a:solidFill>
          <a:ln w="9525">
            <a:solidFill>
              <a:srgbClr val="DEDEDE"/>
            </a:solidFill>
            <a:prstDash val="solid"/>
          </a:ln>
          <a:effectLst>
            <a:outerShdw sx="100000" sy="100000" kx="0" ky="0" algn="bl" rotWithShape="0" blurRad="101600" dist="25400" dir="8100000">
              <a:srgbClr val="000000">
                <a:alpha val="6000"/>
              </a:srgbClr>
            </a:outerShdw>
          </a:effectLst>
        </p:spPr>
      </p:sp>
      <p:sp>
        <p:nvSpPr>
          <p:cNvPr id="33" name="Shape 31"/>
          <p:cNvSpPr/>
          <p:nvPr/>
        </p:nvSpPr>
        <p:spPr>
          <a:xfrm>
            <a:off x="2633472" y="2487168"/>
            <a:ext cx="502920" cy="502920"/>
          </a:xfrm>
          <a:prstGeom prst="ellipse">
            <a:avLst/>
          </a:prstGeom>
          <a:solidFill>
            <a:srgbClr val="0D1B2A"/>
          </a:solidFill>
          <a:ln w="12700">
            <a:solidFill>
              <a:srgbClr val="0D1B2A"/>
            </a:solidFill>
            <a:prstDash val="solid"/>
          </a:ln>
        </p:spPr>
      </p:sp>
      <p:sp>
        <p:nvSpPr>
          <p:cNvPr id="34" name="Text 32"/>
          <p:cNvSpPr/>
          <p:nvPr/>
        </p:nvSpPr>
        <p:spPr>
          <a:xfrm>
            <a:off x="2633472" y="2487168"/>
            <a:ext cx="502920" cy="502920"/>
          </a:xfrm>
          <a:prstGeom prst="rect">
            <a:avLst/>
          </a:prstGeom>
          <a:noFill/>
          <a:ln/>
        </p:spPr>
        <p:txBody>
          <a:bodyPr wrap="square" lIns="0" tIns="0" rIns="0" bIns="0" rtlCol="0" anchor="ctr"/>
          <a:lstStyle/>
          <a:p>
            <a:pPr algn="ctr" indent="0" marL="0">
              <a:buNone/>
            </a:pPr>
            <a:r>
              <a:rPr lang="en-US" sz="1100" b="1" dirty="0">
                <a:solidFill>
                  <a:srgbClr val="B5922E"/>
                </a:solidFill>
                <a:latin typeface="Garamond" pitchFamily="34" charset="0"/>
                <a:ea typeface="Garamond" pitchFamily="34" charset="-122"/>
                <a:cs typeface="Garamond" pitchFamily="34" charset="-120"/>
              </a:rPr>
              <a:t>CM</a:t>
            </a:r>
            <a:endParaRPr lang="en-US" sz="1100" dirty="0"/>
          </a:p>
        </p:txBody>
      </p:sp>
      <p:sp>
        <p:nvSpPr>
          <p:cNvPr id="35" name="Text 33"/>
          <p:cNvSpPr/>
          <p:nvPr/>
        </p:nvSpPr>
        <p:spPr>
          <a:xfrm>
            <a:off x="2633472" y="3072384"/>
            <a:ext cx="1737360" cy="219456"/>
          </a:xfrm>
          <a:prstGeom prst="rect">
            <a:avLst/>
          </a:prstGeom>
          <a:noFill/>
          <a:ln/>
        </p:spPr>
        <p:txBody>
          <a:bodyPr wrap="square" lIns="0" tIns="0" rIns="0" bIns="0" rtlCol="0" anchor="ctr"/>
          <a:lstStyle/>
          <a:p>
            <a:pPr indent="0" marL="0">
              <a:buNone/>
            </a:pPr>
            <a:r>
              <a:rPr lang="en-US" sz="1100" b="1" dirty="0">
                <a:solidFill>
                  <a:srgbClr val="0D1B2A"/>
                </a:solidFill>
                <a:latin typeface="Garamond" pitchFamily="34" charset="0"/>
                <a:ea typeface="Garamond" pitchFamily="34" charset="-122"/>
                <a:cs typeface="Garamond" pitchFamily="34" charset="-120"/>
              </a:rPr>
              <a:t>Claire Mercer</a:t>
            </a:r>
            <a:endParaRPr lang="en-US" sz="1100" dirty="0"/>
          </a:p>
        </p:txBody>
      </p:sp>
      <p:sp>
        <p:nvSpPr>
          <p:cNvPr id="36" name="Text 34"/>
          <p:cNvSpPr/>
          <p:nvPr/>
        </p:nvSpPr>
        <p:spPr>
          <a:xfrm>
            <a:off x="2633472" y="3310128"/>
            <a:ext cx="1737360" cy="201168"/>
          </a:xfrm>
          <a:prstGeom prst="rect">
            <a:avLst/>
          </a:prstGeom>
          <a:noFill/>
          <a:ln/>
        </p:spPr>
        <p:txBody>
          <a:bodyPr wrap="square" lIns="0" tIns="0" rIns="0" bIns="0" rtlCol="0" anchor="ctr"/>
          <a:lstStyle/>
          <a:p>
            <a:pPr indent="0" marL="0">
              <a:buNone/>
            </a:pPr>
            <a:r>
              <a:rPr lang="en-US" sz="900" dirty="0">
                <a:solidFill>
                  <a:srgbClr val="718096"/>
                </a:solidFill>
                <a:latin typeface="Calibri" pitchFamily="34" charset="0"/>
                <a:ea typeface="Calibri" pitchFamily="34" charset="-122"/>
                <a:cs typeface="Calibri" pitchFamily="34" charset="-120"/>
              </a:rPr>
              <a:t>Spouse · Age 55</a:t>
            </a:r>
            <a:endParaRPr lang="en-US" sz="900" dirty="0"/>
          </a:p>
        </p:txBody>
      </p:sp>
      <p:sp>
        <p:nvSpPr>
          <p:cNvPr id="37" name="Shape 35"/>
          <p:cNvSpPr/>
          <p:nvPr/>
        </p:nvSpPr>
        <p:spPr>
          <a:xfrm>
            <a:off x="2633472" y="3547872"/>
            <a:ext cx="1700784" cy="10973"/>
          </a:xfrm>
          <a:prstGeom prst="rect">
            <a:avLst/>
          </a:prstGeom>
          <a:solidFill>
            <a:srgbClr val="DEDEDE"/>
          </a:solidFill>
          <a:ln w="12700">
            <a:solidFill>
              <a:srgbClr val="DEDEDE"/>
            </a:solidFill>
            <a:prstDash val="solid"/>
          </a:ln>
        </p:spPr>
      </p:sp>
      <p:sp>
        <p:nvSpPr>
          <p:cNvPr id="38" name="Text 36"/>
          <p:cNvSpPr/>
          <p:nvPr/>
        </p:nvSpPr>
        <p:spPr>
          <a:xfrm>
            <a:off x="2633472" y="3639312"/>
            <a:ext cx="1700784" cy="969264"/>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Former healthcare executive. Focused on legacy, philanthropy, and family continuity. Leads on STEM and medical research giving.</a:t>
            </a:r>
            <a:endParaRPr lang="en-US" sz="900" dirty="0"/>
          </a:p>
        </p:txBody>
      </p:sp>
      <p:sp>
        <p:nvSpPr>
          <p:cNvPr id="39" name="Shape 37"/>
          <p:cNvSpPr/>
          <p:nvPr/>
        </p:nvSpPr>
        <p:spPr>
          <a:xfrm>
            <a:off x="4681728" y="2304288"/>
            <a:ext cx="2029968" cy="2468880"/>
          </a:xfrm>
          <a:prstGeom prst="rect">
            <a:avLst/>
          </a:prstGeom>
          <a:solidFill>
            <a:srgbClr val="FFFFFF"/>
          </a:solidFill>
          <a:ln w="9525">
            <a:solidFill>
              <a:srgbClr val="DEDEDE"/>
            </a:solidFill>
            <a:prstDash val="solid"/>
          </a:ln>
          <a:effectLst>
            <a:outerShdw sx="100000" sy="100000" kx="0" ky="0" algn="bl" rotWithShape="0" blurRad="101600" dist="25400" dir="8100000">
              <a:srgbClr val="000000">
                <a:alpha val="6000"/>
              </a:srgbClr>
            </a:outerShdw>
          </a:effectLst>
        </p:spPr>
      </p:sp>
      <p:sp>
        <p:nvSpPr>
          <p:cNvPr id="40" name="Shape 38"/>
          <p:cNvSpPr/>
          <p:nvPr/>
        </p:nvSpPr>
        <p:spPr>
          <a:xfrm>
            <a:off x="4846320" y="2487168"/>
            <a:ext cx="502920" cy="502920"/>
          </a:xfrm>
          <a:prstGeom prst="ellipse">
            <a:avLst/>
          </a:prstGeom>
          <a:solidFill>
            <a:srgbClr val="0D1B2A"/>
          </a:solidFill>
          <a:ln w="12700">
            <a:solidFill>
              <a:srgbClr val="0D1B2A"/>
            </a:solidFill>
            <a:prstDash val="solid"/>
          </a:ln>
        </p:spPr>
      </p:sp>
      <p:sp>
        <p:nvSpPr>
          <p:cNvPr id="41" name="Text 39"/>
          <p:cNvSpPr/>
          <p:nvPr/>
        </p:nvSpPr>
        <p:spPr>
          <a:xfrm>
            <a:off x="4846320" y="2487168"/>
            <a:ext cx="502920" cy="502920"/>
          </a:xfrm>
          <a:prstGeom prst="rect">
            <a:avLst/>
          </a:prstGeom>
          <a:noFill/>
          <a:ln/>
        </p:spPr>
        <p:txBody>
          <a:bodyPr wrap="square" lIns="0" tIns="0" rIns="0" bIns="0" rtlCol="0" anchor="ctr"/>
          <a:lstStyle/>
          <a:p>
            <a:pPr algn="ctr" indent="0" marL="0">
              <a:buNone/>
            </a:pPr>
            <a:r>
              <a:rPr lang="en-US" sz="1100" b="1" dirty="0">
                <a:solidFill>
                  <a:srgbClr val="B5922E"/>
                </a:solidFill>
                <a:latin typeface="Garamond" pitchFamily="34" charset="0"/>
                <a:ea typeface="Garamond" pitchFamily="34" charset="-122"/>
                <a:cs typeface="Garamond" pitchFamily="34" charset="-120"/>
              </a:rPr>
              <a:t>OM</a:t>
            </a:r>
            <a:endParaRPr lang="en-US" sz="1100" dirty="0"/>
          </a:p>
        </p:txBody>
      </p:sp>
      <p:sp>
        <p:nvSpPr>
          <p:cNvPr id="42" name="Text 40"/>
          <p:cNvSpPr/>
          <p:nvPr/>
        </p:nvSpPr>
        <p:spPr>
          <a:xfrm>
            <a:off x="4846320" y="3072384"/>
            <a:ext cx="1737360" cy="219456"/>
          </a:xfrm>
          <a:prstGeom prst="rect">
            <a:avLst/>
          </a:prstGeom>
          <a:noFill/>
          <a:ln/>
        </p:spPr>
        <p:txBody>
          <a:bodyPr wrap="square" lIns="0" tIns="0" rIns="0" bIns="0" rtlCol="0" anchor="ctr"/>
          <a:lstStyle/>
          <a:p>
            <a:pPr indent="0" marL="0">
              <a:buNone/>
            </a:pPr>
            <a:r>
              <a:rPr lang="en-US" sz="1100" b="1" dirty="0">
                <a:solidFill>
                  <a:srgbClr val="0D1B2A"/>
                </a:solidFill>
                <a:latin typeface="Garamond" pitchFamily="34" charset="0"/>
                <a:ea typeface="Garamond" pitchFamily="34" charset="-122"/>
                <a:cs typeface="Garamond" pitchFamily="34" charset="-120"/>
              </a:rPr>
              <a:t>Olivia Mercer</a:t>
            </a:r>
            <a:endParaRPr lang="en-US" sz="1100" dirty="0"/>
          </a:p>
        </p:txBody>
      </p:sp>
      <p:sp>
        <p:nvSpPr>
          <p:cNvPr id="43" name="Text 41"/>
          <p:cNvSpPr/>
          <p:nvPr/>
        </p:nvSpPr>
        <p:spPr>
          <a:xfrm>
            <a:off x="4846320" y="3310128"/>
            <a:ext cx="1737360" cy="201168"/>
          </a:xfrm>
          <a:prstGeom prst="rect">
            <a:avLst/>
          </a:prstGeom>
          <a:noFill/>
          <a:ln/>
        </p:spPr>
        <p:txBody>
          <a:bodyPr wrap="square" lIns="0" tIns="0" rIns="0" bIns="0" rtlCol="0" anchor="ctr"/>
          <a:lstStyle/>
          <a:p>
            <a:pPr indent="0" marL="0">
              <a:buNone/>
            </a:pPr>
            <a:r>
              <a:rPr lang="en-US" sz="900" dirty="0">
                <a:solidFill>
                  <a:srgbClr val="718096"/>
                </a:solidFill>
                <a:latin typeface="Calibri" pitchFamily="34" charset="0"/>
                <a:ea typeface="Calibri" pitchFamily="34" charset="-122"/>
                <a:cs typeface="Calibri" pitchFamily="34" charset="-120"/>
              </a:rPr>
              <a:t>Adult Child · Age 27</a:t>
            </a:r>
            <a:endParaRPr lang="en-US" sz="900" dirty="0"/>
          </a:p>
        </p:txBody>
      </p:sp>
      <p:sp>
        <p:nvSpPr>
          <p:cNvPr id="44" name="Shape 42"/>
          <p:cNvSpPr/>
          <p:nvPr/>
        </p:nvSpPr>
        <p:spPr>
          <a:xfrm>
            <a:off x="4846320" y="3547872"/>
            <a:ext cx="1700784" cy="10973"/>
          </a:xfrm>
          <a:prstGeom prst="rect">
            <a:avLst/>
          </a:prstGeom>
          <a:solidFill>
            <a:srgbClr val="DEDEDE"/>
          </a:solidFill>
          <a:ln w="12700">
            <a:solidFill>
              <a:srgbClr val="DEDEDE"/>
            </a:solidFill>
            <a:prstDash val="solid"/>
          </a:ln>
        </p:spPr>
      </p:sp>
      <p:sp>
        <p:nvSpPr>
          <p:cNvPr id="45" name="Text 43"/>
          <p:cNvSpPr/>
          <p:nvPr/>
        </p:nvSpPr>
        <p:spPr>
          <a:xfrm>
            <a:off x="4846320" y="3639312"/>
            <a:ext cx="1700784" cy="969264"/>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VC Associate. Financially sophisticated and independent. Future candidate for foundation governance and trustee roles.</a:t>
            </a:r>
            <a:endParaRPr lang="en-US" sz="900" dirty="0"/>
          </a:p>
        </p:txBody>
      </p:sp>
      <p:sp>
        <p:nvSpPr>
          <p:cNvPr id="46" name="Shape 44"/>
          <p:cNvSpPr/>
          <p:nvPr/>
        </p:nvSpPr>
        <p:spPr>
          <a:xfrm>
            <a:off x="6894576" y="2304288"/>
            <a:ext cx="2029968" cy="2468880"/>
          </a:xfrm>
          <a:prstGeom prst="rect">
            <a:avLst/>
          </a:prstGeom>
          <a:solidFill>
            <a:srgbClr val="FFFFFF"/>
          </a:solidFill>
          <a:ln w="9525">
            <a:solidFill>
              <a:srgbClr val="DEDEDE"/>
            </a:solidFill>
            <a:prstDash val="solid"/>
          </a:ln>
          <a:effectLst>
            <a:outerShdw sx="100000" sy="100000" kx="0" ky="0" algn="bl" rotWithShape="0" blurRad="101600" dist="25400" dir="8100000">
              <a:srgbClr val="000000">
                <a:alpha val="6000"/>
              </a:srgbClr>
            </a:outerShdw>
          </a:effectLst>
        </p:spPr>
      </p:sp>
      <p:sp>
        <p:nvSpPr>
          <p:cNvPr id="47" name="Shape 45"/>
          <p:cNvSpPr/>
          <p:nvPr/>
        </p:nvSpPr>
        <p:spPr>
          <a:xfrm>
            <a:off x="7059168" y="2487168"/>
            <a:ext cx="502920" cy="502920"/>
          </a:xfrm>
          <a:prstGeom prst="ellipse">
            <a:avLst/>
          </a:prstGeom>
          <a:solidFill>
            <a:srgbClr val="0D1B2A"/>
          </a:solidFill>
          <a:ln w="12700">
            <a:solidFill>
              <a:srgbClr val="0D1B2A"/>
            </a:solidFill>
            <a:prstDash val="solid"/>
          </a:ln>
        </p:spPr>
      </p:sp>
      <p:sp>
        <p:nvSpPr>
          <p:cNvPr id="48" name="Text 46"/>
          <p:cNvSpPr/>
          <p:nvPr/>
        </p:nvSpPr>
        <p:spPr>
          <a:xfrm>
            <a:off x="7059168" y="2487168"/>
            <a:ext cx="502920" cy="502920"/>
          </a:xfrm>
          <a:prstGeom prst="rect">
            <a:avLst/>
          </a:prstGeom>
          <a:noFill/>
          <a:ln/>
        </p:spPr>
        <p:txBody>
          <a:bodyPr wrap="square" lIns="0" tIns="0" rIns="0" bIns="0" rtlCol="0" anchor="ctr"/>
          <a:lstStyle/>
          <a:p>
            <a:pPr algn="ctr" indent="0" marL="0">
              <a:buNone/>
            </a:pPr>
            <a:r>
              <a:rPr lang="en-US" sz="1100" b="1" dirty="0">
                <a:solidFill>
                  <a:srgbClr val="B5922E"/>
                </a:solidFill>
                <a:latin typeface="Garamond" pitchFamily="34" charset="0"/>
                <a:ea typeface="Garamond" pitchFamily="34" charset="-122"/>
                <a:cs typeface="Garamond" pitchFamily="34" charset="-120"/>
              </a:rPr>
              <a:t>EM</a:t>
            </a:r>
            <a:endParaRPr lang="en-US" sz="1100" dirty="0"/>
          </a:p>
        </p:txBody>
      </p:sp>
      <p:sp>
        <p:nvSpPr>
          <p:cNvPr id="49" name="Text 47"/>
          <p:cNvSpPr/>
          <p:nvPr/>
        </p:nvSpPr>
        <p:spPr>
          <a:xfrm>
            <a:off x="7059168" y="3072384"/>
            <a:ext cx="1737360" cy="219456"/>
          </a:xfrm>
          <a:prstGeom prst="rect">
            <a:avLst/>
          </a:prstGeom>
          <a:noFill/>
          <a:ln/>
        </p:spPr>
        <p:txBody>
          <a:bodyPr wrap="square" lIns="0" tIns="0" rIns="0" bIns="0" rtlCol="0" anchor="ctr"/>
          <a:lstStyle/>
          <a:p>
            <a:pPr indent="0" marL="0">
              <a:buNone/>
            </a:pPr>
            <a:r>
              <a:rPr lang="en-US" sz="1100" b="1" dirty="0">
                <a:solidFill>
                  <a:srgbClr val="0D1B2A"/>
                </a:solidFill>
                <a:latin typeface="Garamond" pitchFamily="34" charset="0"/>
                <a:ea typeface="Garamond" pitchFamily="34" charset="-122"/>
                <a:cs typeface="Garamond" pitchFamily="34" charset="-120"/>
              </a:rPr>
              <a:t>Ethan Mercer</a:t>
            </a:r>
            <a:endParaRPr lang="en-US" sz="1100" dirty="0"/>
          </a:p>
        </p:txBody>
      </p:sp>
      <p:sp>
        <p:nvSpPr>
          <p:cNvPr id="50" name="Text 48"/>
          <p:cNvSpPr/>
          <p:nvPr/>
        </p:nvSpPr>
        <p:spPr>
          <a:xfrm>
            <a:off x="7059168" y="3310128"/>
            <a:ext cx="1737360" cy="201168"/>
          </a:xfrm>
          <a:prstGeom prst="rect">
            <a:avLst/>
          </a:prstGeom>
          <a:noFill/>
          <a:ln/>
        </p:spPr>
        <p:txBody>
          <a:bodyPr wrap="square" lIns="0" tIns="0" rIns="0" bIns="0" rtlCol="0" anchor="ctr"/>
          <a:lstStyle/>
          <a:p>
            <a:pPr indent="0" marL="0">
              <a:buNone/>
            </a:pPr>
            <a:r>
              <a:rPr lang="en-US" sz="900" dirty="0">
                <a:solidFill>
                  <a:srgbClr val="718096"/>
                </a:solidFill>
                <a:latin typeface="Calibri" pitchFamily="34" charset="0"/>
                <a:ea typeface="Calibri" pitchFamily="34" charset="-122"/>
                <a:cs typeface="Calibri" pitchFamily="34" charset="-120"/>
              </a:rPr>
              <a:t>Adult Child · Age 24</a:t>
            </a:r>
            <a:endParaRPr lang="en-US" sz="900" dirty="0"/>
          </a:p>
        </p:txBody>
      </p:sp>
      <p:sp>
        <p:nvSpPr>
          <p:cNvPr id="51" name="Shape 49"/>
          <p:cNvSpPr/>
          <p:nvPr/>
        </p:nvSpPr>
        <p:spPr>
          <a:xfrm>
            <a:off x="7059168" y="3547872"/>
            <a:ext cx="1700784" cy="10973"/>
          </a:xfrm>
          <a:prstGeom prst="rect">
            <a:avLst/>
          </a:prstGeom>
          <a:solidFill>
            <a:srgbClr val="DEDEDE"/>
          </a:solidFill>
          <a:ln w="12700">
            <a:solidFill>
              <a:srgbClr val="DEDEDE"/>
            </a:solidFill>
            <a:prstDash val="solid"/>
          </a:ln>
        </p:spPr>
      </p:sp>
      <p:sp>
        <p:nvSpPr>
          <p:cNvPr id="52" name="Text 50"/>
          <p:cNvSpPr/>
          <p:nvPr/>
        </p:nvSpPr>
        <p:spPr>
          <a:xfrm>
            <a:off x="7059168" y="3639312"/>
            <a:ext cx="1700784" cy="969264"/>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Engineering Graduate Student. Analytical, less experienced with wealth planning. Gradually being introduced to stewardship.</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1B2A"/>
          </a:solidFill>
          <a:ln w="12700">
            <a:solidFill>
              <a:srgbClr val="0D1B2A"/>
            </a:solidFill>
            <a:prstDash val="solid"/>
          </a:ln>
        </p:spPr>
      </p:sp>
      <p:sp>
        <p:nvSpPr>
          <p:cNvPr id="3" name="Text 1"/>
          <p:cNvSpPr/>
          <p:nvPr/>
        </p:nvSpPr>
        <p:spPr>
          <a:xfrm>
            <a:off x="256032" y="274320"/>
            <a:ext cx="7315200" cy="201168"/>
          </a:xfrm>
          <a:prstGeom prst="rect">
            <a:avLst/>
          </a:prstGeom>
          <a:noFill/>
          <a:ln/>
        </p:spPr>
        <p:txBody>
          <a:bodyPr wrap="square" lIns="0" tIns="0" rIns="0" bIns="0" rtlCol="0" anchor="ctr"/>
          <a:lstStyle/>
          <a:p>
            <a:pPr indent="0" marL="0">
              <a:buNone/>
            </a:pPr>
            <a:r>
              <a:rPr lang="en-US" sz="900" b="1" spc="300" kern="0" dirty="0">
                <a:solidFill>
                  <a:srgbClr val="B5922E"/>
                </a:solidFill>
                <a:latin typeface="Calibri" pitchFamily="34" charset="0"/>
                <a:ea typeface="Calibri" pitchFamily="34" charset="-122"/>
                <a:cs typeface="Calibri" pitchFamily="34" charset="-120"/>
              </a:rPr>
              <a:t>SECTION 01 · CLIENT PROFILE</a:t>
            </a:r>
            <a:endParaRPr lang="en-US" sz="900" dirty="0"/>
          </a:p>
        </p:txBody>
      </p:sp>
      <p:sp>
        <p:nvSpPr>
          <p:cNvPr id="4" name="Text 2"/>
          <p:cNvSpPr/>
          <p:nvPr/>
        </p:nvSpPr>
        <p:spPr>
          <a:xfrm>
            <a:off x="256032" y="493776"/>
            <a:ext cx="8686800" cy="502920"/>
          </a:xfrm>
          <a:prstGeom prst="rect">
            <a:avLst/>
          </a:prstGeom>
          <a:noFill/>
          <a:ln/>
        </p:spPr>
        <p:txBody>
          <a:bodyPr wrap="square" lIns="0" tIns="0" rIns="0" bIns="0" rtlCol="0" anchor="ctr"/>
          <a:lstStyle/>
          <a:p>
            <a:pPr indent="0" marL="0">
              <a:buNone/>
            </a:pPr>
            <a:r>
              <a:rPr lang="en-US" sz="2400" b="1" dirty="0">
                <a:solidFill>
                  <a:srgbClr val="0D1B2A"/>
                </a:solidFill>
                <a:latin typeface="Garamond" pitchFamily="34" charset="0"/>
                <a:ea typeface="Garamond" pitchFamily="34" charset="-122"/>
                <a:cs typeface="Garamond" pitchFamily="34" charset="-120"/>
              </a:rPr>
              <a:t>Goals &amp; Investment Restrictions</a:t>
            </a:r>
            <a:endParaRPr lang="en-US" sz="2400" dirty="0"/>
          </a:p>
        </p:txBody>
      </p:sp>
      <p:sp>
        <p:nvSpPr>
          <p:cNvPr id="5" name="Shape 3"/>
          <p:cNvSpPr/>
          <p:nvPr/>
        </p:nvSpPr>
        <p:spPr>
          <a:xfrm>
            <a:off x="256032" y="1078992"/>
            <a:ext cx="4160520" cy="694944"/>
          </a:xfrm>
          <a:prstGeom prst="rect">
            <a:avLst/>
          </a:prstGeom>
          <a:solidFill>
            <a:srgbClr val="FFFFFF"/>
          </a:solidFill>
          <a:ln w="9525">
            <a:solidFill>
              <a:srgbClr val="DEDEDE"/>
            </a:solidFill>
            <a:prstDash val="solid"/>
          </a:ln>
        </p:spPr>
      </p:sp>
      <p:sp>
        <p:nvSpPr>
          <p:cNvPr id="6" name="Shape 4"/>
          <p:cNvSpPr/>
          <p:nvPr/>
        </p:nvSpPr>
        <p:spPr>
          <a:xfrm>
            <a:off x="384048" y="1197864"/>
            <a:ext cx="457200" cy="457200"/>
          </a:xfrm>
          <a:prstGeom prst="ellipse">
            <a:avLst/>
          </a:prstGeom>
          <a:solidFill>
            <a:srgbClr val="0D1B2A"/>
          </a:solidFill>
          <a:ln w="12700">
            <a:solidFill>
              <a:srgbClr val="0D1B2A"/>
            </a:solidFill>
            <a:prstDash val="solid"/>
          </a:ln>
        </p:spPr>
      </p:sp>
      <p:sp>
        <p:nvSpPr>
          <p:cNvPr id="7" name="Text 5"/>
          <p:cNvSpPr/>
          <p:nvPr/>
        </p:nvSpPr>
        <p:spPr>
          <a:xfrm>
            <a:off x="384048" y="1197864"/>
            <a:ext cx="457200" cy="457200"/>
          </a:xfrm>
          <a:prstGeom prst="rect">
            <a:avLst/>
          </a:prstGeom>
          <a:noFill/>
          <a:ln/>
        </p:spPr>
        <p:txBody>
          <a:bodyPr wrap="square" lIns="0" tIns="0" rIns="0" bIns="0" rtlCol="0" anchor="ctr"/>
          <a:lstStyle/>
          <a:p>
            <a:pPr algn="ctr" indent="0" marL="0">
              <a:buNone/>
            </a:pPr>
            <a:r>
              <a:rPr lang="en-US" sz="1100" b="1" dirty="0">
                <a:solidFill>
                  <a:srgbClr val="B5922E"/>
                </a:solidFill>
                <a:latin typeface="Garamond" pitchFamily="34" charset="0"/>
                <a:ea typeface="Garamond" pitchFamily="34" charset="-122"/>
                <a:cs typeface="Garamond" pitchFamily="34" charset="-120"/>
              </a:rPr>
              <a:t>1</a:t>
            </a:r>
            <a:endParaRPr lang="en-US" sz="1100" dirty="0"/>
          </a:p>
        </p:txBody>
      </p:sp>
      <p:sp>
        <p:nvSpPr>
          <p:cNvPr id="8" name="Text 6"/>
          <p:cNvSpPr/>
          <p:nvPr/>
        </p:nvSpPr>
        <p:spPr>
          <a:xfrm>
            <a:off x="950976" y="1170432"/>
            <a:ext cx="3346704" cy="512064"/>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Reduce NVIDIA concentration over time while keeping a meaningful core position</a:t>
            </a:r>
            <a:endParaRPr lang="en-US" sz="1000" dirty="0"/>
          </a:p>
        </p:txBody>
      </p:sp>
      <p:sp>
        <p:nvSpPr>
          <p:cNvPr id="9" name="Shape 7"/>
          <p:cNvSpPr/>
          <p:nvPr/>
        </p:nvSpPr>
        <p:spPr>
          <a:xfrm>
            <a:off x="256032" y="1920240"/>
            <a:ext cx="4160520" cy="694944"/>
          </a:xfrm>
          <a:prstGeom prst="rect">
            <a:avLst/>
          </a:prstGeom>
          <a:solidFill>
            <a:srgbClr val="FFFFFF"/>
          </a:solidFill>
          <a:ln w="9525">
            <a:solidFill>
              <a:srgbClr val="DEDEDE"/>
            </a:solidFill>
            <a:prstDash val="solid"/>
          </a:ln>
        </p:spPr>
      </p:sp>
      <p:sp>
        <p:nvSpPr>
          <p:cNvPr id="10" name="Shape 8"/>
          <p:cNvSpPr/>
          <p:nvPr/>
        </p:nvSpPr>
        <p:spPr>
          <a:xfrm>
            <a:off x="384048" y="2039112"/>
            <a:ext cx="457200" cy="457200"/>
          </a:xfrm>
          <a:prstGeom prst="ellipse">
            <a:avLst/>
          </a:prstGeom>
          <a:solidFill>
            <a:srgbClr val="0D1B2A"/>
          </a:solidFill>
          <a:ln w="12700">
            <a:solidFill>
              <a:srgbClr val="0D1B2A"/>
            </a:solidFill>
            <a:prstDash val="solid"/>
          </a:ln>
        </p:spPr>
      </p:sp>
      <p:sp>
        <p:nvSpPr>
          <p:cNvPr id="11" name="Text 9"/>
          <p:cNvSpPr/>
          <p:nvPr/>
        </p:nvSpPr>
        <p:spPr>
          <a:xfrm>
            <a:off x="384048" y="2039112"/>
            <a:ext cx="457200" cy="457200"/>
          </a:xfrm>
          <a:prstGeom prst="rect">
            <a:avLst/>
          </a:prstGeom>
          <a:noFill/>
          <a:ln/>
        </p:spPr>
        <p:txBody>
          <a:bodyPr wrap="square" lIns="0" tIns="0" rIns="0" bIns="0" rtlCol="0" anchor="ctr"/>
          <a:lstStyle/>
          <a:p>
            <a:pPr algn="ctr" indent="0" marL="0">
              <a:buNone/>
            </a:pPr>
            <a:r>
              <a:rPr lang="en-US" sz="1100" b="1" dirty="0">
                <a:solidFill>
                  <a:srgbClr val="B5922E"/>
                </a:solidFill>
                <a:latin typeface="Garamond" pitchFamily="34" charset="0"/>
                <a:ea typeface="Garamond" pitchFamily="34" charset="-122"/>
                <a:cs typeface="Garamond" pitchFamily="34" charset="-120"/>
              </a:rPr>
              <a:t>2</a:t>
            </a:r>
            <a:endParaRPr lang="en-US" sz="1100" dirty="0"/>
          </a:p>
        </p:txBody>
      </p:sp>
      <p:sp>
        <p:nvSpPr>
          <p:cNvPr id="12" name="Text 10"/>
          <p:cNvSpPr/>
          <p:nvPr/>
        </p:nvSpPr>
        <p:spPr>
          <a:xfrm>
            <a:off x="950976" y="2011680"/>
            <a:ext cx="3346704" cy="512064"/>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Avoid creating a large immediate capital gains tax event</a:t>
            </a:r>
            <a:endParaRPr lang="en-US" sz="1000" dirty="0"/>
          </a:p>
        </p:txBody>
      </p:sp>
      <p:sp>
        <p:nvSpPr>
          <p:cNvPr id="13" name="Shape 11"/>
          <p:cNvSpPr/>
          <p:nvPr/>
        </p:nvSpPr>
        <p:spPr>
          <a:xfrm>
            <a:off x="256032" y="2761488"/>
            <a:ext cx="4160520" cy="694944"/>
          </a:xfrm>
          <a:prstGeom prst="rect">
            <a:avLst/>
          </a:prstGeom>
          <a:solidFill>
            <a:srgbClr val="FFFFFF"/>
          </a:solidFill>
          <a:ln w="9525">
            <a:solidFill>
              <a:srgbClr val="DEDEDE"/>
            </a:solidFill>
            <a:prstDash val="solid"/>
          </a:ln>
        </p:spPr>
      </p:sp>
      <p:sp>
        <p:nvSpPr>
          <p:cNvPr id="14" name="Shape 12"/>
          <p:cNvSpPr/>
          <p:nvPr/>
        </p:nvSpPr>
        <p:spPr>
          <a:xfrm>
            <a:off x="384048" y="2880360"/>
            <a:ext cx="457200" cy="457200"/>
          </a:xfrm>
          <a:prstGeom prst="ellipse">
            <a:avLst/>
          </a:prstGeom>
          <a:solidFill>
            <a:srgbClr val="0D1B2A"/>
          </a:solidFill>
          <a:ln w="12700">
            <a:solidFill>
              <a:srgbClr val="0D1B2A"/>
            </a:solidFill>
            <a:prstDash val="solid"/>
          </a:ln>
        </p:spPr>
      </p:sp>
      <p:sp>
        <p:nvSpPr>
          <p:cNvPr id="15" name="Text 13"/>
          <p:cNvSpPr/>
          <p:nvPr/>
        </p:nvSpPr>
        <p:spPr>
          <a:xfrm>
            <a:off x="384048" y="2880360"/>
            <a:ext cx="457200" cy="457200"/>
          </a:xfrm>
          <a:prstGeom prst="rect">
            <a:avLst/>
          </a:prstGeom>
          <a:noFill/>
          <a:ln/>
        </p:spPr>
        <p:txBody>
          <a:bodyPr wrap="square" lIns="0" tIns="0" rIns="0" bIns="0" rtlCol="0" anchor="ctr"/>
          <a:lstStyle/>
          <a:p>
            <a:pPr algn="ctr" indent="0" marL="0">
              <a:buNone/>
            </a:pPr>
            <a:r>
              <a:rPr lang="en-US" sz="1100" b="1" dirty="0">
                <a:solidFill>
                  <a:srgbClr val="B5922E"/>
                </a:solidFill>
                <a:latin typeface="Garamond" pitchFamily="34" charset="0"/>
                <a:ea typeface="Garamond" pitchFamily="34" charset="-122"/>
                <a:cs typeface="Garamond" pitchFamily="34" charset="-120"/>
              </a:rPr>
              <a:t>3</a:t>
            </a:r>
            <a:endParaRPr lang="en-US" sz="1100" dirty="0"/>
          </a:p>
        </p:txBody>
      </p:sp>
      <p:sp>
        <p:nvSpPr>
          <p:cNvPr id="16" name="Text 14"/>
          <p:cNvSpPr/>
          <p:nvPr/>
        </p:nvSpPr>
        <p:spPr>
          <a:xfrm>
            <a:off x="950976" y="2852928"/>
            <a:ext cx="3346704" cy="512064"/>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Create a more diversified, tax-aware investment portfolio</a:t>
            </a:r>
            <a:endParaRPr lang="en-US" sz="1000" dirty="0"/>
          </a:p>
        </p:txBody>
      </p:sp>
      <p:sp>
        <p:nvSpPr>
          <p:cNvPr id="17" name="Shape 15"/>
          <p:cNvSpPr/>
          <p:nvPr/>
        </p:nvSpPr>
        <p:spPr>
          <a:xfrm>
            <a:off x="256032" y="3602736"/>
            <a:ext cx="4160520" cy="694944"/>
          </a:xfrm>
          <a:prstGeom prst="rect">
            <a:avLst/>
          </a:prstGeom>
          <a:solidFill>
            <a:srgbClr val="FFFFFF"/>
          </a:solidFill>
          <a:ln w="9525">
            <a:solidFill>
              <a:srgbClr val="DEDEDE"/>
            </a:solidFill>
            <a:prstDash val="solid"/>
          </a:ln>
        </p:spPr>
      </p:sp>
      <p:sp>
        <p:nvSpPr>
          <p:cNvPr id="18" name="Shape 16"/>
          <p:cNvSpPr/>
          <p:nvPr/>
        </p:nvSpPr>
        <p:spPr>
          <a:xfrm>
            <a:off x="384048" y="3721608"/>
            <a:ext cx="457200" cy="457200"/>
          </a:xfrm>
          <a:prstGeom prst="ellipse">
            <a:avLst/>
          </a:prstGeom>
          <a:solidFill>
            <a:srgbClr val="0D1B2A"/>
          </a:solidFill>
          <a:ln w="12700">
            <a:solidFill>
              <a:srgbClr val="0D1B2A"/>
            </a:solidFill>
            <a:prstDash val="solid"/>
          </a:ln>
        </p:spPr>
      </p:sp>
      <p:sp>
        <p:nvSpPr>
          <p:cNvPr id="19" name="Text 17"/>
          <p:cNvSpPr/>
          <p:nvPr/>
        </p:nvSpPr>
        <p:spPr>
          <a:xfrm>
            <a:off x="384048" y="3721608"/>
            <a:ext cx="457200" cy="457200"/>
          </a:xfrm>
          <a:prstGeom prst="rect">
            <a:avLst/>
          </a:prstGeom>
          <a:noFill/>
          <a:ln/>
        </p:spPr>
        <p:txBody>
          <a:bodyPr wrap="square" lIns="0" tIns="0" rIns="0" bIns="0" rtlCol="0" anchor="ctr"/>
          <a:lstStyle/>
          <a:p>
            <a:pPr algn="ctr" indent="0" marL="0">
              <a:buNone/>
            </a:pPr>
            <a:r>
              <a:rPr lang="en-US" sz="1100" b="1" dirty="0">
                <a:solidFill>
                  <a:srgbClr val="B5922E"/>
                </a:solidFill>
                <a:latin typeface="Garamond" pitchFamily="34" charset="0"/>
                <a:ea typeface="Garamond" pitchFamily="34" charset="-122"/>
                <a:cs typeface="Garamond" pitchFamily="34" charset="-120"/>
              </a:rPr>
              <a:t>4</a:t>
            </a:r>
            <a:endParaRPr lang="en-US" sz="1100" dirty="0"/>
          </a:p>
        </p:txBody>
      </p:sp>
      <p:sp>
        <p:nvSpPr>
          <p:cNvPr id="20" name="Text 18"/>
          <p:cNvSpPr/>
          <p:nvPr/>
        </p:nvSpPr>
        <p:spPr>
          <a:xfrm>
            <a:off x="950976" y="3694176"/>
            <a:ext cx="3346704" cy="512064"/>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Support long-term charitable giving in STEM education and medical research</a:t>
            </a:r>
            <a:endParaRPr lang="en-US" sz="1000" dirty="0"/>
          </a:p>
        </p:txBody>
      </p:sp>
      <p:sp>
        <p:nvSpPr>
          <p:cNvPr id="21" name="Shape 19"/>
          <p:cNvSpPr/>
          <p:nvPr/>
        </p:nvSpPr>
        <p:spPr>
          <a:xfrm>
            <a:off x="4690872" y="1078992"/>
            <a:ext cx="4160520" cy="694944"/>
          </a:xfrm>
          <a:prstGeom prst="rect">
            <a:avLst/>
          </a:prstGeom>
          <a:solidFill>
            <a:srgbClr val="FFFFFF"/>
          </a:solidFill>
          <a:ln w="9525">
            <a:solidFill>
              <a:srgbClr val="DEDEDE"/>
            </a:solidFill>
            <a:prstDash val="solid"/>
          </a:ln>
        </p:spPr>
      </p:sp>
      <p:sp>
        <p:nvSpPr>
          <p:cNvPr id="22" name="Shape 20"/>
          <p:cNvSpPr/>
          <p:nvPr/>
        </p:nvSpPr>
        <p:spPr>
          <a:xfrm>
            <a:off x="4818888" y="1197864"/>
            <a:ext cx="457200" cy="457200"/>
          </a:xfrm>
          <a:prstGeom prst="ellipse">
            <a:avLst/>
          </a:prstGeom>
          <a:solidFill>
            <a:srgbClr val="0D1B2A"/>
          </a:solidFill>
          <a:ln w="12700">
            <a:solidFill>
              <a:srgbClr val="0D1B2A"/>
            </a:solidFill>
            <a:prstDash val="solid"/>
          </a:ln>
        </p:spPr>
      </p:sp>
      <p:sp>
        <p:nvSpPr>
          <p:cNvPr id="23" name="Text 21"/>
          <p:cNvSpPr/>
          <p:nvPr/>
        </p:nvSpPr>
        <p:spPr>
          <a:xfrm>
            <a:off x="4818888" y="1197864"/>
            <a:ext cx="457200" cy="457200"/>
          </a:xfrm>
          <a:prstGeom prst="rect">
            <a:avLst/>
          </a:prstGeom>
          <a:noFill/>
          <a:ln/>
        </p:spPr>
        <p:txBody>
          <a:bodyPr wrap="square" lIns="0" tIns="0" rIns="0" bIns="0" rtlCol="0" anchor="ctr"/>
          <a:lstStyle/>
          <a:p>
            <a:pPr algn="ctr" indent="0" marL="0">
              <a:buNone/>
            </a:pPr>
            <a:r>
              <a:rPr lang="en-US" sz="1100" b="1" dirty="0">
                <a:solidFill>
                  <a:srgbClr val="B5922E"/>
                </a:solidFill>
                <a:latin typeface="Garamond" pitchFamily="34" charset="0"/>
                <a:ea typeface="Garamond" pitchFamily="34" charset="-122"/>
                <a:cs typeface="Garamond" pitchFamily="34" charset="-120"/>
              </a:rPr>
              <a:t>5</a:t>
            </a:r>
            <a:endParaRPr lang="en-US" sz="1100" dirty="0"/>
          </a:p>
        </p:txBody>
      </p:sp>
      <p:sp>
        <p:nvSpPr>
          <p:cNvPr id="24" name="Text 22"/>
          <p:cNvSpPr/>
          <p:nvPr/>
        </p:nvSpPr>
        <p:spPr>
          <a:xfrm>
            <a:off x="5385816" y="1170432"/>
            <a:ext cx="3346704" cy="512064"/>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Coordinate estate planning for Olivia and Ethan</a:t>
            </a:r>
            <a:endParaRPr lang="en-US" sz="1000" dirty="0"/>
          </a:p>
        </p:txBody>
      </p:sp>
      <p:sp>
        <p:nvSpPr>
          <p:cNvPr id="25" name="Shape 23"/>
          <p:cNvSpPr/>
          <p:nvPr/>
        </p:nvSpPr>
        <p:spPr>
          <a:xfrm>
            <a:off x="4690872" y="1920240"/>
            <a:ext cx="4160520" cy="694944"/>
          </a:xfrm>
          <a:prstGeom prst="rect">
            <a:avLst/>
          </a:prstGeom>
          <a:solidFill>
            <a:srgbClr val="FFFFFF"/>
          </a:solidFill>
          <a:ln w="9525">
            <a:solidFill>
              <a:srgbClr val="DEDEDE"/>
            </a:solidFill>
            <a:prstDash val="solid"/>
          </a:ln>
        </p:spPr>
      </p:sp>
      <p:sp>
        <p:nvSpPr>
          <p:cNvPr id="26" name="Shape 24"/>
          <p:cNvSpPr/>
          <p:nvPr/>
        </p:nvSpPr>
        <p:spPr>
          <a:xfrm>
            <a:off x="4818888" y="2039112"/>
            <a:ext cx="457200" cy="457200"/>
          </a:xfrm>
          <a:prstGeom prst="ellipse">
            <a:avLst/>
          </a:prstGeom>
          <a:solidFill>
            <a:srgbClr val="0D1B2A"/>
          </a:solidFill>
          <a:ln w="12700">
            <a:solidFill>
              <a:srgbClr val="0D1B2A"/>
            </a:solidFill>
            <a:prstDash val="solid"/>
          </a:ln>
        </p:spPr>
      </p:sp>
      <p:sp>
        <p:nvSpPr>
          <p:cNvPr id="27" name="Text 25"/>
          <p:cNvSpPr/>
          <p:nvPr/>
        </p:nvSpPr>
        <p:spPr>
          <a:xfrm>
            <a:off x="4818888" y="2039112"/>
            <a:ext cx="457200" cy="457200"/>
          </a:xfrm>
          <a:prstGeom prst="rect">
            <a:avLst/>
          </a:prstGeom>
          <a:noFill/>
          <a:ln/>
        </p:spPr>
        <p:txBody>
          <a:bodyPr wrap="square" lIns="0" tIns="0" rIns="0" bIns="0" rtlCol="0" anchor="ctr"/>
          <a:lstStyle/>
          <a:p>
            <a:pPr algn="ctr" indent="0" marL="0">
              <a:buNone/>
            </a:pPr>
            <a:r>
              <a:rPr lang="en-US" sz="1100" b="1" dirty="0">
                <a:solidFill>
                  <a:srgbClr val="B5922E"/>
                </a:solidFill>
                <a:latin typeface="Garamond" pitchFamily="34" charset="0"/>
                <a:ea typeface="Garamond" pitchFamily="34" charset="-122"/>
                <a:cs typeface="Garamond" pitchFamily="34" charset="-120"/>
              </a:rPr>
              <a:t>6</a:t>
            </a:r>
            <a:endParaRPr lang="en-US" sz="1100" dirty="0"/>
          </a:p>
        </p:txBody>
      </p:sp>
      <p:sp>
        <p:nvSpPr>
          <p:cNvPr id="28" name="Text 26"/>
          <p:cNvSpPr/>
          <p:nvPr/>
        </p:nvSpPr>
        <p:spPr>
          <a:xfrm>
            <a:off x="5385816" y="2011680"/>
            <a:ext cx="3346704" cy="512064"/>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Preserve and transfer family wealth across generations</a:t>
            </a:r>
            <a:endParaRPr lang="en-US" sz="1000" dirty="0"/>
          </a:p>
        </p:txBody>
      </p:sp>
      <p:sp>
        <p:nvSpPr>
          <p:cNvPr id="29" name="Shape 27"/>
          <p:cNvSpPr/>
          <p:nvPr/>
        </p:nvSpPr>
        <p:spPr>
          <a:xfrm>
            <a:off x="4690872" y="2761488"/>
            <a:ext cx="4160520" cy="694944"/>
          </a:xfrm>
          <a:prstGeom prst="rect">
            <a:avLst/>
          </a:prstGeom>
          <a:solidFill>
            <a:srgbClr val="FFFFFF"/>
          </a:solidFill>
          <a:ln w="9525">
            <a:solidFill>
              <a:srgbClr val="DEDEDE"/>
            </a:solidFill>
            <a:prstDash val="solid"/>
          </a:ln>
        </p:spPr>
      </p:sp>
      <p:sp>
        <p:nvSpPr>
          <p:cNvPr id="30" name="Shape 28"/>
          <p:cNvSpPr/>
          <p:nvPr/>
        </p:nvSpPr>
        <p:spPr>
          <a:xfrm>
            <a:off x="4818888" y="2880360"/>
            <a:ext cx="457200" cy="457200"/>
          </a:xfrm>
          <a:prstGeom prst="ellipse">
            <a:avLst/>
          </a:prstGeom>
          <a:solidFill>
            <a:srgbClr val="0D1B2A"/>
          </a:solidFill>
          <a:ln w="12700">
            <a:solidFill>
              <a:srgbClr val="0D1B2A"/>
            </a:solidFill>
            <a:prstDash val="solid"/>
          </a:ln>
        </p:spPr>
      </p:sp>
      <p:sp>
        <p:nvSpPr>
          <p:cNvPr id="31" name="Text 29"/>
          <p:cNvSpPr/>
          <p:nvPr/>
        </p:nvSpPr>
        <p:spPr>
          <a:xfrm>
            <a:off x="4818888" y="2880360"/>
            <a:ext cx="457200" cy="457200"/>
          </a:xfrm>
          <a:prstGeom prst="rect">
            <a:avLst/>
          </a:prstGeom>
          <a:noFill/>
          <a:ln/>
        </p:spPr>
        <p:txBody>
          <a:bodyPr wrap="square" lIns="0" tIns="0" rIns="0" bIns="0" rtlCol="0" anchor="ctr"/>
          <a:lstStyle/>
          <a:p>
            <a:pPr algn="ctr" indent="0" marL="0">
              <a:buNone/>
            </a:pPr>
            <a:r>
              <a:rPr lang="en-US" sz="1100" b="1" dirty="0">
                <a:solidFill>
                  <a:srgbClr val="B5922E"/>
                </a:solidFill>
                <a:latin typeface="Garamond" pitchFamily="34" charset="0"/>
                <a:ea typeface="Garamond" pitchFamily="34" charset="-122"/>
                <a:cs typeface="Garamond" pitchFamily="34" charset="-120"/>
              </a:rPr>
              <a:t>7</a:t>
            </a:r>
            <a:endParaRPr lang="en-US" sz="1100" dirty="0"/>
          </a:p>
        </p:txBody>
      </p:sp>
      <p:sp>
        <p:nvSpPr>
          <p:cNvPr id="32" name="Text 30"/>
          <p:cNvSpPr/>
          <p:nvPr/>
        </p:nvSpPr>
        <p:spPr>
          <a:xfrm>
            <a:off x="5385816" y="2852928"/>
            <a:ext cx="3346704" cy="512064"/>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Maintain liquidity for lifestyle, philanthropy, and future opportunities</a:t>
            </a:r>
            <a:endParaRPr lang="en-US" sz="1000" dirty="0"/>
          </a:p>
        </p:txBody>
      </p:sp>
      <p:sp>
        <p:nvSpPr>
          <p:cNvPr id="33" name="Shape 31"/>
          <p:cNvSpPr/>
          <p:nvPr/>
        </p:nvSpPr>
        <p:spPr>
          <a:xfrm>
            <a:off x="4690872" y="3602736"/>
            <a:ext cx="4160520" cy="694944"/>
          </a:xfrm>
          <a:prstGeom prst="rect">
            <a:avLst/>
          </a:prstGeom>
          <a:solidFill>
            <a:srgbClr val="FFFFFF"/>
          </a:solidFill>
          <a:ln w="9525">
            <a:solidFill>
              <a:srgbClr val="DEDEDE"/>
            </a:solidFill>
            <a:prstDash val="solid"/>
          </a:ln>
        </p:spPr>
      </p:sp>
      <p:sp>
        <p:nvSpPr>
          <p:cNvPr id="34" name="Shape 32"/>
          <p:cNvSpPr/>
          <p:nvPr/>
        </p:nvSpPr>
        <p:spPr>
          <a:xfrm>
            <a:off x="4818888" y="3721608"/>
            <a:ext cx="457200" cy="457200"/>
          </a:xfrm>
          <a:prstGeom prst="ellipse">
            <a:avLst/>
          </a:prstGeom>
          <a:solidFill>
            <a:srgbClr val="0D1B2A"/>
          </a:solidFill>
          <a:ln w="12700">
            <a:solidFill>
              <a:srgbClr val="0D1B2A"/>
            </a:solidFill>
            <a:prstDash val="solid"/>
          </a:ln>
        </p:spPr>
      </p:sp>
      <p:sp>
        <p:nvSpPr>
          <p:cNvPr id="35" name="Text 33"/>
          <p:cNvSpPr/>
          <p:nvPr/>
        </p:nvSpPr>
        <p:spPr>
          <a:xfrm>
            <a:off x="4818888" y="3721608"/>
            <a:ext cx="457200" cy="457200"/>
          </a:xfrm>
          <a:prstGeom prst="rect">
            <a:avLst/>
          </a:prstGeom>
          <a:noFill/>
          <a:ln/>
        </p:spPr>
        <p:txBody>
          <a:bodyPr wrap="square" lIns="0" tIns="0" rIns="0" bIns="0" rtlCol="0" anchor="ctr"/>
          <a:lstStyle/>
          <a:p>
            <a:pPr algn="ctr" indent="0" marL="0">
              <a:buNone/>
            </a:pPr>
            <a:r>
              <a:rPr lang="en-US" sz="1100" b="1" dirty="0">
                <a:solidFill>
                  <a:srgbClr val="B5922E"/>
                </a:solidFill>
                <a:latin typeface="Garamond" pitchFamily="34" charset="0"/>
                <a:ea typeface="Garamond" pitchFamily="34" charset="-122"/>
                <a:cs typeface="Garamond" pitchFamily="34" charset="-120"/>
              </a:rPr>
              <a:t>8</a:t>
            </a:r>
            <a:endParaRPr lang="en-US" sz="1100" dirty="0"/>
          </a:p>
        </p:txBody>
      </p:sp>
      <p:sp>
        <p:nvSpPr>
          <p:cNvPr id="36" name="Text 34"/>
          <p:cNvSpPr/>
          <p:nvPr/>
        </p:nvSpPr>
        <p:spPr>
          <a:xfrm>
            <a:off x="5385816" y="3694176"/>
            <a:ext cx="3346704" cy="512064"/>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Create a planning structure that feels intentional — not purely tax-driven</a:t>
            </a:r>
            <a:endParaRPr lang="en-US" sz="1000" dirty="0"/>
          </a:p>
        </p:txBody>
      </p:sp>
      <p:sp>
        <p:nvSpPr>
          <p:cNvPr id="37" name="Text 35"/>
          <p:cNvSpPr/>
          <p:nvPr/>
        </p:nvSpPr>
        <p:spPr>
          <a:xfrm>
            <a:off x="256032" y="4498848"/>
            <a:ext cx="8686800" cy="164592"/>
          </a:xfrm>
          <a:prstGeom prst="rect">
            <a:avLst/>
          </a:prstGeom>
          <a:noFill/>
          <a:ln/>
        </p:spPr>
        <p:txBody>
          <a:bodyPr wrap="square" lIns="0" tIns="0" rIns="0" bIns="0" rtlCol="0" anchor="ctr"/>
          <a:lstStyle/>
          <a:p>
            <a:pPr indent="0" marL="0">
              <a:buNone/>
            </a:pPr>
            <a:r>
              <a:rPr lang="en-US" sz="850" b="1" spc="200" kern="0" dirty="0">
                <a:solidFill>
                  <a:srgbClr val="B5922E"/>
                </a:solidFill>
                <a:latin typeface="Calibri" pitchFamily="34" charset="0"/>
                <a:ea typeface="Calibri" pitchFamily="34" charset="-122"/>
                <a:cs typeface="Calibri" pitchFamily="34" charset="-120"/>
              </a:rPr>
              <a:t>INVESTMENT RESTRICTIONS</a:t>
            </a:r>
            <a:endParaRPr lang="en-US" sz="850" dirty="0"/>
          </a:p>
        </p:txBody>
      </p:sp>
      <p:sp>
        <p:nvSpPr>
          <p:cNvPr id="38" name="Shape 36"/>
          <p:cNvSpPr/>
          <p:nvPr/>
        </p:nvSpPr>
        <p:spPr>
          <a:xfrm>
            <a:off x="256032" y="4700016"/>
            <a:ext cx="1389888" cy="256032"/>
          </a:xfrm>
          <a:prstGeom prst="rect">
            <a:avLst/>
          </a:prstGeom>
          <a:solidFill>
            <a:srgbClr val="FDF4F3"/>
          </a:solidFill>
          <a:ln w="9525">
            <a:solidFill>
              <a:srgbClr val="F4C5C0"/>
            </a:solidFill>
            <a:prstDash val="solid"/>
          </a:ln>
        </p:spPr>
      </p:sp>
      <p:sp>
        <p:nvSpPr>
          <p:cNvPr id="39" name="Text 37"/>
          <p:cNvSpPr/>
          <p:nvPr/>
        </p:nvSpPr>
        <p:spPr>
          <a:xfrm>
            <a:off x="329184" y="4700016"/>
            <a:ext cx="1280160" cy="256032"/>
          </a:xfrm>
          <a:prstGeom prst="rect">
            <a:avLst/>
          </a:prstGeom>
          <a:noFill/>
          <a:ln/>
        </p:spPr>
        <p:txBody>
          <a:bodyPr wrap="square" lIns="0" tIns="0" rIns="0" bIns="0" rtlCol="0" anchor="ctr"/>
          <a:lstStyle/>
          <a:p>
            <a:pPr indent="0" marL="0">
              <a:buNone/>
            </a:pPr>
            <a:r>
              <a:rPr lang="en-US" sz="850" dirty="0">
                <a:solidFill>
                  <a:srgbClr val="7B2D26"/>
                </a:solidFill>
                <a:latin typeface="Calibri" pitchFamily="34" charset="0"/>
                <a:ea typeface="Calibri" pitchFamily="34" charset="-122"/>
                <a:cs typeface="Calibri" pitchFamily="34" charset="-120"/>
              </a:rPr>
              <a:t>No tobacco companies</a:t>
            </a:r>
            <a:endParaRPr lang="en-US" sz="850" dirty="0"/>
          </a:p>
        </p:txBody>
      </p:sp>
      <p:sp>
        <p:nvSpPr>
          <p:cNvPr id="40" name="Shape 38"/>
          <p:cNvSpPr/>
          <p:nvPr/>
        </p:nvSpPr>
        <p:spPr>
          <a:xfrm>
            <a:off x="1737360" y="4700016"/>
            <a:ext cx="1389888" cy="256032"/>
          </a:xfrm>
          <a:prstGeom prst="rect">
            <a:avLst/>
          </a:prstGeom>
          <a:solidFill>
            <a:srgbClr val="FDF4F3"/>
          </a:solidFill>
          <a:ln w="9525">
            <a:solidFill>
              <a:srgbClr val="F4C5C0"/>
            </a:solidFill>
            <a:prstDash val="solid"/>
          </a:ln>
        </p:spPr>
      </p:sp>
      <p:sp>
        <p:nvSpPr>
          <p:cNvPr id="41" name="Text 39"/>
          <p:cNvSpPr/>
          <p:nvPr/>
        </p:nvSpPr>
        <p:spPr>
          <a:xfrm>
            <a:off x="1810512" y="4700016"/>
            <a:ext cx="1280160" cy="256032"/>
          </a:xfrm>
          <a:prstGeom prst="rect">
            <a:avLst/>
          </a:prstGeom>
          <a:noFill/>
          <a:ln/>
        </p:spPr>
        <p:txBody>
          <a:bodyPr wrap="square" lIns="0" tIns="0" rIns="0" bIns="0" rtlCol="0" anchor="ctr"/>
          <a:lstStyle/>
          <a:p>
            <a:pPr indent="0" marL="0">
              <a:buNone/>
            </a:pPr>
            <a:r>
              <a:rPr lang="en-US" sz="850" dirty="0">
                <a:solidFill>
                  <a:srgbClr val="7B2D26"/>
                </a:solidFill>
                <a:latin typeface="Calibri" pitchFamily="34" charset="0"/>
                <a:ea typeface="Calibri" pitchFamily="34" charset="-122"/>
                <a:cs typeface="Calibri" pitchFamily="34" charset="-120"/>
              </a:rPr>
              <a:t>No private prisons</a:t>
            </a:r>
            <a:endParaRPr lang="en-US" sz="850" dirty="0"/>
          </a:p>
        </p:txBody>
      </p:sp>
      <p:sp>
        <p:nvSpPr>
          <p:cNvPr id="42" name="Shape 40"/>
          <p:cNvSpPr/>
          <p:nvPr/>
        </p:nvSpPr>
        <p:spPr>
          <a:xfrm>
            <a:off x="3218688" y="4700016"/>
            <a:ext cx="1389888" cy="256032"/>
          </a:xfrm>
          <a:prstGeom prst="rect">
            <a:avLst/>
          </a:prstGeom>
          <a:solidFill>
            <a:srgbClr val="FDF4F3"/>
          </a:solidFill>
          <a:ln w="9525">
            <a:solidFill>
              <a:srgbClr val="F4C5C0"/>
            </a:solidFill>
            <a:prstDash val="solid"/>
          </a:ln>
        </p:spPr>
      </p:sp>
      <p:sp>
        <p:nvSpPr>
          <p:cNvPr id="43" name="Text 41"/>
          <p:cNvSpPr/>
          <p:nvPr/>
        </p:nvSpPr>
        <p:spPr>
          <a:xfrm>
            <a:off x="3291840" y="4700016"/>
            <a:ext cx="1280160" cy="256032"/>
          </a:xfrm>
          <a:prstGeom prst="rect">
            <a:avLst/>
          </a:prstGeom>
          <a:noFill/>
          <a:ln/>
        </p:spPr>
        <p:txBody>
          <a:bodyPr wrap="square" lIns="0" tIns="0" rIns="0" bIns="0" rtlCol="0" anchor="ctr"/>
          <a:lstStyle/>
          <a:p>
            <a:pPr indent="0" marL="0">
              <a:buNone/>
            </a:pPr>
            <a:r>
              <a:rPr lang="en-US" sz="850" dirty="0">
                <a:solidFill>
                  <a:srgbClr val="7B2D26"/>
                </a:solidFill>
                <a:latin typeface="Calibri" pitchFamily="34" charset="0"/>
                <a:ea typeface="Calibri" pitchFamily="34" charset="-122"/>
                <a:cs typeface="Calibri" pitchFamily="34" charset="-120"/>
              </a:rPr>
              <a:t>No speculative crypto funds</a:t>
            </a:r>
            <a:endParaRPr lang="en-US" sz="850" dirty="0"/>
          </a:p>
        </p:txBody>
      </p:sp>
      <p:sp>
        <p:nvSpPr>
          <p:cNvPr id="44" name="Shape 42"/>
          <p:cNvSpPr/>
          <p:nvPr/>
        </p:nvSpPr>
        <p:spPr>
          <a:xfrm>
            <a:off x="4700016" y="4700016"/>
            <a:ext cx="1389888" cy="256032"/>
          </a:xfrm>
          <a:prstGeom prst="rect">
            <a:avLst/>
          </a:prstGeom>
          <a:solidFill>
            <a:srgbClr val="FDF4F3"/>
          </a:solidFill>
          <a:ln w="9525">
            <a:solidFill>
              <a:srgbClr val="F4C5C0"/>
            </a:solidFill>
            <a:prstDash val="solid"/>
          </a:ln>
        </p:spPr>
      </p:sp>
      <p:sp>
        <p:nvSpPr>
          <p:cNvPr id="45" name="Text 43"/>
          <p:cNvSpPr/>
          <p:nvPr/>
        </p:nvSpPr>
        <p:spPr>
          <a:xfrm>
            <a:off x="4773168" y="4700016"/>
            <a:ext cx="1280160" cy="256032"/>
          </a:xfrm>
          <a:prstGeom prst="rect">
            <a:avLst/>
          </a:prstGeom>
          <a:noFill/>
          <a:ln/>
        </p:spPr>
        <p:txBody>
          <a:bodyPr wrap="square" lIns="0" tIns="0" rIns="0" bIns="0" rtlCol="0" anchor="ctr"/>
          <a:lstStyle/>
          <a:p>
            <a:pPr indent="0" marL="0">
              <a:buNone/>
            </a:pPr>
            <a:r>
              <a:rPr lang="en-US" sz="850" dirty="0">
                <a:solidFill>
                  <a:srgbClr val="7B2D26"/>
                </a:solidFill>
                <a:latin typeface="Calibri" pitchFamily="34" charset="0"/>
                <a:ea typeface="Calibri" pitchFamily="34" charset="-122"/>
                <a:cs typeface="Calibri" pitchFamily="34" charset="-120"/>
              </a:rPr>
              <a:t>No Chinese state-linked tech</a:t>
            </a:r>
            <a:endParaRPr lang="en-US" sz="850" dirty="0"/>
          </a:p>
        </p:txBody>
      </p:sp>
      <p:sp>
        <p:nvSpPr>
          <p:cNvPr id="46" name="Shape 44"/>
          <p:cNvSpPr/>
          <p:nvPr/>
        </p:nvSpPr>
        <p:spPr>
          <a:xfrm>
            <a:off x="6181344" y="4700016"/>
            <a:ext cx="1389888" cy="256032"/>
          </a:xfrm>
          <a:prstGeom prst="rect">
            <a:avLst/>
          </a:prstGeom>
          <a:solidFill>
            <a:srgbClr val="FDF4F3"/>
          </a:solidFill>
          <a:ln w="9525">
            <a:solidFill>
              <a:srgbClr val="F4C5C0"/>
            </a:solidFill>
            <a:prstDash val="solid"/>
          </a:ln>
        </p:spPr>
      </p:sp>
      <p:sp>
        <p:nvSpPr>
          <p:cNvPr id="47" name="Text 45"/>
          <p:cNvSpPr/>
          <p:nvPr/>
        </p:nvSpPr>
        <p:spPr>
          <a:xfrm>
            <a:off x="6254496" y="4700016"/>
            <a:ext cx="1280160" cy="256032"/>
          </a:xfrm>
          <a:prstGeom prst="rect">
            <a:avLst/>
          </a:prstGeom>
          <a:noFill/>
          <a:ln/>
        </p:spPr>
        <p:txBody>
          <a:bodyPr wrap="square" lIns="0" tIns="0" rIns="0" bIns="0" rtlCol="0" anchor="ctr"/>
          <a:lstStyle/>
          <a:p>
            <a:pPr indent="0" marL="0">
              <a:buNone/>
            </a:pPr>
            <a:r>
              <a:rPr lang="en-US" sz="850" dirty="0">
                <a:solidFill>
                  <a:srgbClr val="7B2D26"/>
                </a:solidFill>
                <a:latin typeface="Calibri" pitchFamily="34" charset="0"/>
                <a:ea typeface="Calibri" pitchFamily="34" charset="-122"/>
                <a:cs typeface="Calibri" pitchFamily="34" charset="-120"/>
              </a:rPr>
              <a:t>No single non-NVDA position &gt;5%</a:t>
            </a:r>
            <a:endParaRPr lang="en-US" sz="850" dirty="0"/>
          </a:p>
        </p:txBody>
      </p:sp>
      <p:sp>
        <p:nvSpPr>
          <p:cNvPr id="48" name="Shape 46"/>
          <p:cNvSpPr/>
          <p:nvPr/>
        </p:nvSpPr>
        <p:spPr>
          <a:xfrm>
            <a:off x="7662672" y="4700016"/>
            <a:ext cx="1389888" cy="256032"/>
          </a:xfrm>
          <a:prstGeom prst="rect">
            <a:avLst/>
          </a:prstGeom>
          <a:solidFill>
            <a:srgbClr val="FDF4F3"/>
          </a:solidFill>
          <a:ln w="9525">
            <a:solidFill>
              <a:srgbClr val="F4C5C0"/>
            </a:solidFill>
            <a:prstDash val="solid"/>
          </a:ln>
        </p:spPr>
      </p:sp>
      <p:sp>
        <p:nvSpPr>
          <p:cNvPr id="49" name="Text 47"/>
          <p:cNvSpPr/>
          <p:nvPr/>
        </p:nvSpPr>
        <p:spPr>
          <a:xfrm>
            <a:off x="7735824" y="4700016"/>
            <a:ext cx="1280160" cy="256032"/>
          </a:xfrm>
          <a:prstGeom prst="rect">
            <a:avLst/>
          </a:prstGeom>
          <a:noFill/>
          <a:ln/>
        </p:spPr>
        <p:txBody>
          <a:bodyPr wrap="square" lIns="0" tIns="0" rIns="0" bIns="0" rtlCol="0" anchor="ctr"/>
          <a:lstStyle/>
          <a:p>
            <a:pPr indent="0" marL="0">
              <a:buNone/>
            </a:pPr>
            <a:r>
              <a:rPr lang="en-US" sz="850" dirty="0">
                <a:solidFill>
                  <a:srgbClr val="7B2D26"/>
                </a:solidFill>
                <a:latin typeface="Calibri" pitchFamily="34" charset="0"/>
                <a:ea typeface="Calibri" pitchFamily="34" charset="-122"/>
                <a:cs typeface="Calibri" pitchFamily="34" charset="-120"/>
              </a:rPr>
              <a:t>Maintain meaningful NVDA core</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B5922E"/>
          </a:solidFill>
          <a:ln w="12700">
            <a:solidFill>
              <a:srgbClr val="B5922E"/>
            </a:solidFill>
            <a:prstDash val="solid"/>
          </a:ln>
        </p:spPr>
      </p:sp>
      <p:sp>
        <p:nvSpPr>
          <p:cNvPr id="3" name="Text 1"/>
          <p:cNvSpPr/>
          <p:nvPr/>
        </p:nvSpPr>
        <p:spPr>
          <a:xfrm>
            <a:off x="411480" y="1371600"/>
            <a:ext cx="2743200" cy="1097280"/>
          </a:xfrm>
          <a:prstGeom prst="rect">
            <a:avLst/>
          </a:prstGeom>
          <a:noFill/>
          <a:ln/>
        </p:spPr>
        <p:txBody>
          <a:bodyPr wrap="square" lIns="0" tIns="0" rIns="0" bIns="0" rtlCol="0" anchor="ctr"/>
          <a:lstStyle/>
          <a:p>
            <a:pPr indent="0" marL="0">
              <a:buNone/>
            </a:pPr>
            <a:r>
              <a:rPr lang="en-US" sz="9600" b="1" dirty="0">
                <a:solidFill>
                  <a:srgbClr val="1E3347"/>
                </a:solidFill>
                <a:latin typeface="Garamond" pitchFamily="34" charset="0"/>
                <a:ea typeface="Garamond" pitchFamily="34" charset="-122"/>
                <a:cs typeface="Garamond" pitchFamily="34" charset="-120"/>
              </a:rPr>
              <a:t>02</a:t>
            </a:r>
            <a:endParaRPr lang="en-US" sz="9600" dirty="0"/>
          </a:p>
        </p:txBody>
      </p:sp>
      <p:sp>
        <p:nvSpPr>
          <p:cNvPr id="4" name="Text 2"/>
          <p:cNvSpPr/>
          <p:nvPr/>
        </p:nvSpPr>
        <p:spPr>
          <a:xfrm>
            <a:off x="411480" y="1234440"/>
            <a:ext cx="7315200" cy="201168"/>
          </a:xfrm>
          <a:prstGeom prst="rect">
            <a:avLst/>
          </a:prstGeom>
          <a:noFill/>
          <a:ln/>
        </p:spPr>
        <p:txBody>
          <a:bodyPr wrap="square" lIns="0" tIns="0" rIns="0" bIns="0" rtlCol="0" anchor="ctr"/>
          <a:lstStyle/>
          <a:p>
            <a:pPr indent="0" marL="0">
              <a:buNone/>
            </a:pPr>
            <a:r>
              <a:rPr lang="en-US" sz="900" b="1" spc="300" kern="0" dirty="0">
                <a:solidFill>
                  <a:srgbClr val="B5922E"/>
                </a:solidFill>
                <a:latin typeface="Calibri" pitchFamily="34" charset="0"/>
                <a:ea typeface="Calibri" pitchFamily="34" charset="-122"/>
                <a:cs typeface="Calibri" pitchFamily="34" charset="-120"/>
              </a:rPr>
              <a:t>SECTION</a:t>
            </a:r>
            <a:endParaRPr lang="en-US" sz="900" dirty="0"/>
          </a:p>
        </p:txBody>
      </p:sp>
      <p:sp>
        <p:nvSpPr>
          <p:cNvPr id="5" name="Text 3"/>
          <p:cNvSpPr/>
          <p:nvPr/>
        </p:nvSpPr>
        <p:spPr>
          <a:xfrm>
            <a:off x="411480" y="2395728"/>
            <a:ext cx="6400800" cy="502920"/>
          </a:xfrm>
          <a:prstGeom prst="rect">
            <a:avLst/>
          </a:prstGeom>
          <a:noFill/>
          <a:ln/>
        </p:spPr>
        <p:txBody>
          <a:bodyPr wrap="square" lIns="0" tIns="0" rIns="0" bIns="0" rtlCol="0" anchor="ctr"/>
          <a:lstStyle/>
          <a:p>
            <a:pPr indent="0" marL="0">
              <a:buNone/>
            </a:pPr>
            <a:r>
              <a:rPr lang="en-US" sz="3600" b="1" dirty="0">
                <a:solidFill>
                  <a:srgbClr val="FFFFFF"/>
                </a:solidFill>
                <a:latin typeface="Garamond" pitchFamily="34" charset="0"/>
                <a:ea typeface="Garamond" pitchFamily="34" charset="-122"/>
                <a:cs typeface="Garamond" pitchFamily="34" charset="-120"/>
              </a:rPr>
              <a:t>Risk Assessment</a:t>
            </a:r>
            <a:endParaRPr lang="en-US" sz="3600" dirty="0"/>
          </a:p>
        </p:txBody>
      </p:sp>
      <p:sp>
        <p:nvSpPr>
          <p:cNvPr id="6" name="Text 4"/>
          <p:cNvSpPr/>
          <p:nvPr/>
        </p:nvSpPr>
        <p:spPr>
          <a:xfrm>
            <a:off x="411480" y="3364992"/>
            <a:ext cx="6400800" cy="365760"/>
          </a:xfrm>
          <a:prstGeom prst="rect">
            <a:avLst/>
          </a:prstGeom>
          <a:noFill/>
          <a:ln/>
        </p:spPr>
        <p:txBody>
          <a:bodyPr wrap="square" lIns="0" tIns="0" rIns="0" bIns="0" rtlCol="0" anchor="ctr"/>
          <a:lstStyle/>
          <a:p>
            <a:pPr indent="0" marL="0">
              <a:buNone/>
            </a:pPr>
            <a:r>
              <a:rPr lang="en-US" sz="1300" dirty="0">
                <a:solidFill>
                  <a:srgbClr val="A0B4C8"/>
                </a:solidFill>
                <a:latin typeface="Calibri" pitchFamily="34" charset="0"/>
                <a:ea typeface="Calibri" pitchFamily="34" charset="-122"/>
                <a:cs typeface="Calibri" pitchFamily="34" charset="-120"/>
              </a:rPr>
              <a:t>Nitrogen Risk Number assessment · Comfort zone evaluation · Six-month scenario analysis.</a:t>
            </a:r>
            <a:endParaRPr lang="en-US" sz="1300" dirty="0"/>
          </a:p>
        </p:txBody>
      </p:sp>
      <p:pic>
        <p:nvPicPr>
          <p:cNvPr id="7" name="Image 0" descr="preencoded.png">    </p:cNvPr>
          <p:cNvPicPr>
            <a:picLocks noChangeAspect="1"/>
          </p:cNvPicPr>
          <p:nvPr/>
        </p:nvPicPr>
        <p:blipFill>
          <a:blip r:embed="rId1">
            <a:alphaModFix amt="30000"/>
          </a:blip>
          <a:stretch>
            <a:fillRect/>
          </a:stretch>
        </p:blipFill>
        <p:spPr>
          <a:xfrm>
            <a:off x="7132320" y="1645920"/>
            <a:ext cx="1371600" cy="1371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1B2A"/>
          </a:solidFill>
          <a:ln w="12700">
            <a:solidFill>
              <a:srgbClr val="0D1B2A"/>
            </a:solidFill>
            <a:prstDash val="solid"/>
          </a:ln>
        </p:spPr>
      </p:sp>
      <p:sp>
        <p:nvSpPr>
          <p:cNvPr id="3" name="Text 1"/>
          <p:cNvSpPr/>
          <p:nvPr/>
        </p:nvSpPr>
        <p:spPr>
          <a:xfrm>
            <a:off x="256032" y="274320"/>
            <a:ext cx="7315200" cy="201168"/>
          </a:xfrm>
          <a:prstGeom prst="rect">
            <a:avLst/>
          </a:prstGeom>
          <a:noFill/>
          <a:ln/>
        </p:spPr>
        <p:txBody>
          <a:bodyPr wrap="square" lIns="0" tIns="0" rIns="0" bIns="0" rtlCol="0" anchor="ctr"/>
          <a:lstStyle/>
          <a:p>
            <a:pPr indent="0" marL="0">
              <a:buNone/>
            </a:pPr>
            <a:r>
              <a:rPr lang="en-US" sz="900" b="1" spc="300" kern="0" dirty="0">
                <a:solidFill>
                  <a:srgbClr val="B5922E"/>
                </a:solidFill>
                <a:latin typeface="Calibri" pitchFamily="34" charset="0"/>
                <a:ea typeface="Calibri" pitchFamily="34" charset="-122"/>
                <a:cs typeface="Calibri" pitchFamily="34" charset="-120"/>
              </a:rPr>
              <a:t>SECTION 02 · RISK ASSESSMENT</a:t>
            </a:r>
            <a:endParaRPr lang="en-US" sz="900" dirty="0"/>
          </a:p>
        </p:txBody>
      </p:sp>
      <p:sp>
        <p:nvSpPr>
          <p:cNvPr id="4" name="Text 2"/>
          <p:cNvSpPr/>
          <p:nvPr/>
        </p:nvSpPr>
        <p:spPr>
          <a:xfrm>
            <a:off x="256032" y="493776"/>
            <a:ext cx="8686800" cy="502920"/>
          </a:xfrm>
          <a:prstGeom prst="rect">
            <a:avLst/>
          </a:prstGeom>
          <a:noFill/>
          <a:ln/>
        </p:spPr>
        <p:txBody>
          <a:bodyPr wrap="square" lIns="0" tIns="0" rIns="0" bIns="0" rtlCol="0" anchor="ctr"/>
          <a:lstStyle/>
          <a:p>
            <a:pPr indent="0" marL="0">
              <a:buNone/>
            </a:pPr>
            <a:r>
              <a:rPr lang="en-US" sz="2400" b="1" dirty="0">
                <a:solidFill>
                  <a:srgbClr val="0D1B2A"/>
                </a:solidFill>
                <a:latin typeface="Garamond" pitchFamily="34" charset="0"/>
                <a:ea typeface="Garamond" pitchFamily="34" charset="-122"/>
                <a:cs typeface="Garamond" pitchFamily="34" charset="-120"/>
              </a:rPr>
              <a:t>Confirmed Risk Number: 64 / 99</a:t>
            </a:r>
            <a:endParaRPr lang="en-US" sz="2400" dirty="0"/>
          </a:p>
        </p:txBody>
      </p:sp>
      <p:sp>
        <p:nvSpPr>
          <p:cNvPr id="5" name="Shape 3"/>
          <p:cNvSpPr/>
          <p:nvPr/>
        </p:nvSpPr>
        <p:spPr>
          <a:xfrm>
            <a:off x="256032" y="1078992"/>
            <a:ext cx="3840480" cy="2377440"/>
          </a:xfrm>
          <a:prstGeom prst="rect">
            <a:avLst/>
          </a:prstGeom>
          <a:solidFill>
            <a:srgbClr val="0D1B2A"/>
          </a:solidFill>
          <a:ln w="12700">
            <a:solidFill>
              <a:srgbClr val="0D1B2A"/>
            </a:solidFill>
            <a:prstDash val="solid"/>
          </a:ln>
          <a:effectLst>
            <a:outerShdw sx="100000" sy="100000" kx="0" ky="0" algn="bl" rotWithShape="0" blurRad="101600" dist="25400" dir="8100000">
              <a:srgbClr val="000000">
                <a:alpha val="6000"/>
              </a:srgbClr>
            </a:outerShdw>
          </a:effectLst>
        </p:spPr>
      </p:sp>
      <p:sp>
        <p:nvSpPr>
          <p:cNvPr id="6" name="Text 4"/>
          <p:cNvSpPr/>
          <p:nvPr/>
        </p:nvSpPr>
        <p:spPr>
          <a:xfrm>
            <a:off x="512064" y="1261872"/>
            <a:ext cx="3291840" cy="201168"/>
          </a:xfrm>
          <a:prstGeom prst="rect">
            <a:avLst/>
          </a:prstGeom>
          <a:noFill/>
          <a:ln/>
        </p:spPr>
        <p:txBody>
          <a:bodyPr wrap="square" lIns="0" tIns="0" rIns="0" bIns="0" rtlCol="0" anchor="ctr"/>
          <a:lstStyle/>
          <a:p>
            <a:pPr indent="0" marL="0">
              <a:buNone/>
            </a:pPr>
            <a:r>
              <a:rPr lang="en-US" sz="900" b="1" spc="300" kern="0" dirty="0">
                <a:solidFill>
                  <a:srgbClr val="B5922E"/>
                </a:solidFill>
                <a:latin typeface="Calibri" pitchFamily="34" charset="0"/>
                <a:ea typeface="Calibri" pitchFamily="34" charset="-122"/>
                <a:cs typeface="Calibri" pitchFamily="34" charset="-120"/>
              </a:rPr>
              <a:t>RISK NUMBER</a:t>
            </a:r>
            <a:endParaRPr lang="en-US" sz="900" dirty="0"/>
          </a:p>
        </p:txBody>
      </p:sp>
      <p:sp>
        <p:nvSpPr>
          <p:cNvPr id="7" name="Text 5"/>
          <p:cNvSpPr/>
          <p:nvPr/>
        </p:nvSpPr>
        <p:spPr>
          <a:xfrm>
            <a:off x="512064" y="1499616"/>
            <a:ext cx="1371600" cy="1005840"/>
          </a:xfrm>
          <a:prstGeom prst="rect">
            <a:avLst/>
          </a:prstGeom>
          <a:noFill/>
          <a:ln/>
        </p:spPr>
        <p:txBody>
          <a:bodyPr wrap="square" lIns="0" tIns="0" rIns="0" bIns="0" rtlCol="0" anchor="ctr"/>
          <a:lstStyle/>
          <a:p>
            <a:pPr indent="0" marL="0">
              <a:buNone/>
            </a:pPr>
            <a:r>
              <a:rPr lang="en-US" sz="8000" b="1" dirty="0">
                <a:solidFill>
                  <a:srgbClr val="B5922E"/>
                </a:solidFill>
                <a:latin typeface="Garamond" pitchFamily="34" charset="0"/>
                <a:ea typeface="Garamond" pitchFamily="34" charset="-122"/>
                <a:cs typeface="Garamond" pitchFamily="34" charset="-120"/>
              </a:rPr>
              <a:t>64</a:t>
            </a:r>
            <a:endParaRPr lang="en-US" sz="8000" dirty="0"/>
          </a:p>
        </p:txBody>
      </p:sp>
      <p:sp>
        <p:nvSpPr>
          <p:cNvPr id="8" name="Text 6"/>
          <p:cNvSpPr/>
          <p:nvPr/>
        </p:nvSpPr>
        <p:spPr>
          <a:xfrm>
            <a:off x="1737360" y="2084832"/>
            <a:ext cx="1097280" cy="320040"/>
          </a:xfrm>
          <a:prstGeom prst="rect">
            <a:avLst/>
          </a:prstGeom>
          <a:noFill/>
          <a:ln/>
        </p:spPr>
        <p:txBody>
          <a:bodyPr wrap="square" lIns="0" tIns="0" rIns="0" bIns="0" rtlCol="0" anchor="ctr"/>
          <a:lstStyle/>
          <a:p>
            <a:pPr indent="0" marL="0">
              <a:buNone/>
            </a:pPr>
            <a:r>
              <a:rPr lang="en-US" sz="1400" dirty="0">
                <a:solidFill>
                  <a:srgbClr val="A0B4C8"/>
                </a:solidFill>
                <a:latin typeface="Calibri" pitchFamily="34" charset="0"/>
                <a:ea typeface="Calibri" pitchFamily="34" charset="-122"/>
                <a:cs typeface="Calibri" pitchFamily="34" charset="-120"/>
              </a:rPr>
              <a:t>of 99</a:t>
            </a:r>
            <a:endParaRPr lang="en-US" sz="1400" dirty="0"/>
          </a:p>
        </p:txBody>
      </p:sp>
      <p:sp>
        <p:nvSpPr>
          <p:cNvPr id="9" name="Text 7"/>
          <p:cNvSpPr/>
          <p:nvPr/>
        </p:nvSpPr>
        <p:spPr>
          <a:xfrm>
            <a:off x="512064" y="2542032"/>
            <a:ext cx="3291840" cy="5029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Growth-oriented · Tax-sensitive · Multi-generational legacy focus</a:t>
            </a:r>
            <a:endParaRPr lang="en-US" sz="1200" dirty="0"/>
          </a:p>
        </p:txBody>
      </p:sp>
      <p:sp>
        <p:nvSpPr>
          <p:cNvPr id="10" name="Text 8"/>
          <p:cNvSpPr/>
          <p:nvPr/>
        </p:nvSpPr>
        <p:spPr>
          <a:xfrm>
            <a:off x="512064" y="3182112"/>
            <a:ext cx="3291840" cy="201168"/>
          </a:xfrm>
          <a:prstGeom prst="rect">
            <a:avLst/>
          </a:prstGeom>
          <a:noFill/>
          <a:ln/>
        </p:spPr>
        <p:txBody>
          <a:bodyPr wrap="square" lIns="0" tIns="0" rIns="0" bIns="0" rtlCol="0" anchor="ctr"/>
          <a:lstStyle/>
          <a:p>
            <a:pPr indent="0" marL="0">
              <a:buNone/>
            </a:pPr>
            <a:r>
              <a:rPr lang="en-US" sz="900" b="1" spc="200" kern="0" dirty="0">
                <a:solidFill>
                  <a:srgbClr val="B5922E"/>
                </a:solidFill>
                <a:latin typeface="Calibri" pitchFamily="34" charset="0"/>
                <a:ea typeface="Calibri" pitchFamily="34" charset="-122"/>
                <a:cs typeface="Calibri" pitchFamily="34" charset="-120"/>
              </a:rPr>
              <a:t>BALANCED PLUS · 60/40</a:t>
            </a:r>
            <a:endParaRPr lang="en-US" sz="900" dirty="0"/>
          </a:p>
        </p:txBody>
      </p:sp>
      <p:sp>
        <p:nvSpPr>
          <p:cNvPr id="11" name="Shape 9"/>
          <p:cNvSpPr/>
          <p:nvPr/>
        </p:nvSpPr>
        <p:spPr>
          <a:xfrm>
            <a:off x="4352544" y="1078992"/>
            <a:ext cx="1444752" cy="1188720"/>
          </a:xfrm>
          <a:prstGeom prst="rect">
            <a:avLst/>
          </a:prstGeom>
          <a:solidFill>
            <a:srgbClr val="FDF4F3"/>
          </a:solidFill>
          <a:ln w="9525">
            <a:solidFill>
              <a:srgbClr val="DEDEDE"/>
            </a:solidFill>
            <a:prstDash val="solid"/>
          </a:ln>
        </p:spPr>
      </p:sp>
      <p:sp>
        <p:nvSpPr>
          <p:cNvPr id="12" name="Shape 10"/>
          <p:cNvSpPr/>
          <p:nvPr/>
        </p:nvSpPr>
        <p:spPr>
          <a:xfrm>
            <a:off x="4352544" y="1078992"/>
            <a:ext cx="1444752" cy="36576"/>
          </a:xfrm>
          <a:prstGeom prst="rect">
            <a:avLst/>
          </a:prstGeom>
          <a:solidFill>
            <a:srgbClr val="C0392B"/>
          </a:solidFill>
          <a:ln w="12700">
            <a:solidFill>
              <a:srgbClr val="C0392B"/>
            </a:solidFill>
            <a:prstDash val="solid"/>
          </a:ln>
        </p:spPr>
      </p:sp>
      <p:sp>
        <p:nvSpPr>
          <p:cNvPr id="13" name="Text 11"/>
          <p:cNvSpPr/>
          <p:nvPr/>
        </p:nvSpPr>
        <p:spPr>
          <a:xfrm>
            <a:off x="4443984" y="1188720"/>
            <a:ext cx="1261872" cy="219456"/>
          </a:xfrm>
          <a:prstGeom prst="rect">
            <a:avLst/>
          </a:prstGeom>
          <a:noFill/>
          <a:ln/>
        </p:spPr>
        <p:txBody>
          <a:bodyPr wrap="square" lIns="0" tIns="0" rIns="0" bIns="0" rtlCol="0" anchor="ctr"/>
          <a:lstStyle/>
          <a:p>
            <a:pPr indent="0" marL="0">
              <a:buNone/>
            </a:pPr>
            <a:r>
              <a:rPr lang="en-US" sz="750" b="1" spc="50" kern="0" dirty="0">
                <a:solidFill>
                  <a:srgbClr val="7B2D26"/>
                </a:solidFill>
                <a:latin typeface="Calibri" pitchFamily="34" charset="0"/>
                <a:ea typeface="Calibri" pitchFamily="34" charset="-122"/>
                <a:cs typeface="Calibri" pitchFamily="34" charset="-120"/>
              </a:rPr>
              <a:t>DOWNSIDE · 95TH PCT</a:t>
            </a:r>
            <a:endParaRPr lang="en-US" sz="750" dirty="0"/>
          </a:p>
        </p:txBody>
      </p:sp>
      <p:sp>
        <p:nvSpPr>
          <p:cNvPr id="14" name="Text 12"/>
          <p:cNvSpPr/>
          <p:nvPr/>
        </p:nvSpPr>
        <p:spPr>
          <a:xfrm>
            <a:off x="4443984" y="1426464"/>
            <a:ext cx="1261872" cy="384048"/>
          </a:xfrm>
          <a:prstGeom prst="rect">
            <a:avLst/>
          </a:prstGeom>
          <a:noFill/>
          <a:ln/>
        </p:spPr>
        <p:txBody>
          <a:bodyPr wrap="square" lIns="0" tIns="0" rIns="0" bIns="0" rtlCol="0" anchor="ctr"/>
          <a:lstStyle/>
          <a:p>
            <a:pPr indent="0" marL="0">
              <a:buNone/>
            </a:pPr>
            <a:r>
              <a:rPr lang="en-US" sz="1150" b="1" dirty="0">
                <a:solidFill>
                  <a:srgbClr val="7B2D26"/>
                </a:solidFill>
                <a:latin typeface="Garamond" pitchFamily="34" charset="0"/>
                <a:ea typeface="Garamond" pitchFamily="34" charset="-122"/>
                <a:cs typeface="Garamond" pitchFamily="34" charset="-120"/>
              </a:rPr>
              <a:t>-$8,820,000</a:t>
            </a:r>
            <a:endParaRPr lang="en-US" sz="1150" dirty="0"/>
          </a:p>
        </p:txBody>
      </p:sp>
      <p:sp>
        <p:nvSpPr>
          <p:cNvPr id="15" name="Text 13"/>
          <p:cNvSpPr/>
          <p:nvPr/>
        </p:nvSpPr>
        <p:spPr>
          <a:xfrm>
            <a:off x="4443984" y="1828800"/>
            <a:ext cx="1261872" cy="274320"/>
          </a:xfrm>
          <a:prstGeom prst="rect">
            <a:avLst/>
          </a:prstGeom>
          <a:noFill/>
          <a:ln/>
        </p:spPr>
        <p:txBody>
          <a:bodyPr wrap="square" lIns="0" tIns="0" rIns="0" bIns="0" rtlCol="0" anchor="ctr"/>
          <a:lstStyle/>
          <a:p>
            <a:pPr indent="0" marL="0">
              <a:buNone/>
            </a:pPr>
            <a:r>
              <a:rPr lang="en-US" sz="850" dirty="0">
                <a:solidFill>
                  <a:srgbClr val="7B2D26"/>
                </a:solidFill>
                <a:latin typeface="Calibri" pitchFamily="34" charset="0"/>
                <a:ea typeface="Calibri" pitchFamily="34" charset="-122"/>
                <a:cs typeface="Calibri" pitchFamily="34" charset="-120"/>
              </a:rPr>
              <a:t>-12.25% over 6 months</a:t>
            </a:r>
            <a:endParaRPr lang="en-US" sz="850" dirty="0"/>
          </a:p>
        </p:txBody>
      </p:sp>
      <p:sp>
        <p:nvSpPr>
          <p:cNvPr id="16" name="Shape 14"/>
          <p:cNvSpPr/>
          <p:nvPr/>
        </p:nvSpPr>
        <p:spPr>
          <a:xfrm>
            <a:off x="5961888" y="1078992"/>
            <a:ext cx="1444752" cy="1188720"/>
          </a:xfrm>
          <a:prstGeom prst="rect">
            <a:avLst/>
          </a:prstGeom>
          <a:solidFill>
            <a:srgbClr val="F0F4FB"/>
          </a:solidFill>
          <a:ln w="9525">
            <a:solidFill>
              <a:srgbClr val="DEDEDE"/>
            </a:solidFill>
            <a:prstDash val="solid"/>
          </a:ln>
        </p:spPr>
      </p:sp>
      <p:sp>
        <p:nvSpPr>
          <p:cNvPr id="17" name="Shape 15"/>
          <p:cNvSpPr/>
          <p:nvPr/>
        </p:nvSpPr>
        <p:spPr>
          <a:xfrm>
            <a:off x="5961888" y="1078992"/>
            <a:ext cx="1444752" cy="36576"/>
          </a:xfrm>
          <a:prstGeom prst="rect">
            <a:avLst/>
          </a:prstGeom>
          <a:solidFill>
            <a:srgbClr val="185FA5"/>
          </a:solidFill>
          <a:ln w="12700">
            <a:solidFill>
              <a:srgbClr val="185FA5"/>
            </a:solidFill>
            <a:prstDash val="solid"/>
          </a:ln>
        </p:spPr>
      </p:sp>
      <p:sp>
        <p:nvSpPr>
          <p:cNvPr id="18" name="Text 16"/>
          <p:cNvSpPr/>
          <p:nvPr/>
        </p:nvSpPr>
        <p:spPr>
          <a:xfrm>
            <a:off x="6053328" y="1188720"/>
            <a:ext cx="1261872" cy="219456"/>
          </a:xfrm>
          <a:prstGeom prst="rect">
            <a:avLst/>
          </a:prstGeom>
          <a:noFill/>
          <a:ln/>
        </p:spPr>
        <p:txBody>
          <a:bodyPr wrap="square" lIns="0" tIns="0" rIns="0" bIns="0" rtlCol="0" anchor="ctr"/>
          <a:lstStyle/>
          <a:p>
            <a:pPr indent="0" marL="0">
              <a:buNone/>
            </a:pPr>
            <a:r>
              <a:rPr lang="en-US" sz="750" b="1" spc="50" kern="0" dirty="0">
                <a:solidFill>
                  <a:srgbClr val="185FA5"/>
                </a:solidFill>
                <a:latin typeface="Calibri" pitchFamily="34" charset="0"/>
                <a:ea typeface="Calibri" pitchFamily="34" charset="-122"/>
                <a:cs typeface="Calibri" pitchFamily="34" charset="-120"/>
              </a:rPr>
              <a:t>INVESTMENT AMOUNT</a:t>
            </a:r>
            <a:endParaRPr lang="en-US" sz="750" dirty="0"/>
          </a:p>
        </p:txBody>
      </p:sp>
      <p:sp>
        <p:nvSpPr>
          <p:cNvPr id="19" name="Text 17"/>
          <p:cNvSpPr/>
          <p:nvPr/>
        </p:nvSpPr>
        <p:spPr>
          <a:xfrm>
            <a:off x="6053328" y="1426464"/>
            <a:ext cx="1261872" cy="384048"/>
          </a:xfrm>
          <a:prstGeom prst="rect">
            <a:avLst/>
          </a:prstGeom>
          <a:noFill/>
          <a:ln/>
        </p:spPr>
        <p:txBody>
          <a:bodyPr wrap="square" lIns="0" tIns="0" rIns="0" bIns="0" rtlCol="0" anchor="ctr"/>
          <a:lstStyle/>
          <a:p>
            <a:pPr indent="0" marL="0">
              <a:buNone/>
            </a:pPr>
            <a:r>
              <a:rPr lang="en-US" sz="1150" b="1" dirty="0">
                <a:solidFill>
                  <a:srgbClr val="185FA5"/>
                </a:solidFill>
                <a:latin typeface="Garamond" pitchFamily="34" charset="0"/>
                <a:ea typeface="Garamond" pitchFamily="34" charset="-122"/>
                <a:cs typeface="Garamond" pitchFamily="34" charset="-120"/>
              </a:rPr>
              <a:t>$72,000,000</a:t>
            </a:r>
            <a:endParaRPr lang="en-US" sz="1150" dirty="0"/>
          </a:p>
        </p:txBody>
      </p:sp>
      <p:sp>
        <p:nvSpPr>
          <p:cNvPr id="20" name="Text 18"/>
          <p:cNvSpPr/>
          <p:nvPr/>
        </p:nvSpPr>
        <p:spPr>
          <a:xfrm>
            <a:off x="6053328" y="1828800"/>
            <a:ext cx="1261872" cy="274320"/>
          </a:xfrm>
          <a:prstGeom prst="rect">
            <a:avLst/>
          </a:prstGeom>
          <a:noFill/>
          <a:ln/>
        </p:spPr>
        <p:txBody>
          <a:bodyPr wrap="square" lIns="0" tIns="0" rIns="0" bIns="0" rtlCol="0" anchor="ctr"/>
          <a:lstStyle/>
          <a:p>
            <a:pPr indent="0" marL="0">
              <a:buNone/>
            </a:pPr>
            <a:r>
              <a:rPr lang="en-US" sz="850" dirty="0">
                <a:solidFill>
                  <a:srgbClr val="185FA5"/>
                </a:solidFill>
                <a:latin typeface="Calibri" pitchFamily="34" charset="0"/>
                <a:ea typeface="Calibri" pitchFamily="34" charset="-122"/>
                <a:cs typeface="Calibri" pitchFamily="34" charset="-120"/>
              </a:rPr>
              <a:t>Managed assets base</a:t>
            </a:r>
            <a:endParaRPr lang="en-US" sz="850" dirty="0"/>
          </a:p>
        </p:txBody>
      </p:sp>
      <p:sp>
        <p:nvSpPr>
          <p:cNvPr id="21" name="Shape 19"/>
          <p:cNvSpPr/>
          <p:nvPr/>
        </p:nvSpPr>
        <p:spPr>
          <a:xfrm>
            <a:off x="7571232" y="1078992"/>
            <a:ext cx="1444752" cy="1188720"/>
          </a:xfrm>
          <a:prstGeom prst="rect">
            <a:avLst/>
          </a:prstGeom>
          <a:solidFill>
            <a:srgbClr val="EFF7F2"/>
          </a:solidFill>
          <a:ln w="9525">
            <a:solidFill>
              <a:srgbClr val="DEDEDE"/>
            </a:solidFill>
            <a:prstDash val="solid"/>
          </a:ln>
        </p:spPr>
      </p:sp>
      <p:sp>
        <p:nvSpPr>
          <p:cNvPr id="22" name="Shape 20"/>
          <p:cNvSpPr/>
          <p:nvPr/>
        </p:nvSpPr>
        <p:spPr>
          <a:xfrm>
            <a:off x="7571232" y="1078992"/>
            <a:ext cx="1444752" cy="36576"/>
          </a:xfrm>
          <a:prstGeom prst="rect">
            <a:avLst/>
          </a:prstGeom>
          <a:solidFill>
            <a:srgbClr val="1A6B45"/>
          </a:solidFill>
          <a:ln w="12700">
            <a:solidFill>
              <a:srgbClr val="1A6B45"/>
            </a:solidFill>
            <a:prstDash val="solid"/>
          </a:ln>
        </p:spPr>
      </p:sp>
      <p:sp>
        <p:nvSpPr>
          <p:cNvPr id="23" name="Text 21"/>
          <p:cNvSpPr/>
          <p:nvPr/>
        </p:nvSpPr>
        <p:spPr>
          <a:xfrm>
            <a:off x="7662672" y="1188720"/>
            <a:ext cx="1261872" cy="219456"/>
          </a:xfrm>
          <a:prstGeom prst="rect">
            <a:avLst/>
          </a:prstGeom>
          <a:noFill/>
          <a:ln/>
        </p:spPr>
        <p:txBody>
          <a:bodyPr wrap="square" lIns="0" tIns="0" rIns="0" bIns="0" rtlCol="0" anchor="ctr"/>
          <a:lstStyle/>
          <a:p>
            <a:pPr indent="0" marL="0">
              <a:buNone/>
            </a:pPr>
            <a:r>
              <a:rPr lang="en-US" sz="750" b="1" spc="50" kern="0" dirty="0">
                <a:solidFill>
                  <a:srgbClr val="1A6B45"/>
                </a:solidFill>
                <a:latin typeface="Calibri" pitchFamily="34" charset="0"/>
                <a:ea typeface="Calibri" pitchFamily="34" charset="-122"/>
                <a:cs typeface="Calibri" pitchFamily="34" charset="-120"/>
              </a:rPr>
              <a:t>UPSIDE · 95TH PCT</a:t>
            </a:r>
            <a:endParaRPr lang="en-US" sz="750" dirty="0"/>
          </a:p>
        </p:txBody>
      </p:sp>
      <p:sp>
        <p:nvSpPr>
          <p:cNvPr id="24" name="Text 22"/>
          <p:cNvSpPr/>
          <p:nvPr/>
        </p:nvSpPr>
        <p:spPr>
          <a:xfrm>
            <a:off x="7662672" y="1426464"/>
            <a:ext cx="1261872" cy="384048"/>
          </a:xfrm>
          <a:prstGeom prst="rect">
            <a:avLst/>
          </a:prstGeom>
          <a:noFill/>
          <a:ln/>
        </p:spPr>
        <p:txBody>
          <a:bodyPr wrap="square" lIns="0" tIns="0" rIns="0" bIns="0" rtlCol="0" anchor="ctr"/>
          <a:lstStyle/>
          <a:p>
            <a:pPr indent="0" marL="0">
              <a:buNone/>
            </a:pPr>
            <a:r>
              <a:rPr lang="en-US" sz="1150" b="1" dirty="0">
                <a:solidFill>
                  <a:srgbClr val="1A6B45"/>
                </a:solidFill>
                <a:latin typeface="Garamond" pitchFamily="34" charset="0"/>
                <a:ea typeface="Garamond" pitchFamily="34" charset="-122"/>
                <a:cs typeface="Garamond" pitchFamily="34" charset="-120"/>
              </a:rPr>
              <a:t>+$13,248,000</a:t>
            </a:r>
            <a:endParaRPr lang="en-US" sz="1150" dirty="0"/>
          </a:p>
        </p:txBody>
      </p:sp>
      <p:sp>
        <p:nvSpPr>
          <p:cNvPr id="25" name="Text 23"/>
          <p:cNvSpPr/>
          <p:nvPr/>
        </p:nvSpPr>
        <p:spPr>
          <a:xfrm>
            <a:off x="7662672" y="1828800"/>
            <a:ext cx="1261872" cy="274320"/>
          </a:xfrm>
          <a:prstGeom prst="rect">
            <a:avLst/>
          </a:prstGeom>
          <a:noFill/>
          <a:ln/>
        </p:spPr>
        <p:txBody>
          <a:bodyPr wrap="square" lIns="0" tIns="0" rIns="0" bIns="0" rtlCol="0" anchor="ctr"/>
          <a:lstStyle/>
          <a:p>
            <a:pPr indent="0" marL="0">
              <a:buNone/>
            </a:pPr>
            <a:r>
              <a:rPr lang="en-US" sz="850" dirty="0">
                <a:solidFill>
                  <a:srgbClr val="1A6B45"/>
                </a:solidFill>
                <a:latin typeface="Calibri" pitchFamily="34" charset="0"/>
                <a:ea typeface="Calibri" pitchFamily="34" charset="-122"/>
                <a:cs typeface="Calibri" pitchFamily="34" charset="-120"/>
              </a:rPr>
              <a:t>+18.40% over 6 months</a:t>
            </a:r>
            <a:endParaRPr lang="en-US" sz="850" dirty="0"/>
          </a:p>
        </p:txBody>
      </p:sp>
      <p:sp>
        <p:nvSpPr>
          <p:cNvPr id="26" name="Text 24"/>
          <p:cNvSpPr/>
          <p:nvPr/>
        </p:nvSpPr>
        <p:spPr>
          <a:xfrm>
            <a:off x="4352544" y="2450592"/>
            <a:ext cx="4663440" cy="182880"/>
          </a:xfrm>
          <a:prstGeom prst="rect">
            <a:avLst/>
          </a:prstGeom>
          <a:noFill/>
          <a:ln/>
        </p:spPr>
        <p:txBody>
          <a:bodyPr wrap="square" lIns="0" tIns="0" rIns="0" bIns="0" rtlCol="0" anchor="ctr"/>
          <a:lstStyle/>
          <a:p>
            <a:pPr indent="0" marL="0">
              <a:buNone/>
            </a:pPr>
            <a:r>
              <a:rPr lang="en-US" sz="850" b="1" spc="200" kern="0" dirty="0">
                <a:solidFill>
                  <a:srgbClr val="B5922E"/>
                </a:solidFill>
                <a:latin typeface="Calibri" pitchFamily="34" charset="0"/>
                <a:ea typeface="Calibri" pitchFamily="34" charset="-122"/>
                <a:cs typeface="Calibri" pitchFamily="34" charset="-120"/>
              </a:rPr>
              <a:t>COMFORT ZONE TEST RESULTS</a:t>
            </a:r>
            <a:endParaRPr lang="en-US" sz="8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352544" y="2670048"/>
          <a:ext cx="4663440" cy="2176272"/>
        </p:xfrm>
        <a:graphic>
          <a:graphicData uri="http://schemas.openxmlformats.org/drawingml/2006/table">
            <a:tbl>
              <a:tblPr/>
              <a:tblGrid>
                <a:gridCol w="731520"/>
                <a:gridCol w="1828800"/>
                <a:gridCol w="2103120"/>
              </a:tblGrid>
              <a:tr h="362712">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Test</a:t>
                      </a:r>
                      <a:endParaRPr lang="en-US" sz="9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0D1B2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Risk Option</a:t>
                      </a:r>
                      <a:endParaRPr lang="en-US" sz="9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0D1B2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Choice</a:t>
                      </a:r>
                      <a:endParaRPr lang="en-US" sz="9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0D1B2A"/>
                    </a:solidFill>
                  </a:tcPr>
                </a:tc>
              </a:tr>
              <a:tr h="362712">
                <a:tc>
                  <a:txBody>
                    <a:bodyPr/>
                    <a:lstStyle/>
                    <a:p>
                      <a:pPr indent="0" marL="0">
                        <a:buNone/>
                      </a:pPr>
                      <a:r>
                        <a:rPr lang="en-US" sz="900" dirty="0">
                          <a:solidFill>
                            <a:srgbClr val="4A5568"/>
                          </a:solidFill>
                          <a:latin typeface="Calibri" pitchFamily="34" charset="0"/>
                          <a:ea typeface="Calibri" pitchFamily="34" charset="-122"/>
                          <a:cs typeface="Calibri" pitchFamily="34" charset="-120"/>
                        </a:rPr>
                        <a:t>Test 1</a:t>
                      </a:r>
                      <a:endParaRPr lang="en-US" sz="9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900" dirty="0">
                          <a:solidFill>
                            <a:srgbClr val="4A5568"/>
                          </a:solidFill>
                          <a:latin typeface="Calibri" pitchFamily="34" charset="0"/>
                          <a:ea typeface="Calibri" pitchFamily="34" charset="-122"/>
                          <a:cs typeface="Calibri" pitchFamily="34" charset="-120"/>
                        </a:rPr>
                        <a:t>-8.50% / +12.80%</a:t>
                      </a:r>
                      <a:endParaRPr lang="en-US" sz="9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900" dirty="0">
                          <a:solidFill>
                            <a:srgbClr val="4A5568"/>
                          </a:solidFill>
                          <a:latin typeface="Calibri" pitchFamily="34" charset="0"/>
                          <a:ea typeface="Calibri" pitchFamily="34" charset="-122"/>
                          <a:cs typeface="Calibri" pitchFamily="34" charset="-120"/>
                        </a:rPr>
                        <a:t>Accepted Risk</a:t>
                      </a:r>
                      <a:endParaRPr lang="en-US" sz="9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r>
              <a:tr h="362712">
                <a:tc>
                  <a:txBody>
                    <a:bodyPr/>
                    <a:lstStyle/>
                    <a:p>
                      <a:pPr indent="0" marL="0">
                        <a:buNone/>
                      </a:pPr>
                      <a:r>
                        <a:rPr lang="en-US" sz="900" dirty="0">
                          <a:solidFill>
                            <a:srgbClr val="4A5568"/>
                          </a:solidFill>
                          <a:latin typeface="Calibri" pitchFamily="34" charset="0"/>
                          <a:ea typeface="Calibri" pitchFamily="34" charset="-122"/>
                          <a:cs typeface="Calibri" pitchFamily="34" charset="-120"/>
                        </a:rPr>
                        <a:t>Test 2</a:t>
                      </a:r>
                      <a:endParaRPr lang="en-US" sz="9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900" dirty="0">
                          <a:solidFill>
                            <a:srgbClr val="4A5568"/>
                          </a:solidFill>
                          <a:latin typeface="Calibri" pitchFamily="34" charset="0"/>
                          <a:ea typeface="Calibri" pitchFamily="34" charset="-122"/>
                          <a:cs typeface="Calibri" pitchFamily="34" charset="-120"/>
                        </a:rPr>
                        <a:t>-10.25% / +15.60%</a:t>
                      </a:r>
                      <a:endParaRPr lang="en-US" sz="9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900" dirty="0">
                          <a:solidFill>
                            <a:srgbClr val="4A5568"/>
                          </a:solidFill>
                          <a:latin typeface="Calibri" pitchFamily="34" charset="0"/>
                          <a:ea typeface="Calibri" pitchFamily="34" charset="-122"/>
                          <a:cs typeface="Calibri" pitchFamily="34" charset="-120"/>
                        </a:rPr>
                        <a:t>Accepted Risk</a:t>
                      </a:r>
                      <a:endParaRPr lang="en-US" sz="9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r>
              <a:tr h="362712">
                <a:tc>
                  <a:txBody>
                    <a:bodyPr/>
                    <a:lstStyle/>
                    <a:p>
                      <a:pPr indent="0" marL="0">
                        <a:buNone/>
                      </a:pPr>
                      <a:r>
                        <a:rPr lang="en-US" sz="900" dirty="0">
                          <a:solidFill>
                            <a:srgbClr val="4A5568"/>
                          </a:solidFill>
                          <a:latin typeface="Calibri" pitchFamily="34" charset="0"/>
                          <a:ea typeface="Calibri" pitchFamily="34" charset="-122"/>
                          <a:cs typeface="Calibri" pitchFamily="34" charset="-120"/>
                        </a:rPr>
                        <a:t>Test 3</a:t>
                      </a:r>
                      <a:endParaRPr lang="en-US" sz="9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900" dirty="0">
                          <a:solidFill>
                            <a:srgbClr val="4A5568"/>
                          </a:solidFill>
                          <a:latin typeface="Calibri" pitchFamily="34" charset="0"/>
                          <a:ea typeface="Calibri" pitchFamily="34" charset="-122"/>
                          <a:cs typeface="Calibri" pitchFamily="34" charset="-120"/>
                        </a:rPr>
                        <a:t>-12.25% / +18.40%</a:t>
                      </a:r>
                      <a:endParaRPr lang="en-US" sz="9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900" dirty="0">
                          <a:solidFill>
                            <a:srgbClr val="4A5568"/>
                          </a:solidFill>
                          <a:latin typeface="Calibri" pitchFamily="34" charset="0"/>
                          <a:ea typeface="Calibri" pitchFamily="34" charset="-122"/>
                          <a:cs typeface="Calibri" pitchFamily="34" charset="-120"/>
                        </a:rPr>
                        <a:t>Accepted Risk</a:t>
                      </a:r>
                      <a:endParaRPr lang="en-US" sz="9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r>
              <a:tr h="362712">
                <a:tc>
                  <a:txBody>
                    <a:bodyPr/>
                    <a:lstStyle/>
                    <a:p>
                      <a:pPr indent="0" marL="0">
                        <a:buNone/>
                      </a:pPr>
                      <a:r>
                        <a:rPr lang="en-US" sz="900" dirty="0">
                          <a:solidFill>
                            <a:srgbClr val="4A5568"/>
                          </a:solidFill>
                          <a:latin typeface="Calibri" pitchFamily="34" charset="0"/>
                          <a:ea typeface="Calibri" pitchFamily="34" charset="-122"/>
                          <a:cs typeface="Calibri" pitchFamily="34" charset="-120"/>
                        </a:rPr>
                        <a:t>Test 4</a:t>
                      </a:r>
                      <a:endParaRPr lang="en-US" sz="9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900" dirty="0">
                          <a:solidFill>
                            <a:srgbClr val="4A5568"/>
                          </a:solidFill>
                          <a:latin typeface="Calibri" pitchFamily="34" charset="0"/>
                          <a:ea typeface="Calibri" pitchFamily="34" charset="-122"/>
                          <a:cs typeface="Calibri" pitchFamily="34" charset="-120"/>
                        </a:rPr>
                        <a:t>-15.50% / +22.00%</a:t>
                      </a:r>
                      <a:endParaRPr lang="en-US" sz="9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900" dirty="0">
                          <a:solidFill>
                            <a:srgbClr val="4A5568"/>
                          </a:solidFill>
                          <a:latin typeface="Calibri" pitchFamily="34" charset="0"/>
                          <a:ea typeface="Calibri" pitchFamily="34" charset="-122"/>
                          <a:cs typeface="Calibri" pitchFamily="34" charset="-120"/>
                        </a:rPr>
                        <a:t>Chose Certainty (+8.00%)</a:t>
                      </a:r>
                      <a:endParaRPr lang="en-US" sz="9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r>
              <a:tr h="362712">
                <a:tc>
                  <a:txBody>
                    <a:bodyPr/>
                    <a:lstStyle/>
                    <a:p>
                      <a:pPr indent="0" marL="0">
                        <a:buNone/>
                      </a:pPr>
                      <a:r>
                        <a:rPr lang="en-US" sz="900" dirty="0">
                          <a:solidFill>
                            <a:srgbClr val="4A5568"/>
                          </a:solidFill>
                          <a:latin typeface="Calibri" pitchFamily="34" charset="0"/>
                          <a:ea typeface="Calibri" pitchFamily="34" charset="-122"/>
                          <a:cs typeface="Calibri" pitchFamily="34" charset="-120"/>
                        </a:rPr>
                        <a:t>Test 5</a:t>
                      </a:r>
                      <a:endParaRPr lang="en-US" sz="9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900" dirty="0">
                          <a:solidFill>
                            <a:srgbClr val="4A5568"/>
                          </a:solidFill>
                          <a:latin typeface="Calibri" pitchFamily="34" charset="0"/>
                          <a:ea typeface="Calibri" pitchFamily="34" charset="-122"/>
                          <a:cs typeface="Calibri" pitchFamily="34" charset="-120"/>
                        </a:rPr>
                        <a:t>-12.25% / +18.40%</a:t>
                      </a:r>
                      <a:endParaRPr lang="en-US" sz="9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900" dirty="0">
                          <a:solidFill>
                            <a:srgbClr val="4A5568"/>
                          </a:solidFill>
                          <a:latin typeface="Calibri" pitchFamily="34" charset="0"/>
                          <a:ea typeface="Calibri" pitchFamily="34" charset="-122"/>
                          <a:cs typeface="Calibri" pitchFamily="34" charset="-120"/>
                        </a:rPr>
                        <a:t>Accepted Risk</a:t>
                      </a:r>
                      <a:endParaRPr lang="en-US" sz="9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r>
            </a:tbl>
          </a:graphicData>
        </a:graphic>
      </p:graphicFrame>
      <p:sp>
        <p:nvSpPr>
          <p:cNvPr id="28" name="Shape 25"/>
          <p:cNvSpPr/>
          <p:nvPr/>
        </p:nvSpPr>
        <p:spPr>
          <a:xfrm>
            <a:off x="256032" y="3602736"/>
            <a:ext cx="3840480" cy="1261872"/>
          </a:xfrm>
          <a:prstGeom prst="rect">
            <a:avLst/>
          </a:prstGeom>
          <a:solidFill>
            <a:srgbClr val="F5F0E6"/>
          </a:solidFill>
          <a:ln w="9525">
            <a:solidFill>
              <a:srgbClr val="B5922E"/>
            </a:solidFill>
            <a:prstDash val="solid"/>
          </a:ln>
        </p:spPr>
      </p:sp>
      <p:sp>
        <p:nvSpPr>
          <p:cNvPr id="29" name="Shape 26"/>
          <p:cNvSpPr/>
          <p:nvPr/>
        </p:nvSpPr>
        <p:spPr>
          <a:xfrm>
            <a:off x="256032" y="3602736"/>
            <a:ext cx="54864" cy="1261872"/>
          </a:xfrm>
          <a:prstGeom prst="rect">
            <a:avLst/>
          </a:prstGeom>
          <a:solidFill>
            <a:srgbClr val="B5922E"/>
          </a:solidFill>
          <a:ln w="12700">
            <a:solidFill>
              <a:srgbClr val="B5922E"/>
            </a:solidFill>
            <a:prstDash val="solid"/>
          </a:ln>
        </p:spPr>
      </p:sp>
      <p:sp>
        <p:nvSpPr>
          <p:cNvPr id="30" name="Text 27"/>
          <p:cNvSpPr/>
          <p:nvPr/>
        </p:nvSpPr>
        <p:spPr>
          <a:xfrm>
            <a:off x="420624" y="3712464"/>
            <a:ext cx="3566160" cy="1060704"/>
          </a:xfrm>
          <a:prstGeom prst="rect">
            <a:avLst/>
          </a:prstGeom>
          <a:noFill/>
          <a:ln/>
        </p:spPr>
        <p:txBody>
          <a:bodyPr wrap="square" lIns="0" tIns="0" rIns="0" bIns="0" rtlCol="0" anchor="ctr"/>
          <a:lstStyle/>
          <a:p>
            <a:pPr indent="0" marL="0">
              <a:buNone/>
            </a:pPr>
            <a:r>
              <a:rPr lang="en-US" sz="1000" dirty="0">
                <a:solidFill>
                  <a:srgbClr val="5C3E00"/>
                </a:solidFill>
                <a:latin typeface="Calibri" pitchFamily="34" charset="0"/>
                <a:ea typeface="Calibri" pitchFamily="34" charset="-122"/>
                <a:cs typeface="Calibri" pitchFamily="34" charset="-120"/>
              </a:rPr>
              <a:t>Advisor Interpretation: The household accepted risk in four of five comfort zone evaluations, confirming a moderate-to-high volatility tolerance when aligned with a defensible long-term thesis. The prevailing portfolio risk is structural rather than intentional, arising from single-issuer concentration rather than deliberate construction. The recommended approach is systematic, tax-disciplined diversification rather than abrupt liquidation.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B5922E"/>
          </a:solidFill>
          <a:ln w="12700">
            <a:solidFill>
              <a:srgbClr val="B5922E"/>
            </a:solidFill>
            <a:prstDash val="solid"/>
          </a:ln>
        </p:spPr>
      </p:sp>
      <p:sp>
        <p:nvSpPr>
          <p:cNvPr id="3" name="Text 1"/>
          <p:cNvSpPr/>
          <p:nvPr/>
        </p:nvSpPr>
        <p:spPr>
          <a:xfrm>
            <a:off x="411480" y="1371600"/>
            <a:ext cx="2743200" cy="1097280"/>
          </a:xfrm>
          <a:prstGeom prst="rect">
            <a:avLst/>
          </a:prstGeom>
          <a:noFill/>
          <a:ln/>
        </p:spPr>
        <p:txBody>
          <a:bodyPr wrap="square" lIns="0" tIns="0" rIns="0" bIns="0" rtlCol="0" anchor="ctr"/>
          <a:lstStyle/>
          <a:p>
            <a:pPr indent="0" marL="0">
              <a:buNone/>
            </a:pPr>
            <a:r>
              <a:rPr lang="en-US" sz="9600" b="1" dirty="0">
                <a:solidFill>
                  <a:srgbClr val="1E3347"/>
                </a:solidFill>
                <a:latin typeface="Garamond" pitchFamily="34" charset="0"/>
                <a:ea typeface="Garamond" pitchFamily="34" charset="-122"/>
                <a:cs typeface="Garamond" pitchFamily="34" charset="-120"/>
              </a:rPr>
              <a:t>03</a:t>
            </a:r>
            <a:endParaRPr lang="en-US" sz="9600" dirty="0"/>
          </a:p>
        </p:txBody>
      </p:sp>
      <p:sp>
        <p:nvSpPr>
          <p:cNvPr id="4" name="Text 2"/>
          <p:cNvSpPr/>
          <p:nvPr/>
        </p:nvSpPr>
        <p:spPr>
          <a:xfrm>
            <a:off x="411480" y="1234440"/>
            <a:ext cx="7315200" cy="201168"/>
          </a:xfrm>
          <a:prstGeom prst="rect">
            <a:avLst/>
          </a:prstGeom>
          <a:noFill/>
          <a:ln/>
        </p:spPr>
        <p:txBody>
          <a:bodyPr wrap="square" lIns="0" tIns="0" rIns="0" bIns="0" rtlCol="0" anchor="ctr"/>
          <a:lstStyle/>
          <a:p>
            <a:pPr indent="0" marL="0">
              <a:buNone/>
            </a:pPr>
            <a:r>
              <a:rPr lang="en-US" sz="900" b="1" spc="300" kern="0" dirty="0">
                <a:solidFill>
                  <a:srgbClr val="B5922E"/>
                </a:solidFill>
                <a:latin typeface="Calibri" pitchFamily="34" charset="0"/>
                <a:ea typeface="Calibri" pitchFamily="34" charset="-122"/>
                <a:cs typeface="Calibri" pitchFamily="34" charset="-120"/>
              </a:rPr>
              <a:t>SECTION</a:t>
            </a:r>
            <a:endParaRPr lang="en-US" sz="900" dirty="0"/>
          </a:p>
        </p:txBody>
      </p:sp>
      <p:sp>
        <p:nvSpPr>
          <p:cNvPr id="5" name="Text 3"/>
          <p:cNvSpPr/>
          <p:nvPr/>
        </p:nvSpPr>
        <p:spPr>
          <a:xfrm>
            <a:off x="411480" y="2395728"/>
            <a:ext cx="6400800" cy="502920"/>
          </a:xfrm>
          <a:prstGeom prst="rect">
            <a:avLst/>
          </a:prstGeom>
          <a:noFill/>
          <a:ln/>
        </p:spPr>
        <p:txBody>
          <a:bodyPr wrap="square" lIns="0" tIns="0" rIns="0" bIns="0" rtlCol="0" anchor="ctr"/>
          <a:lstStyle/>
          <a:p>
            <a:pPr indent="0" marL="0">
              <a:buNone/>
            </a:pPr>
            <a:r>
              <a:rPr lang="en-US" sz="3600" b="1" dirty="0">
                <a:solidFill>
                  <a:srgbClr val="FFFFFF"/>
                </a:solidFill>
                <a:latin typeface="Garamond" pitchFamily="34" charset="0"/>
                <a:ea typeface="Garamond" pitchFamily="34" charset="-122"/>
                <a:cs typeface="Garamond" pitchFamily="34" charset="-120"/>
              </a:rPr>
              <a:t>Current Holdings</a:t>
            </a:r>
            <a:endParaRPr lang="en-US" sz="3600" dirty="0"/>
          </a:p>
        </p:txBody>
      </p:sp>
      <p:sp>
        <p:nvSpPr>
          <p:cNvPr id="6" name="Text 4"/>
          <p:cNvSpPr/>
          <p:nvPr/>
        </p:nvSpPr>
        <p:spPr>
          <a:xfrm>
            <a:off x="411480" y="3364992"/>
            <a:ext cx="6400800" cy="365760"/>
          </a:xfrm>
          <a:prstGeom prst="rect">
            <a:avLst/>
          </a:prstGeom>
          <a:noFill/>
          <a:ln/>
        </p:spPr>
        <p:txBody>
          <a:bodyPr wrap="square" lIns="0" tIns="0" rIns="0" bIns="0" rtlCol="0" anchor="ctr"/>
          <a:lstStyle/>
          <a:p>
            <a:pPr indent="0" marL="0">
              <a:buNone/>
            </a:pPr>
            <a:r>
              <a:rPr lang="en-US" sz="1300" dirty="0">
                <a:solidFill>
                  <a:srgbClr val="A0B4C8"/>
                </a:solidFill>
                <a:latin typeface="Calibri" pitchFamily="34" charset="0"/>
                <a:ea typeface="Calibri" pitchFamily="34" charset="-122"/>
                <a:cs typeface="Calibri" pitchFamily="34" charset="-120"/>
              </a:rPr>
              <a:t>Account composition · Asset allocation summary · Single-issuer concentration analysis.</a:t>
            </a:r>
            <a:endParaRPr lang="en-US" sz="1300" dirty="0"/>
          </a:p>
        </p:txBody>
      </p:sp>
      <p:pic>
        <p:nvPicPr>
          <p:cNvPr id="7" name="Image 0" descr="preencoded.png">    </p:cNvPr>
          <p:cNvPicPr>
            <a:picLocks noChangeAspect="1"/>
          </p:cNvPicPr>
          <p:nvPr/>
        </p:nvPicPr>
        <p:blipFill>
          <a:blip r:embed="rId1">
            <a:alphaModFix amt="30000"/>
          </a:blip>
          <a:stretch>
            <a:fillRect/>
          </a:stretch>
        </p:blipFill>
        <p:spPr>
          <a:xfrm>
            <a:off x="7132320" y="1645920"/>
            <a:ext cx="1371600" cy="1371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1B2A"/>
          </a:solidFill>
          <a:ln w="12700">
            <a:solidFill>
              <a:srgbClr val="0D1B2A"/>
            </a:solidFill>
            <a:prstDash val="solid"/>
          </a:ln>
        </p:spPr>
      </p:sp>
      <p:sp>
        <p:nvSpPr>
          <p:cNvPr id="3" name="Text 1"/>
          <p:cNvSpPr/>
          <p:nvPr/>
        </p:nvSpPr>
        <p:spPr>
          <a:xfrm>
            <a:off x="256032" y="274320"/>
            <a:ext cx="7315200" cy="201168"/>
          </a:xfrm>
          <a:prstGeom prst="rect">
            <a:avLst/>
          </a:prstGeom>
          <a:noFill/>
          <a:ln/>
        </p:spPr>
        <p:txBody>
          <a:bodyPr wrap="square" lIns="0" tIns="0" rIns="0" bIns="0" rtlCol="0" anchor="ctr"/>
          <a:lstStyle/>
          <a:p>
            <a:pPr indent="0" marL="0">
              <a:buNone/>
            </a:pPr>
            <a:r>
              <a:rPr lang="en-US" sz="900" b="1" spc="300" kern="0" dirty="0">
                <a:solidFill>
                  <a:srgbClr val="B5922E"/>
                </a:solidFill>
                <a:latin typeface="Calibri" pitchFamily="34" charset="0"/>
                <a:ea typeface="Calibri" pitchFamily="34" charset="-122"/>
                <a:cs typeface="Calibri" pitchFamily="34" charset="-120"/>
              </a:rPr>
              <a:t>SECTION 03 · CURRENT HOLDINGS</a:t>
            </a:r>
            <a:endParaRPr lang="en-US" sz="900" dirty="0"/>
          </a:p>
        </p:txBody>
      </p:sp>
      <p:sp>
        <p:nvSpPr>
          <p:cNvPr id="4" name="Text 2"/>
          <p:cNvSpPr/>
          <p:nvPr/>
        </p:nvSpPr>
        <p:spPr>
          <a:xfrm>
            <a:off x="256032" y="493776"/>
            <a:ext cx="8686800" cy="502920"/>
          </a:xfrm>
          <a:prstGeom prst="rect">
            <a:avLst/>
          </a:prstGeom>
          <a:noFill/>
          <a:ln/>
        </p:spPr>
        <p:txBody>
          <a:bodyPr wrap="square" lIns="0" tIns="0" rIns="0" bIns="0" rtlCol="0" anchor="ctr"/>
          <a:lstStyle/>
          <a:p>
            <a:pPr indent="0" marL="0">
              <a:buNone/>
            </a:pPr>
            <a:r>
              <a:rPr lang="en-US" sz="2400" b="1" dirty="0">
                <a:solidFill>
                  <a:srgbClr val="0D1B2A"/>
                </a:solidFill>
                <a:latin typeface="Garamond" pitchFamily="34" charset="0"/>
                <a:ea typeface="Garamond" pitchFamily="34" charset="-122"/>
                <a:cs typeface="Garamond" pitchFamily="34" charset="-120"/>
              </a:rPr>
              <a:t>Portfolio Composition — $72M Managed</a:t>
            </a:r>
            <a:endParaRPr lang="en-US" sz="2400" dirty="0"/>
          </a:p>
        </p:txBody>
      </p:sp>
      <p:graphicFrame>
        <p:nvGraphicFramePr>
          <p:cNvPr id="5" name="Chart 0" descr=""/>
          <p:cNvGraphicFramePr/>
          <p:nvPr/>
        </p:nvGraphicFramePr>
        <p:xfrm>
          <a:off x="256032" y="1024128"/>
          <a:ext cx="4023360" cy="34747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4480560" y="1024128"/>
            <a:ext cx="4480560" cy="749808"/>
          </a:xfrm>
          <a:prstGeom prst="rect">
            <a:avLst/>
          </a:prstGeom>
          <a:solidFill>
            <a:srgbClr val="FDF4F3"/>
          </a:solidFill>
          <a:ln w="9525">
            <a:solidFill>
              <a:srgbClr val="F4C5C0"/>
            </a:solidFill>
            <a:prstDash val="solid"/>
          </a:ln>
        </p:spPr>
      </p:sp>
      <p:sp>
        <p:nvSpPr>
          <p:cNvPr id="7" name="Shape 4"/>
          <p:cNvSpPr/>
          <p:nvPr/>
        </p:nvSpPr>
        <p:spPr>
          <a:xfrm>
            <a:off x="4480560" y="1024128"/>
            <a:ext cx="54864" cy="749808"/>
          </a:xfrm>
          <a:prstGeom prst="rect">
            <a:avLst/>
          </a:prstGeom>
          <a:solidFill>
            <a:srgbClr val="C0392B"/>
          </a:solidFill>
          <a:ln w="12700">
            <a:solidFill>
              <a:srgbClr val="C0392B"/>
            </a:solidFill>
            <a:prstDash val="solid"/>
          </a:ln>
        </p:spPr>
      </p:sp>
      <p:pic>
        <p:nvPicPr>
          <p:cNvPr id="8" name="Image 0" descr="preencoded.png">    </p:cNvPr>
          <p:cNvPicPr>
            <a:picLocks noChangeAspect="1"/>
          </p:cNvPicPr>
          <p:nvPr/>
        </p:nvPicPr>
        <p:blipFill>
          <a:blip r:embed="rId2"/>
          <a:stretch>
            <a:fillRect/>
          </a:stretch>
        </p:blipFill>
        <p:spPr>
          <a:xfrm>
            <a:off x="4608576" y="1097280"/>
            <a:ext cx="320040" cy="320040"/>
          </a:xfrm>
          <a:prstGeom prst="rect">
            <a:avLst/>
          </a:prstGeom>
        </p:spPr>
      </p:pic>
      <p:sp>
        <p:nvSpPr>
          <p:cNvPr id="9" name="Text 5"/>
          <p:cNvSpPr/>
          <p:nvPr/>
        </p:nvSpPr>
        <p:spPr>
          <a:xfrm>
            <a:off x="4974336" y="1097280"/>
            <a:ext cx="3840480" cy="566928"/>
          </a:xfrm>
          <a:prstGeom prst="rect">
            <a:avLst/>
          </a:prstGeom>
          <a:noFill/>
          <a:ln/>
        </p:spPr>
        <p:txBody>
          <a:bodyPr wrap="square" lIns="0" tIns="0" rIns="0" bIns="0" rtlCol="0" anchor="ctr"/>
          <a:lstStyle/>
          <a:p>
            <a:pPr indent="0" marL="0">
              <a:buNone/>
            </a:pPr>
            <a:r>
              <a:rPr lang="en-US" sz="1000" dirty="0">
                <a:solidFill>
                  <a:srgbClr val="7B2D26"/>
                </a:solidFill>
                <a:latin typeface="Calibri" pitchFamily="34" charset="0"/>
                <a:ea typeface="Calibri" pitchFamily="34" charset="-122"/>
                <a:cs typeface="Calibri" pitchFamily="34" charset="-120"/>
              </a:rPr>
              <a:t>NVDA concentration at 64.6% of managed assets exceeds any prudent single-stock limit. This is the primary planning issue.</a:t>
            </a:r>
            <a:endParaRPr lang="en-US" sz="1000" dirty="0"/>
          </a:p>
        </p:txBody>
      </p:sp>
      <p:sp>
        <p:nvSpPr>
          <p:cNvPr id="10" name="Shape 6"/>
          <p:cNvSpPr/>
          <p:nvPr/>
        </p:nvSpPr>
        <p:spPr>
          <a:xfrm>
            <a:off x="4480560" y="1938528"/>
            <a:ext cx="4480560" cy="640080"/>
          </a:xfrm>
          <a:prstGeom prst="rect">
            <a:avLst/>
          </a:prstGeom>
          <a:solidFill>
            <a:srgbClr val="FFFFFF"/>
          </a:solidFill>
          <a:ln w="9525">
            <a:solidFill>
              <a:srgbClr val="DEDEDE"/>
            </a:solidFill>
            <a:prstDash val="solid"/>
          </a:ln>
        </p:spPr>
      </p:sp>
      <p:sp>
        <p:nvSpPr>
          <p:cNvPr id="11" name="Text 7"/>
          <p:cNvSpPr/>
          <p:nvPr/>
        </p:nvSpPr>
        <p:spPr>
          <a:xfrm>
            <a:off x="4645152" y="2011680"/>
            <a:ext cx="2926080" cy="201168"/>
          </a:xfrm>
          <a:prstGeom prst="rect">
            <a:avLst/>
          </a:prstGeom>
          <a:noFill/>
          <a:ln/>
        </p:spPr>
        <p:txBody>
          <a:bodyPr wrap="square" lIns="0" tIns="0" rIns="0" bIns="0"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0007A · Taxable Brokerage</a:t>
            </a:r>
            <a:endParaRPr lang="en-US" sz="1000" dirty="0"/>
          </a:p>
        </p:txBody>
      </p:sp>
      <p:sp>
        <p:nvSpPr>
          <p:cNvPr id="12" name="Text 8"/>
          <p:cNvSpPr/>
          <p:nvPr/>
        </p:nvSpPr>
        <p:spPr>
          <a:xfrm>
            <a:off x="4645152" y="2231136"/>
            <a:ext cx="2926080" cy="182880"/>
          </a:xfrm>
          <a:prstGeom prst="rect">
            <a:avLst/>
          </a:prstGeom>
          <a:noFill/>
          <a:ln/>
        </p:spPr>
        <p:txBody>
          <a:bodyPr wrap="square" lIns="0" tIns="0" rIns="0" bIns="0" rtlCol="0" anchor="ctr"/>
          <a:lstStyle/>
          <a:p>
            <a:pPr indent="0" marL="0">
              <a:buNone/>
            </a:pPr>
            <a:r>
              <a:rPr lang="en-US" sz="900" dirty="0">
                <a:solidFill>
                  <a:srgbClr val="718096"/>
                </a:solidFill>
                <a:latin typeface="Calibri" pitchFamily="34" charset="0"/>
                <a:ea typeface="Calibri" pitchFamily="34" charset="-122"/>
                <a:cs typeface="Calibri" pitchFamily="34" charset="-120"/>
              </a:rPr>
              <a:t>NVDA + diversified equities + munis</a:t>
            </a:r>
            <a:endParaRPr lang="en-US" sz="900" dirty="0"/>
          </a:p>
        </p:txBody>
      </p:sp>
      <p:sp>
        <p:nvSpPr>
          <p:cNvPr id="13" name="Text 9"/>
          <p:cNvSpPr/>
          <p:nvPr/>
        </p:nvSpPr>
        <p:spPr>
          <a:xfrm>
            <a:off x="7388352" y="2048256"/>
            <a:ext cx="1444752" cy="274320"/>
          </a:xfrm>
          <a:prstGeom prst="rect">
            <a:avLst/>
          </a:prstGeom>
          <a:noFill/>
          <a:ln/>
        </p:spPr>
        <p:txBody>
          <a:bodyPr wrap="square" lIns="0" tIns="0" rIns="0" bIns="0" rtlCol="0" anchor="ctr"/>
          <a:lstStyle/>
          <a:p>
            <a:pPr algn="r" indent="0" marL="0">
              <a:buNone/>
            </a:pPr>
            <a:r>
              <a:rPr lang="en-US" sz="1300" b="1" dirty="0">
                <a:solidFill>
                  <a:srgbClr val="0D1B2A"/>
                </a:solidFill>
                <a:latin typeface="Garamond" pitchFamily="34" charset="0"/>
                <a:ea typeface="Garamond" pitchFamily="34" charset="-122"/>
                <a:cs typeface="Garamond" pitchFamily="34" charset="-120"/>
              </a:rPr>
              <a:t>$61,925,000</a:t>
            </a:r>
            <a:endParaRPr lang="en-US" sz="1300" dirty="0"/>
          </a:p>
        </p:txBody>
      </p:sp>
      <p:sp>
        <p:nvSpPr>
          <p:cNvPr id="14" name="Shape 10"/>
          <p:cNvSpPr/>
          <p:nvPr/>
        </p:nvSpPr>
        <p:spPr>
          <a:xfrm>
            <a:off x="4480560" y="2688336"/>
            <a:ext cx="4480560" cy="640080"/>
          </a:xfrm>
          <a:prstGeom prst="rect">
            <a:avLst/>
          </a:prstGeom>
          <a:solidFill>
            <a:srgbClr val="FFFFFF"/>
          </a:solidFill>
          <a:ln w="9525">
            <a:solidFill>
              <a:srgbClr val="DEDEDE"/>
            </a:solidFill>
            <a:prstDash val="solid"/>
          </a:ln>
        </p:spPr>
      </p:sp>
      <p:sp>
        <p:nvSpPr>
          <p:cNvPr id="15" name="Text 11"/>
          <p:cNvSpPr/>
          <p:nvPr/>
        </p:nvSpPr>
        <p:spPr>
          <a:xfrm>
            <a:off x="4645152" y="2761488"/>
            <a:ext cx="2926080" cy="201168"/>
          </a:xfrm>
          <a:prstGeom prst="rect">
            <a:avLst/>
          </a:prstGeom>
          <a:noFill/>
          <a:ln/>
        </p:spPr>
        <p:txBody>
          <a:bodyPr wrap="square" lIns="0" tIns="0" rIns="0" bIns="0"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0007B · Revocable Trust</a:t>
            </a:r>
            <a:endParaRPr lang="en-US" sz="1000" dirty="0"/>
          </a:p>
        </p:txBody>
      </p:sp>
      <p:sp>
        <p:nvSpPr>
          <p:cNvPr id="16" name="Text 12"/>
          <p:cNvSpPr/>
          <p:nvPr/>
        </p:nvSpPr>
        <p:spPr>
          <a:xfrm>
            <a:off x="4645152" y="2980944"/>
            <a:ext cx="2926080" cy="182880"/>
          </a:xfrm>
          <a:prstGeom prst="rect">
            <a:avLst/>
          </a:prstGeom>
          <a:noFill/>
          <a:ln/>
        </p:spPr>
        <p:txBody>
          <a:bodyPr wrap="square" lIns="0" tIns="0" rIns="0" bIns="0" rtlCol="0" anchor="ctr"/>
          <a:lstStyle/>
          <a:p>
            <a:pPr indent="0" marL="0">
              <a:buNone/>
            </a:pPr>
            <a:r>
              <a:rPr lang="en-US" sz="900" dirty="0">
                <a:solidFill>
                  <a:srgbClr val="718096"/>
                </a:solidFill>
                <a:latin typeface="Calibri" pitchFamily="34" charset="0"/>
                <a:ea typeface="Calibri" pitchFamily="34" charset="-122"/>
                <a:cs typeface="Calibri" pitchFamily="34" charset="-120"/>
              </a:rPr>
              <a:t>Diversified equities + CA munis</a:t>
            </a:r>
            <a:endParaRPr lang="en-US" sz="900" dirty="0"/>
          </a:p>
        </p:txBody>
      </p:sp>
      <p:sp>
        <p:nvSpPr>
          <p:cNvPr id="17" name="Text 13"/>
          <p:cNvSpPr/>
          <p:nvPr/>
        </p:nvSpPr>
        <p:spPr>
          <a:xfrm>
            <a:off x="7388352" y="2798064"/>
            <a:ext cx="1444752" cy="274320"/>
          </a:xfrm>
          <a:prstGeom prst="rect">
            <a:avLst/>
          </a:prstGeom>
          <a:noFill/>
          <a:ln/>
        </p:spPr>
        <p:txBody>
          <a:bodyPr wrap="square" lIns="0" tIns="0" rIns="0" bIns="0" rtlCol="0" anchor="ctr"/>
          <a:lstStyle/>
          <a:p>
            <a:pPr algn="r" indent="0" marL="0">
              <a:buNone/>
            </a:pPr>
            <a:r>
              <a:rPr lang="en-US" sz="1300" b="1" dirty="0">
                <a:solidFill>
                  <a:srgbClr val="0D1B2A"/>
                </a:solidFill>
                <a:latin typeface="Garamond" pitchFamily="34" charset="0"/>
                <a:ea typeface="Garamond" pitchFamily="34" charset="-122"/>
                <a:cs typeface="Garamond" pitchFamily="34" charset="-120"/>
              </a:rPr>
              <a:t>$7,575,000</a:t>
            </a:r>
            <a:endParaRPr lang="en-US" sz="1300" dirty="0"/>
          </a:p>
        </p:txBody>
      </p:sp>
      <p:sp>
        <p:nvSpPr>
          <p:cNvPr id="18" name="Shape 14"/>
          <p:cNvSpPr/>
          <p:nvPr/>
        </p:nvSpPr>
        <p:spPr>
          <a:xfrm>
            <a:off x="4480560" y="3438144"/>
            <a:ext cx="4480560" cy="640080"/>
          </a:xfrm>
          <a:prstGeom prst="rect">
            <a:avLst/>
          </a:prstGeom>
          <a:solidFill>
            <a:srgbClr val="FFFFFF"/>
          </a:solidFill>
          <a:ln w="9525">
            <a:solidFill>
              <a:srgbClr val="DEDEDE"/>
            </a:solidFill>
            <a:prstDash val="solid"/>
          </a:ln>
        </p:spPr>
      </p:sp>
      <p:sp>
        <p:nvSpPr>
          <p:cNvPr id="19" name="Text 15"/>
          <p:cNvSpPr/>
          <p:nvPr/>
        </p:nvSpPr>
        <p:spPr>
          <a:xfrm>
            <a:off x="4645152" y="3511296"/>
            <a:ext cx="2926080" cy="201168"/>
          </a:xfrm>
          <a:prstGeom prst="rect">
            <a:avLst/>
          </a:prstGeom>
          <a:noFill/>
          <a:ln/>
        </p:spPr>
        <p:txBody>
          <a:bodyPr wrap="square" lIns="0" tIns="0" rIns="0" bIns="0"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0007C · Retirement</a:t>
            </a:r>
            <a:endParaRPr lang="en-US" sz="1000" dirty="0"/>
          </a:p>
        </p:txBody>
      </p:sp>
      <p:sp>
        <p:nvSpPr>
          <p:cNvPr id="20" name="Text 16"/>
          <p:cNvSpPr/>
          <p:nvPr/>
        </p:nvSpPr>
        <p:spPr>
          <a:xfrm>
            <a:off x="4645152" y="3730752"/>
            <a:ext cx="2926080" cy="182880"/>
          </a:xfrm>
          <a:prstGeom prst="rect">
            <a:avLst/>
          </a:prstGeom>
          <a:noFill/>
          <a:ln/>
        </p:spPr>
        <p:txBody>
          <a:bodyPr wrap="square" lIns="0" tIns="0" rIns="0" bIns="0" rtlCol="0" anchor="ctr"/>
          <a:lstStyle/>
          <a:p>
            <a:pPr indent="0" marL="0">
              <a:buNone/>
            </a:pPr>
            <a:r>
              <a:rPr lang="en-US" sz="900" dirty="0">
                <a:solidFill>
                  <a:srgbClr val="718096"/>
                </a:solidFill>
                <a:latin typeface="Calibri" pitchFamily="34" charset="0"/>
                <a:ea typeface="Calibri" pitchFamily="34" charset="-122"/>
                <a:cs typeface="Calibri" pitchFamily="34" charset="-120"/>
              </a:rPr>
              <a:t>Vanguard index funds</a:t>
            </a:r>
            <a:endParaRPr lang="en-US" sz="900" dirty="0"/>
          </a:p>
        </p:txBody>
      </p:sp>
      <p:sp>
        <p:nvSpPr>
          <p:cNvPr id="21" name="Text 17"/>
          <p:cNvSpPr/>
          <p:nvPr/>
        </p:nvSpPr>
        <p:spPr>
          <a:xfrm>
            <a:off x="7388352" y="3547872"/>
            <a:ext cx="1444752" cy="274320"/>
          </a:xfrm>
          <a:prstGeom prst="rect">
            <a:avLst/>
          </a:prstGeom>
          <a:noFill/>
          <a:ln/>
        </p:spPr>
        <p:txBody>
          <a:bodyPr wrap="square" lIns="0" tIns="0" rIns="0" bIns="0" rtlCol="0" anchor="ctr"/>
          <a:lstStyle/>
          <a:p>
            <a:pPr algn="r" indent="0" marL="0">
              <a:buNone/>
            </a:pPr>
            <a:r>
              <a:rPr lang="en-US" sz="1300" b="1" dirty="0">
                <a:solidFill>
                  <a:srgbClr val="0D1B2A"/>
                </a:solidFill>
                <a:latin typeface="Garamond" pitchFamily="34" charset="0"/>
                <a:ea typeface="Garamond" pitchFamily="34" charset="-122"/>
                <a:cs typeface="Garamond" pitchFamily="34" charset="-120"/>
              </a:rPr>
              <a:t>$3,000,000</a:t>
            </a:r>
            <a:endParaRPr lang="en-US" sz="1300" dirty="0"/>
          </a:p>
        </p:txBody>
      </p:sp>
      <p:sp>
        <p:nvSpPr>
          <p:cNvPr id="22" name="Shape 18"/>
          <p:cNvSpPr/>
          <p:nvPr/>
        </p:nvSpPr>
        <p:spPr>
          <a:xfrm>
            <a:off x="4480560" y="4187952"/>
            <a:ext cx="4480560" cy="640080"/>
          </a:xfrm>
          <a:prstGeom prst="rect">
            <a:avLst/>
          </a:prstGeom>
          <a:solidFill>
            <a:srgbClr val="FFFFFF"/>
          </a:solidFill>
          <a:ln w="9525">
            <a:solidFill>
              <a:srgbClr val="DEDEDE"/>
            </a:solidFill>
            <a:prstDash val="solid"/>
          </a:ln>
        </p:spPr>
      </p:sp>
      <p:sp>
        <p:nvSpPr>
          <p:cNvPr id="23" name="Text 19"/>
          <p:cNvSpPr/>
          <p:nvPr/>
        </p:nvSpPr>
        <p:spPr>
          <a:xfrm>
            <a:off x="4645152" y="4261104"/>
            <a:ext cx="2926080" cy="201168"/>
          </a:xfrm>
          <a:prstGeom prst="rect">
            <a:avLst/>
          </a:prstGeom>
          <a:noFill/>
          <a:ln/>
        </p:spPr>
        <p:txBody>
          <a:bodyPr wrap="square" lIns="0" tIns="0" rIns="0" bIns="0"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0007D · DAF</a:t>
            </a:r>
            <a:endParaRPr lang="en-US" sz="1000" dirty="0"/>
          </a:p>
        </p:txBody>
      </p:sp>
      <p:sp>
        <p:nvSpPr>
          <p:cNvPr id="24" name="Text 20"/>
          <p:cNvSpPr/>
          <p:nvPr/>
        </p:nvSpPr>
        <p:spPr>
          <a:xfrm>
            <a:off x="4645152" y="4480560"/>
            <a:ext cx="2926080" cy="182880"/>
          </a:xfrm>
          <a:prstGeom prst="rect">
            <a:avLst/>
          </a:prstGeom>
          <a:noFill/>
          <a:ln/>
        </p:spPr>
        <p:txBody>
          <a:bodyPr wrap="square" lIns="0" tIns="0" rIns="0" bIns="0" rtlCol="0" anchor="ctr"/>
          <a:lstStyle/>
          <a:p>
            <a:pPr indent="0" marL="0">
              <a:buNone/>
            </a:pPr>
            <a:r>
              <a:rPr lang="en-US" sz="900" dirty="0">
                <a:solidFill>
                  <a:srgbClr val="718096"/>
                </a:solidFill>
                <a:latin typeface="Calibri" pitchFamily="34" charset="0"/>
                <a:ea typeface="Calibri" pitchFamily="34" charset="-122"/>
                <a:cs typeface="Calibri" pitchFamily="34" charset="-120"/>
              </a:rPr>
              <a:t>Charitable giving assets</a:t>
            </a:r>
            <a:endParaRPr lang="en-US" sz="900" dirty="0"/>
          </a:p>
        </p:txBody>
      </p:sp>
      <p:sp>
        <p:nvSpPr>
          <p:cNvPr id="25" name="Text 21"/>
          <p:cNvSpPr/>
          <p:nvPr/>
        </p:nvSpPr>
        <p:spPr>
          <a:xfrm>
            <a:off x="7388352" y="4297680"/>
            <a:ext cx="1444752" cy="274320"/>
          </a:xfrm>
          <a:prstGeom prst="rect">
            <a:avLst/>
          </a:prstGeom>
          <a:noFill/>
          <a:ln/>
        </p:spPr>
        <p:txBody>
          <a:bodyPr wrap="square" lIns="0" tIns="0" rIns="0" bIns="0" rtlCol="0" anchor="ctr"/>
          <a:lstStyle/>
          <a:p>
            <a:pPr algn="r" indent="0" marL="0">
              <a:buNone/>
            </a:pPr>
            <a:r>
              <a:rPr lang="en-US" sz="1300" b="1" dirty="0">
                <a:solidFill>
                  <a:srgbClr val="0D1B2A"/>
                </a:solidFill>
                <a:latin typeface="Garamond" pitchFamily="34" charset="0"/>
                <a:ea typeface="Garamond" pitchFamily="34" charset="-122"/>
                <a:cs typeface="Garamond" pitchFamily="34" charset="-120"/>
              </a:rPr>
              <a:t>$1,000,000</a:t>
            </a:r>
            <a:endParaRPr lang="en-US" sz="1300" dirty="0"/>
          </a:p>
        </p:txBody>
      </p:sp>
      <p:sp>
        <p:nvSpPr>
          <p:cNvPr id="26" name="Text 22"/>
          <p:cNvSpPr/>
          <p:nvPr/>
        </p:nvSpPr>
        <p:spPr>
          <a:xfrm>
            <a:off x="4480560" y="4864608"/>
            <a:ext cx="4480560" cy="164592"/>
          </a:xfrm>
          <a:prstGeom prst="rect">
            <a:avLst/>
          </a:prstGeom>
          <a:noFill/>
          <a:ln/>
        </p:spPr>
        <p:txBody>
          <a:bodyPr wrap="square" lIns="0" tIns="0" rIns="0" bIns="0" rtlCol="0" anchor="ctr"/>
          <a:lstStyle/>
          <a:p>
            <a:pPr indent="0" marL="0">
              <a:buNone/>
            </a:pPr>
            <a:r>
              <a:rPr lang="en-US" sz="800" b="1" spc="200" kern="0" dirty="0">
                <a:solidFill>
                  <a:srgbClr val="B5922E"/>
                </a:solidFill>
                <a:latin typeface="Calibri" pitchFamily="34" charset="0"/>
                <a:ea typeface="Calibri" pitchFamily="34" charset="-122"/>
                <a:cs typeface="Calibri" pitchFamily="34" charset="-120"/>
              </a:rPr>
              <a:t>NET WORTH BREAKDOWN</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1B2A"/>
          </a:solidFill>
          <a:ln w="12700">
            <a:solidFill>
              <a:srgbClr val="0D1B2A"/>
            </a:solidFill>
            <a:prstDash val="solid"/>
          </a:ln>
        </p:spPr>
      </p:sp>
      <p:sp>
        <p:nvSpPr>
          <p:cNvPr id="3" name="Text 1"/>
          <p:cNvSpPr/>
          <p:nvPr/>
        </p:nvSpPr>
        <p:spPr>
          <a:xfrm>
            <a:off x="256032" y="274320"/>
            <a:ext cx="7315200" cy="201168"/>
          </a:xfrm>
          <a:prstGeom prst="rect">
            <a:avLst/>
          </a:prstGeom>
          <a:noFill/>
          <a:ln/>
        </p:spPr>
        <p:txBody>
          <a:bodyPr wrap="square" lIns="0" tIns="0" rIns="0" bIns="0" rtlCol="0" anchor="ctr"/>
          <a:lstStyle/>
          <a:p>
            <a:pPr indent="0" marL="0">
              <a:buNone/>
            </a:pPr>
            <a:r>
              <a:rPr lang="en-US" sz="900" b="1" spc="300" kern="0" dirty="0">
                <a:solidFill>
                  <a:srgbClr val="B5922E"/>
                </a:solidFill>
                <a:latin typeface="Calibri" pitchFamily="34" charset="0"/>
                <a:ea typeface="Calibri" pitchFamily="34" charset="-122"/>
                <a:cs typeface="Calibri" pitchFamily="34" charset="-120"/>
              </a:rPr>
              <a:t>SECTION 03 · CURRENT HOLDINGS</a:t>
            </a:r>
            <a:endParaRPr lang="en-US" sz="900" dirty="0"/>
          </a:p>
        </p:txBody>
      </p:sp>
      <p:sp>
        <p:nvSpPr>
          <p:cNvPr id="4" name="Text 2"/>
          <p:cNvSpPr/>
          <p:nvPr/>
        </p:nvSpPr>
        <p:spPr>
          <a:xfrm>
            <a:off x="256032" y="493776"/>
            <a:ext cx="8686800" cy="502920"/>
          </a:xfrm>
          <a:prstGeom prst="rect">
            <a:avLst/>
          </a:prstGeom>
          <a:noFill/>
          <a:ln/>
        </p:spPr>
        <p:txBody>
          <a:bodyPr wrap="square" lIns="0" tIns="0" rIns="0" bIns="0" rtlCol="0" anchor="ctr"/>
          <a:lstStyle/>
          <a:p>
            <a:pPr indent="0" marL="0">
              <a:buNone/>
            </a:pPr>
            <a:r>
              <a:rPr lang="en-US" sz="2200" b="1" dirty="0">
                <a:solidFill>
                  <a:srgbClr val="0D1B2A"/>
                </a:solidFill>
                <a:latin typeface="Garamond" pitchFamily="34" charset="0"/>
                <a:ea typeface="Garamond" pitchFamily="34" charset="-122"/>
                <a:cs typeface="Garamond" pitchFamily="34" charset="-120"/>
              </a:rPr>
              <a:t>Account 0007A — Taxable Brokerage</a:t>
            </a:r>
            <a:endParaRPr lang="en-US" sz="2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256032" y="1078992"/>
          <a:ext cx="8686800" cy="3822192"/>
        </p:xfrm>
        <a:graphic>
          <a:graphicData uri="http://schemas.openxmlformats.org/drawingml/2006/table">
            <a:tbl>
              <a:tblPr/>
              <a:tblGrid>
                <a:gridCol w="3657600"/>
                <a:gridCol w="1188720"/>
                <a:gridCol w="1645920"/>
                <a:gridCol w="2194560"/>
              </a:tblGrid>
              <a:tr h="347472">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Asset Name</a:t>
                      </a:r>
                      <a:endParaRPr lang="en-US" sz="9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0D1B2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Symbol</a:t>
                      </a:r>
                      <a:endParaRPr lang="en-US" sz="9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0D1B2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Class</a:t>
                      </a:r>
                      <a:endParaRPr lang="en-US" sz="9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0D1B2A"/>
                    </a:solidFill>
                  </a:tcPr>
                </a:tc>
                <a:tc>
                  <a:txBody>
                    <a:bodyPr/>
                    <a:lstStyle/>
                    <a:p>
                      <a:pPr algn="r" indent="0" marL="0">
                        <a:buNone/>
                      </a:pPr>
                      <a:r>
                        <a:rPr lang="en-US" sz="900" b="1" dirty="0">
                          <a:solidFill>
                            <a:srgbClr val="FFFFFF"/>
                          </a:solidFill>
                          <a:latin typeface="Calibri" pitchFamily="34" charset="0"/>
                          <a:ea typeface="Calibri" pitchFamily="34" charset="-122"/>
                          <a:cs typeface="Calibri" pitchFamily="34" charset="-120"/>
                        </a:rPr>
                        <a:t>Market Value</a:t>
                      </a:r>
                      <a:endParaRPr lang="en-US" sz="9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0D1B2A"/>
                    </a:solidFill>
                  </a:tcPr>
                </a:tc>
              </a:tr>
              <a:tr h="347472">
                <a:tc>
                  <a:txBody>
                    <a:bodyPr/>
                    <a:lstStyle/>
                    <a:p>
                      <a:pPr indent="0" marL="0">
                        <a:buNone/>
                      </a:pPr>
                      <a:r>
                        <a:rPr lang="en-US" sz="1000" b="1" dirty="0">
                          <a:solidFill>
                            <a:srgbClr val="4A5568"/>
                          </a:solidFill>
                          <a:latin typeface="Calibri" pitchFamily="34" charset="0"/>
                          <a:ea typeface="Calibri" pitchFamily="34" charset="-122"/>
                          <a:cs typeface="Calibri" pitchFamily="34" charset="-120"/>
                        </a:rPr>
                        <a:t>NVIDIA Corp</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5F0E6"/>
                    </a:solidFill>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NVDA</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US Equity</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4A5568"/>
                          </a:solidFill>
                          <a:latin typeface="Calibri" pitchFamily="34" charset="0"/>
                          <a:ea typeface="Calibri" pitchFamily="34" charset="-122"/>
                          <a:cs typeface="Calibri" pitchFamily="34" charset="-120"/>
                        </a:rPr>
                        <a:t>$46,500,000</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5F0E6"/>
                    </a:solidFill>
                  </a:tcPr>
                </a:tc>
              </a:tr>
              <a:tr h="347472">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Vanguard Total Stock Market ETF</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VTI</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US Equity</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r" indent="0" marL="0">
                        <a:buNone/>
                      </a:pPr>
                      <a:r>
                        <a:rPr lang="en-US" sz="1000" dirty="0">
                          <a:solidFill>
                            <a:srgbClr val="4A5568"/>
                          </a:solidFill>
                          <a:latin typeface="Calibri" pitchFamily="34" charset="0"/>
                          <a:ea typeface="Calibri" pitchFamily="34" charset="-122"/>
                          <a:cs typeface="Calibri" pitchFamily="34" charset="-120"/>
                        </a:rPr>
                        <a:t>$2,250,000</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iShares Core S&amp;P 500 ETF</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IVV</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US Equity</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r" indent="0" marL="0">
                        <a:buNone/>
                      </a:pPr>
                      <a:r>
                        <a:rPr lang="en-US" sz="1000" dirty="0">
                          <a:solidFill>
                            <a:srgbClr val="4A5568"/>
                          </a:solidFill>
                          <a:latin typeface="Calibri" pitchFamily="34" charset="0"/>
                          <a:ea typeface="Calibri" pitchFamily="34" charset="-122"/>
                          <a:cs typeface="Calibri" pitchFamily="34" charset="-120"/>
                        </a:rPr>
                        <a:t>$1,900,000</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Invesco QQQ Trust</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QQQ</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US Equity</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r" indent="0" marL="0">
                        <a:buNone/>
                      </a:pPr>
                      <a:r>
                        <a:rPr lang="en-US" sz="1000" dirty="0">
                          <a:solidFill>
                            <a:srgbClr val="4A5568"/>
                          </a:solidFill>
                          <a:latin typeface="Calibri" pitchFamily="34" charset="0"/>
                          <a:ea typeface="Calibri" pitchFamily="34" charset="-122"/>
                          <a:cs typeface="Calibri" pitchFamily="34" charset="-120"/>
                        </a:rPr>
                        <a:t>$1,200,000</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Microsoft Corp</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MSFT</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US Equity</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r" indent="0" marL="0">
                        <a:buNone/>
                      </a:pPr>
                      <a:r>
                        <a:rPr lang="en-US" sz="1000" dirty="0">
                          <a:solidFill>
                            <a:srgbClr val="4A5568"/>
                          </a:solidFill>
                          <a:latin typeface="Calibri" pitchFamily="34" charset="0"/>
                          <a:ea typeface="Calibri" pitchFamily="34" charset="-122"/>
                          <a:cs typeface="Calibri" pitchFamily="34" charset="-120"/>
                        </a:rPr>
                        <a:t>$850,000</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Apple Inc</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AAPL</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US Equity</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r" indent="0" marL="0">
                        <a:buNone/>
                      </a:pPr>
                      <a:r>
                        <a:rPr lang="en-US" sz="1000" dirty="0">
                          <a:solidFill>
                            <a:srgbClr val="4A5568"/>
                          </a:solidFill>
                          <a:latin typeface="Calibri" pitchFamily="34" charset="0"/>
                          <a:ea typeface="Calibri" pitchFamily="34" charset="-122"/>
                          <a:cs typeface="Calibri" pitchFamily="34" charset="-120"/>
                        </a:rPr>
                        <a:t>$725,000</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Vanguard Tax-Exempt Bond ETF</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VTEB</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Muni Bond</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r" indent="0" marL="0">
                        <a:buNone/>
                      </a:pPr>
                      <a:r>
                        <a:rPr lang="en-US" sz="1000" dirty="0">
                          <a:solidFill>
                            <a:srgbClr val="4A5568"/>
                          </a:solidFill>
                          <a:latin typeface="Calibri" pitchFamily="34" charset="0"/>
                          <a:ea typeface="Calibri" pitchFamily="34" charset="-122"/>
                          <a:cs typeface="Calibri" pitchFamily="34" charset="-120"/>
                        </a:rPr>
                        <a:t>$2,800,000</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iShares National Muni Bond ETF</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MUB</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Muni Bond</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r" indent="0" marL="0">
                        <a:buNone/>
                      </a:pPr>
                      <a:r>
                        <a:rPr lang="en-US" sz="1000" dirty="0">
                          <a:solidFill>
                            <a:srgbClr val="4A5568"/>
                          </a:solidFill>
                          <a:latin typeface="Calibri" pitchFamily="34" charset="0"/>
                          <a:ea typeface="Calibri" pitchFamily="34" charset="-122"/>
                          <a:cs typeface="Calibri" pitchFamily="34" charset="-120"/>
                        </a:rPr>
                        <a:t>$2,700,000</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Treasury Bills / Money Market</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BIL/SPAXX</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Cash</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r" indent="0" marL="0">
                        <a:buNone/>
                      </a:pPr>
                      <a:r>
                        <a:rPr lang="en-US" sz="1000" dirty="0">
                          <a:solidFill>
                            <a:srgbClr val="4A5568"/>
                          </a:solidFill>
                          <a:latin typeface="Calibri" pitchFamily="34" charset="0"/>
                          <a:ea typeface="Calibri" pitchFamily="34" charset="-122"/>
                          <a:cs typeface="Calibri" pitchFamily="34" charset="-120"/>
                        </a:rPr>
                        <a:t>$3,000,000</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r>
              <a:tr h="347472">
                <a:tc>
                  <a:txBody>
                    <a:bodyPr/>
                    <a:lstStyle/>
                    <a:p>
                      <a:pPr indent="0" marL="0">
                        <a:buNone/>
                      </a:pPr>
                      <a:r>
                        <a:rPr lang="en-US" sz="1000" b="1" dirty="0">
                          <a:solidFill>
                            <a:srgbClr val="B5922E"/>
                          </a:solidFill>
                          <a:latin typeface="Calibri" pitchFamily="34" charset="0"/>
                          <a:ea typeface="Calibri" pitchFamily="34" charset="-122"/>
                          <a:cs typeface="Calibri" pitchFamily="34" charset="-120"/>
                        </a:rPr>
                        <a:t>Account Total</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0D1B2A"/>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0D1B2A"/>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0D1B2A"/>
                    </a:solidFill>
                  </a:tcPr>
                </a:tc>
                <a:tc>
                  <a:txBody>
                    <a:bodyPr/>
                    <a:lstStyle/>
                    <a:p>
                      <a:pPr algn="r" indent="0" marL="0">
                        <a:buNone/>
                      </a:pPr>
                      <a:r>
                        <a:rPr lang="en-US" sz="1000" b="1" dirty="0">
                          <a:solidFill>
                            <a:srgbClr val="B5922E"/>
                          </a:solidFill>
                          <a:latin typeface="Calibri" pitchFamily="34" charset="0"/>
                          <a:ea typeface="Calibri" pitchFamily="34" charset="-122"/>
                          <a:cs typeface="Calibri" pitchFamily="34" charset="-120"/>
                        </a:rPr>
                        <a:t>~$61,925,000</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0D1B2A"/>
                    </a:solidFill>
                  </a:tcPr>
                </a:tc>
              </a:tr>
            </a:tbl>
          </a:graphicData>
        </a:graphic>
      </p:graphicFrame>
      <p:sp>
        <p:nvSpPr>
          <p:cNvPr id="6" name="Text 3"/>
          <p:cNvSpPr/>
          <p:nvPr/>
        </p:nvSpPr>
        <p:spPr>
          <a:xfrm>
            <a:off x="256032" y="4828032"/>
            <a:ext cx="8686800" cy="182880"/>
          </a:xfrm>
          <a:prstGeom prst="rect">
            <a:avLst/>
          </a:prstGeom>
          <a:noFill/>
          <a:ln/>
        </p:spPr>
        <p:txBody>
          <a:bodyPr wrap="square" lIns="0" tIns="0" rIns="0" bIns="0" rtlCol="0" anchor="ctr"/>
          <a:lstStyle/>
          <a:p>
            <a:pPr indent="0" marL="0">
              <a:buNone/>
            </a:pPr>
            <a:r>
              <a:rPr lang="en-US" sz="850" i="1" dirty="0">
                <a:solidFill>
                  <a:srgbClr val="718096"/>
                </a:solidFill>
                <a:latin typeface="Calibri" pitchFamily="34" charset="0"/>
                <a:ea typeface="Calibri" pitchFamily="34" charset="-122"/>
                <a:cs typeface="Calibri" pitchFamily="34" charset="-120"/>
              </a:rPr>
              <a:t>★ NVDA row highlighted — represents 64.6% of managed assets and the primary concentration risk.</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B5922E"/>
          </a:solidFill>
          <a:ln w="12700">
            <a:solidFill>
              <a:srgbClr val="B5922E"/>
            </a:solidFill>
            <a:prstDash val="solid"/>
          </a:ln>
        </p:spPr>
      </p:sp>
      <p:sp>
        <p:nvSpPr>
          <p:cNvPr id="3" name="Text 1"/>
          <p:cNvSpPr/>
          <p:nvPr/>
        </p:nvSpPr>
        <p:spPr>
          <a:xfrm>
            <a:off x="411480" y="1371600"/>
            <a:ext cx="2743200" cy="1097280"/>
          </a:xfrm>
          <a:prstGeom prst="rect">
            <a:avLst/>
          </a:prstGeom>
          <a:noFill/>
          <a:ln/>
        </p:spPr>
        <p:txBody>
          <a:bodyPr wrap="square" lIns="0" tIns="0" rIns="0" bIns="0" rtlCol="0" anchor="ctr"/>
          <a:lstStyle/>
          <a:p>
            <a:pPr indent="0" marL="0">
              <a:buNone/>
            </a:pPr>
            <a:r>
              <a:rPr lang="en-US" sz="9600" b="1" dirty="0">
                <a:solidFill>
                  <a:srgbClr val="1E3347"/>
                </a:solidFill>
                <a:latin typeface="Garamond" pitchFamily="34" charset="0"/>
                <a:ea typeface="Garamond" pitchFamily="34" charset="-122"/>
                <a:cs typeface="Garamond" pitchFamily="34" charset="-120"/>
              </a:rPr>
              <a:t>04</a:t>
            </a:r>
            <a:endParaRPr lang="en-US" sz="9600" dirty="0"/>
          </a:p>
        </p:txBody>
      </p:sp>
      <p:sp>
        <p:nvSpPr>
          <p:cNvPr id="4" name="Text 2"/>
          <p:cNvSpPr/>
          <p:nvPr/>
        </p:nvSpPr>
        <p:spPr>
          <a:xfrm>
            <a:off x="411480" y="1234440"/>
            <a:ext cx="7315200" cy="201168"/>
          </a:xfrm>
          <a:prstGeom prst="rect">
            <a:avLst/>
          </a:prstGeom>
          <a:noFill/>
          <a:ln/>
        </p:spPr>
        <p:txBody>
          <a:bodyPr wrap="square" lIns="0" tIns="0" rIns="0" bIns="0" rtlCol="0" anchor="ctr"/>
          <a:lstStyle/>
          <a:p>
            <a:pPr indent="0" marL="0">
              <a:buNone/>
            </a:pPr>
            <a:r>
              <a:rPr lang="en-US" sz="900" b="1" spc="300" kern="0" dirty="0">
                <a:solidFill>
                  <a:srgbClr val="B5922E"/>
                </a:solidFill>
                <a:latin typeface="Calibri" pitchFamily="34" charset="0"/>
                <a:ea typeface="Calibri" pitchFamily="34" charset="-122"/>
                <a:cs typeface="Calibri" pitchFamily="34" charset="-120"/>
              </a:rPr>
              <a:t>SECTION</a:t>
            </a:r>
            <a:endParaRPr lang="en-US" sz="900" dirty="0"/>
          </a:p>
        </p:txBody>
      </p:sp>
      <p:sp>
        <p:nvSpPr>
          <p:cNvPr id="5" name="Text 3"/>
          <p:cNvSpPr/>
          <p:nvPr/>
        </p:nvSpPr>
        <p:spPr>
          <a:xfrm>
            <a:off x="411480" y="2395728"/>
            <a:ext cx="6400800" cy="502920"/>
          </a:xfrm>
          <a:prstGeom prst="rect">
            <a:avLst/>
          </a:prstGeom>
          <a:noFill/>
          <a:ln/>
        </p:spPr>
        <p:txBody>
          <a:bodyPr wrap="square" lIns="0" tIns="0" rIns="0" bIns="0" rtlCol="0" anchor="ctr"/>
          <a:lstStyle/>
          <a:p>
            <a:pPr indent="0" marL="0">
              <a:buNone/>
            </a:pPr>
            <a:r>
              <a:rPr lang="en-US" sz="3600" b="1" dirty="0">
                <a:solidFill>
                  <a:srgbClr val="FFFFFF"/>
                </a:solidFill>
                <a:latin typeface="Garamond" pitchFamily="34" charset="0"/>
                <a:ea typeface="Garamond" pitchFamily="34" charset="-122"/>
                <a:cs typeface="Garamond" pitchFamily="34" charset="-120"/>
              </a:rPr>
              <a:t>Recommended</a:t>
            </a:r>
            <a:endParaRPr lang="en-US" sz="3600" dirty="0"/>
          </a:p>
          <a:p>
            <a:pPr indent="0" marL="0">
              <a:buNone/>
            </a:pPr>
            <a:r>
              <a:rPr lang="en-US" sz="3600" b="1" dirty="0">
                <a:solidFill>
                  <a:srgbClr val="FFFFFF"/>
                </a:solidFill>
                <a:latin typeface="Garamond" pitchFamily="34" charset="0"/>
                <a:ea typeface="Garamond" pitchFamily="34" charset="-122"/>
                <a:cs typeface="Garamond" pitchFamily="34" charset="-120"/>
              </a:rPr>
              <a:t>Investment Approach</a:t>
            </a:r>
            <a:endParaRPr lang="en-US" sz="3600" dirty="0"/>
          </a:p>
        </p:txBody>
      </p:sp>
      <p:sp>
        <p:nvSpPr>
          <p:cNvPr id="6" name="Text 4"/>
          <p:cNvSpPr/>
          <p:nvPr/>
        </p:nvSpPr>
        <p:spPr>
          <a:xfrm>
            <a:off x="411480" y="3621024"/>
            <a:ext cx="6400800" cy="365760"/>
          </a:xfrm>
          <a:prstGeom prst="rect">
            <a:avLst/>
          </a:prstGeom>
          <a:noFill/>
          <a:ln/>
        </p:spPr>
        <p:txBody>
          <a:bodyPr wrap="square" lIns="0" tIns="0" rIns="0" bIns="0" rtlCol="0" anchor="ctr"/>
          <a:lstStyle/>
          <a:p>
            <a:pPr indent="0" marL="0">
              <a:buNone/>
            </a:pPr>
            <a:r>
              <a:rPr lang="en-US" sz="1300" dirty="0">
                <a:solidFill>
                  <a:srgbClr val="A0B4C8"/>
                </a:solidFill>
                <a:latin typeface="Calibri" pitchFamily="34" charset="0"/>
                <a:ea typeface="Calibri" pitchFamily="34" charset="-122"/>
                <a:cs typeface="Calibri" pitchFamily="34" charset="-120"/>
              </a:rPr>
              <a:t>Select Liquidity · Balanced Plus 60/40 · Q1 2026 Cyclical Strategy Model.</a:t>
            </a:r>
            <a:endParaRPr lang="en-US" sz="1300" dirty="0"/>
          </a:p>
        </p:txBody>
      </p:sp>
      <p:pic>
        <p:nvPicPr>
          <p:cNvPr id="7" name="Image 0" descr="preencoded.png">    </p:cNvPr>
          <p:cNvPicPr>
            <a:picLocks noChangeAspect="1"/>
          </p:cNvPicPr>
          <p:nvPr/>
        </p:nvPicPr>
        <p:blipFill>
          <a:blip r:embed="rId1">
            <a:alphaModFix amt="30000"/>
          </a:blip>
          <a:stretch>
            <a:fillRect/>
          </a:stretch>
        </p:blipFill>
        <p:spPr>
          <a:xfrm>
            <a:off x="7132320" y="1645920"/>
            <a:ext cx="1371600" cy="13716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1B2A"/>
          </a:solidFill>
          <a:ln w="12700">
            <a:solidFill>
              <a:srgbClr val="0D1B2A"/>
            </a:solidFill>
            <a:prstDash val="solid"/>
          </a:ln>
        </p:spPr>
      </p:sp>
      <p:sp>
        <p:nvSpPr>
          <p:cNvPr id="3" name="Text 1"/>
          <p:cNvSpPr/>
          <p:nvPr/>
        </p:nvSpPr>
        <p:spPr>
          <a:xfrm>
            <a:off x="256032" y="274320"/>
            <a:ext cx="7315200" cy="201168"/>
          </a:xfrm>
          <a:prstGeom prst="rect">
            <a:avLst/>
          </a:prstGeom>
          <a:noFill/>
          <a:ln/>
        </p:spPr>
        <p:txBody>
          <a:bodyPr wrap="square" lIns="0" tIns="0" rIns="0" bIns="0" rtlCol="0" anchor="ctr"/>
          <a:lstStyle/>
          <a:p>
            <a:pPr indent="0" marL="0">
              <a:buNone/>
            </a:pPr>
            <a:r>
              <a:rPr lang="en-US" sz="900" b="1" spc="300" kern="0" dirty="0">
                <a:solidFill>
                  <a:srgbClr val="B5922E"/>
                </a:solidFill>
                <a:latin typeface="Calibri" pitchFamily="34" charset="0"/>
                <a:ea typeface="Calibri" pitchFamily="34" charset="-122"/>
                <a:cs typeface="Calibri" pitchFamily="34" charset="-120"/>
              </a:rPr>
              <a:t>SECTION 04 · INVESTMENT APPROACH</a:t>
            </a:r>
            <a:endParaRPr lang="en-US" sz="900" dirty="0"/>
          </a:p>
        </p:txBody>
      </p:sp>
      <p:sp>
        <p:nvSpPr>
          <p:cNvPr id="4" name="Text 2"/>
          <p:cNvSpPr/>
          <p:nvPr/>
        </p:nvSpPr>
        <p:spPr>
          <a:xfrm>
            <a:off x="256032" y="493776"/>
            <a:ext cx="8686800" cy="502920"/>
          </a:xfrm>
          <a:prstGeom prst="rect">
            <a:avLst/>
          </a:prstGeom>
          <a:noFill/>
          <a:ln/>
        </p:spPr>
        <p:txBody>
          <a:bodyPr wrap="square" lIns="0" tIns="0" rIns="0" bIns="0" rtlCol="0" anchor="ctr"/>
          <a:lstStyle/>
          <a:p>
            <a:pPr indent="0" marL="0">
              <a:buNone/>
            </a:pPr>
            <a:r>
              <a:rPr lang="en-US" sz="2200" b="1" dirty="0">
                <a:solidFill>
                  <a:srgbClr val="0D1B2A"/>
                </a:solidFill>
                <a:latin typeface="Garamond" pitchFamily="34" charset="0"/>
                <a:ea typeface="Garamond" pitchFamily="34" charset="-122"/>
                <a:cs typeface="Garamond" pitchFamily="34" charset="-120"/>
              </a:rPr>
              <a:t>Select Liquidity · Balanced Plus (60/40)</a:t>
            </a:r>
            <a:endParaRPr lang="en-US" sz="2200" dirty="0"/>
          </a:p>
        </p:txBody>
      </p:sp>
      <p:sp>
        <p:nvSpPr>
          <p:cNvPr id="5" name="Shape 3"/>
          <p:cNvSpPr/>
          <p:nvPr/>
        </p:nvSpPr>
        <p:spPr>
          <a:xfrm>
            <a:off x="256032" y="987552"/>
            <a:ext cx="8686800" cy="475488"/>
          </a:xfrm>
          <a:prstGeom prst="rect">
            <a:avLst/>
          </a:prstGeom>
          <a:solidFill>
            <a:srgbClr val="0D1B2A"/>
          </a:solidFill>
          <a:ln w="12700">
            <a:solidFill>
              <a:srgbClr val="0D1B2A"/>
            </a:solidFill>
            <a:prstDash val="solid"/>
          </a:ln>
        </p:spPr>
      </p:sp>
      <p:sp>
        <p:nvSpPr>
          <p:cNvPr id="6" name="Text 4"/>
          <p:cNvSpPr/>
          <p:nvPr/>
        </p:nvSpPr>
        <p:spPr>
          <a:xfrm>
            <a:off x="420624" y="1060704"/>
            <a:ext cx="6400800" cy="201168"/>
          </a:xfrm>
          <a:prstGeom prst="rect">
            <a:avLst/>
          </a:prstGeom>
          <a:noFill/>
          <a:ln/>
        </p:spPr>
        <p:txBody>
          <a:bodyPr wrap="square" lIns="0" tIns="0" rIns="0" bIns="0" rtlCol="0" anchor="ctr"/>
          <a:lstStyle/>
          <a:p>
            <a:pPr indent="0" marL="0">
              <a:buNone/>
            </a:pPr>
            <a:r>
              <a:rPr lang="en-US" sz="900" b="1" spc="200" kern="0" dirty="0">
                <a:solidFill>
                  <a:srgbClr val="B5922E"/>
                </a:solidFill>
                <a:latin typeface="Calibri" pitchFamily="34" charset="0"/>
                <a:ea typeface="Calibri" pitchFamily="34" charset="-122"/>
                <a:cs typeface="Calibri" pitchFamily="34" charset="-120"/>
              </a:rPr>
              <a:t>RECOMMENDED STRATEGY — Q1 2026 CYCLICAL · SELECT LIQUIDITY · RISK NUMBER 64</a:t>
            </a:r>
            <a:endParaRPr lang="en-US" sz="900" dirty="0"/>
          </a:p>
        </p:txBody>
      </p:sp>
      <p:sp>
        <p:nvSpPr>
          <p:cNvPr id="7" name="Text 5"/>
          <p:cNvSpPr/>
          <p:nvPr/>
        </p:nvSpPr>
        <p:spPr>
          <a:xfrm>
            <a:off x="6583680" y="1060704"/>
            <a:ext cx="2194560" cy="201168"/>
          </a:xfrm>
          <a:prstGeom prst="rect">
            <a:avLst/>
          </a:prstGeom>
          <a:noFill/>
          <a:ln/>
        </p:spPr>
        <p:txBody>
          <a:bodyPr wrap="square" lIns="0" tIns="0" rIns="0" bIns="0" rtlCol="0" anchor="ctr"/>
          <a:lstStyle/>
          <a:p>
            <a:pPr algn="r" indent="0" marL="0">
              <a:buNone/>
            </a:pPr>
            <a:r>
              <a:rPr lang="en-US" sz="900" dirty="0">
                <a:solidFill>
                  <a:srgbClr val="A0B4C8"/>
                </a:solidFill>
                <a:latin typeface="Calibri" pitchFamily="34" charset="0"/>
                <a:ea typeface="Calibri" pitchFamily="34" charset="-122"/>
                <a:cs typeface="Calibri" pitchFamily="34" charset="-120"/>
              </a:rPr>
              <a:t>Growth Assets: 63.0%  |  Stability Assets: 37.0%</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256032" y="1536192"/>
          <a:ext cx="5303520" cy="3419856"/>
        </p:xfrm>
        <a:graphic>
          <a:graphicData uri="http://schemas.openxmlformats.org/drawingml/2006/table">
            <a:tbl>
              <a:tblPr/>
              <a:tblGrid>
                <a:gridCol w="2926080"/>
                <a:gridCol w="1097280"/>
                <a:gridCol w="1280160"/>
              </a:tblGrid>
              <a:tr h="263066">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Asset Class</a:t>
                      </a:r>
                      <a:endParaRPr lang="en-US" sz="9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1A2E45"/>
                    </a:solidFill>
                  </a:tcPr>
                </a:tc>
                <a:tc>
                  <a:txBody>
                    <a:bodyPr/>
                    <a:lstStyle/>
                    <a:p>
                      <a:pPr algn="r" indent="0" marL="0">
                        <a:buNone/>
                      </a:pPr>
                      <a:r>
                        <a:rPr lang="en-US" sz="900" b="1" dirty="0">
                          <a:solidFill>
                            <a:srgbClr val="FFFFFF"/>
                          </a:solidFill>
                          <a:latin typeface="Calibri" pitchFamily="34" charset="0"/>
                          <a:ea typeface="Calibri" pitchFamily="34" charset="-122"/>
                          <a:cs typeface="Calibri" pitchFamily="34" charset="-120"/>
                        </a:rPr>
                        <a:t>Allocation</a:t>
                      </a:r>
                      <a:endParaRPr lang="en-US" sz="9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1A2E45"/>
                    </a:solidFill>
                  </a:tcPr>
                </a:tc>
                <a:tc>
                  <a:txBody>
                    <a:bodyPr/>
                    <a:lstStyle/>
                    <a:p>
                      <a:pPr algn="r" indent="0" marL="0">
                        <a:buNone/>
                      </a:pPr>
                      <a:r>
                        <a:rPr lang="en-US" sz="900" b="1" dirty="0">
                          <a:solidFill>
                            <a:srgbClr val="B5922E"/>
                          </a:solidFill>
                          <a:latin typeface="Calibri" pitchFamily="34" charset="0"/>
                          <a:ea typeface="Calibri" pitchFamily="34" charset="-122"/>
                          <a:cs typeface="Calibri" pitchFamily="34" charset="-120"/>
                        </a:rPr>
                        <a:t>$ on $72M</a:t>
                      </a:r>
                      <a:endParaRPr lang="en-US" sz="9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1A2E45"/>
                    </a:solidFill>
                  </a:tcPr>
                </a:tc>
              </a:tr>
              <a:tr h="263066">
                <a:tc gridSpan="3">
                  <a:txBody>
                    <a:bodyPr/>
                    <a:lstStyle/>
                    <a:p>
                      <a:pPr indent="0" marL="0">
                        <a:buNone/>
                      </a:pPr>
                      <a:r>
                        <a:rPr lang="en-US" sz="950" b="1" dirty="0">
                          <a:solidFill>
                            <a:srgbClr val="0D1B2A"/>
                          </a:solidFill>
                          <a:latin typeface="Calibri" pitchFamily="34" charset="0"/>
                          <a:ea typeface="Calibri" pitchFamily="34" charset="-122"/>
                          <a:cs typeface="Calibri" pitchFamily="34" charset="-120"/>
                        </a:rPr>
                        <a:t>EQUITY — 53.50%</a:t>
                      </a:r>
                      <a:endParaRPr lang="en-US" sz="95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6F6F4"/>
                    </a:solidFill>
                  </a:tcPr>
                </a:tc>
                <a:tc hMerge="1">
                  <a:tcPr/>
                </a:tc>
                <a:tc hMerge="1">
                  <a:tcPr/>
                </a:tc>
              </a:tr>
              <a:tr h="263066">
                <a:tc>
                  <a:txBody>
                    <a:bodyPr/>
                    <a:lstStyle/>
                    <a:p>
                      <a:pPr indent="0" marL="0">
                        <a:buNone/>
                      </a:pPr>
                      <a:r>
                        <a:rPr lang="en-US" sz="950" dirty="0">
                          <a:solidFill>
                            <a:srgbClr val="4A5568"/>
                          </a:solidFill>
                          <a:latin typeface="Calibri" pitchFamily="34" charset="0"/>
                          <a:ea typeface="Calibri" pitchFamily="34" charset="-122"/>
                          <a:cs typeface="Calibri" pitchFamily="34" charset="-120"/>
                        </a:rPr>
                        <a:t>  US Large Cap Core</a:t>
                      </a:r>
                      <a:endParaRPr lang="en-US" sz="95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r" indent="0" marL="0">
                        <a:buNone/>
                      </a:pPr>
                      <a:r>
                        <a:rPr lang="en-US" sz="950" dirty="0">
                          <a:solidFill>
                            <a:srgbClr val="4A5568"/>
                          </a:solidFill>
                          <a:latin typeface="Calibri" pitchFamily="34" charset="0"/>
                          <a:ea typeface="Calibri" pitchFamily="34" charset="-122"/>
                          <a:cs typeface="Calibri" pitchFamily="34" charset="-120"/>
                        </a:rPr>
                        <a:t>17.00%</a:t>
                      </a:r>
                      <a:endParaRPr lang="en-US" sz="95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5922E"/>
                          </a:solidFill>
                          <a:latin typeface="Calibri" pitchFamily="34" charset="0"/>
                          <a:ea typeface="Calibri" pitchFamily="34" charset="-122"/>
                          <a:cs typeface="Calibri" pitchFamily="34" charset="-120"/>
                        </a:rPr>
                        <a:t>$12,240,000</a:t>
                      </a:r>
                      <a:endParaRPr lang="en-US" sz="95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r>
              <a:tr h="263066">
                <a:tc>
                  <a:txBody>
                    <a:bodyPr/>
                    <a:lstStyle/>
                    <a:p>
                      <a:pPr indent="0" marL="0">
                        <a:buNone/>
                      </a:pPr>
                      <a:r>
                        <a:rPr lang="en-US" sz="950" dirty="0">
                          <a:solidFill>
                            <a:srgbClr val="4A5568"/>
                          </a:solidFill>
                          <a:latin typeface="Calibri" pitchFamily="34" charset="0"/>
                          <a:ea typeface="Calibri" pitchFamily="34" charset="-122"/>
                          <a:cs typeface="Calibri" pitchFamily="34" charset="-120"/>
                        </a:rPr>
                        <a:t>  US Large Cap Value</a:t>
                      </a:r>
                      <a:endParaRPr lang="en-US" sz="95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r" indent="0" marL="0">
                        <a:buNone/>
                      </a:pPr>
                      <a:r>
                        <a:rPr lang="en-US" sz="950" dirty="0">
                          <a:solidFill>
                            <a:srgbClr val="4A5568"/>
                          </a:solidFill>
                          <a:latin typeface="Calibri" pitchFamily="34" charset="0"/>
                          <a:ea typeface="Calibri" pitchFamily="34" charset="-122"/>
                          <a:cs typeface="Calibri" pitchFamily="34" charset="-120"/>
                        </a:rPr>
                        <a:t>9.00%</a:t>
                      </a:r>
                      <a:endParaRPr lang="en-US" sz="95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5922E"/>
                          </a:solidFill>
                          <a:latin typeface="Calibri" pitchFamily="34" charset="0"/>
                          <a:ea typeface="Calibri" pitchFamily="34" charset="-122"/>
                          <a:cs typeface="Calibri" pitchFamily="34" charset="-120"/>
                        </a:rPr>
                        <a:t>$6,480,000</a:t>
                      </a:r>
                      <a:endParaRPr lang="en-US" sz="95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r>
              <a:tr h="263066">
                <a:tc>
                  <a:txBody>
                    <a:bodyPr/>
                    <a:lstStyle/>
                    <a:p>
                      <a:pPr indent="0" marL="0">
                        <a:buNone/>
                      </a:pPr>
                      <a:r>
                        <a:rPr lang="en-US" sz="950" dirty="0">
                          <a:solidFill>
                            <a:srgbClr val="4A5568"/>
                          </a:solidFill>
                          <a:latin typeface="Calibri" pitchFamily="34" charset="0"/>
                          <a:ea typeface="Calibri" pitchFamily="34" charset="-122"/>
                          <a:cs typeface="Calibri" pitchFamily="34" charset="-120"/>
                        </a:rPr>
                        <a:t>  US Large Cap Growth</a:t>
                      </a:r>
                      <a:endParaRPr lang="en-US" sz="95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r" indent="0" marL="0">
                        <a:buNone/>
                      </a:pPr>
                      <a:r>
                        <a:rPr lang="en-US" sz="950" dirty="0">
                          <a:solidFill>
                            <a:srgbClr val="4A5568"/>
                          </a:solidFill>
                          <a:latin typeface="Calibri" pitchFamily="34" charset="0"/>
                          <a:ea typeface="Calibri" pitchFamily="34" charset="-122"/>
                          <a:cs typeface="Calibri" pitchFamily="34" charset="-120"/>
                        </a:rPr>
                        <a:t>7.25%</a:t>
                      </a:r>
                      <a:endParaRPr lang="en-US" sz="95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5922E"/>
                          </a:solidFill>
                          <a:latin typeface="Calibri" pitchFamily="34" charset="0"/>
                          <a:ea typeface="Calibri" pitchFamily="34" charset="-122"/>
                          <a:cs typeface="Calibri" pitchFamily="34" charset="-120"/>
                        </a:rPr>
                        <a:t>$5,220,000</a:t>
                      </a:r>
                      <a:endParaRPr lang="en-US" sz="95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r>
              <a:tr h="263066">
                <a:tc>
                  <a:txBody>
                    <a:bodyPr/>
                    <a:lstStyle/>
                    <a:p>
                      <a:pPr indent="0" marL="0">
                        <a:buNone/>
                      </a:pPr>
                      <a:r>
                        <a:rPr lang="en-US" sz="950" dirty="0">
                          <a:solidFill>
                            <a:srgbClr val="4A5568"/>
                          </a:solidFill>
                          <a:latin typeface="Calibri" pitchFamily="34" charset="0"/>
                          <a:ea typeface="Calibri" pitchFamily="34" charset="-122"/>
                          <a:cs typeface="Calibri" pitchFamily="34" charset="-120"/>
                        </a:rPr>
                        <a:t>  Intl Developed Value/Growth</a:t>
                      </a:r>
                      <a:endParaRPr lang="en-US" sz="95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r" indent="0" marL="0">
                        <a:buNone/>
                      </a:pPr>
                      <a:r>
                        <a:rPr lang="en-US" sz="950" dirty="0">
                          <a:solidFill>
                            <a:srgbClr val="4A5568"/>
                          </a:solidFill>
                          <a:latin typeface="Calibri" pitchFamily="34" charset="0"/>
                          <a:ea typeface="Calibri" pitchFamily="34" charset="-122"/>
                          <a:cs typeface="Calibri" pitchFamily="34" charset="-120"/>
                        </a:rPr>
                        <a:t>14.75%</a:t>
                      </a:r>
                      <a:endParaRPr lang="en-US" sz="95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5922E"/>
                          </a:solidFill>
                          <a:latin typeface="Calibri" pitchFamily="34" charset="0"/>
                          <a:ea typeface="Calibri" pitchFamily="34" charset="-122"/>
                          <a:cs typeface="Calibri" pitchFamily="34" charset="-120"/>
                        </a:rPr>
                        <a:t>$10,620,000</a:t>
                      </a:r>
                      <a:endParaRPr lang="en-US" sz="95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r>
              <a:tr h="263066">
                <a:tc>
                  <a:txBody>
                    <a:bodyPr/>
                    <a:lstStyle/>
                    <a:p>
                      <a:pPr indent="0" marL="0">
                        <a:buNone/>
                      </a:pPr>
                      <a:r>
                        <a:rPr lang="en-US" sz="950" dirty="0">
                          <a:solidFill>
                            <a:srgbClr val="4A5568"/>
                          </a:solidFill>
                          <a:latin typeface="Calibri" pitchFamily="34" charset="0"/>
                          <a:ea typeface="Calibri" pitchFamily="34" charset="-122"/>
                          <a:cs typeface="Calibri" pitchFamily="34" charset="-120"/>
                        </a:rPr>
                        <a:t>  Emerging Markets</a:t>
                      </a:r>
                      <a:endParaRPr lang="en-US" sz="95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r" indent="0" marL="0">
                        <a:buNone/>
                      </a:pPr>
                      <a:r>
                        <a:rPr lang="en-US" sz="950" dirty="0">
                          <a:solidFill>
                            <a:srgbClr val="4A5568"/>
                          </a:solidFill>
                          <a:latin typeface="Calibri" pitchFamily="34" charset="0"/>
                          <a:ea typeface="Calibri" pitchFamily="34" charset="-122"/>
                          <a:cs typeface="Calibri" pitchFamily="34" charset="-120"/>
                        </a:rPr>
                        <a:t>4.25%</a:t>
                      </a:r>
                      <a:endParaRPr lang="en-US" sz="95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5922E"/>
                          </a:solidFill>
                          <a:latin typeface="Calibri" pitchFamily="34" charset="0"/>
                          <a:ea typeface="Calibri" pitchFamily="34" charset="-122"/>
                          <a:cs typeface="Calibri" pitchFamily="34" charset="-120"/>
                        </a:rPr>
                        <a:t>$3,060,000</a:t>
                      </a:r>
                      <a:endParaRPr lang="en-US" sz="95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r>
              <a:tr h="263066">
                <a:tc>
                  <a:txBody>
                    <a:bodyPr/>
                    <a:lstStyle/>
                    <a:p>
                      <a:pPr indent="0" marL="0">
                        <a:buNone/>
                      </a:pPr>
                      <a:r>
                        <a:rPr lang="en-US" sz="950" dirty="0">
                          <a:solidFill>
                            <a:srgbClr val="4A5568"/>
                          </a:solidFill>
                          <a:latin typeface="Calibri" pitchFamily="34" charset="0"/>
                          <a:ea typeface="Calibri" pitchFamily="34" charset="-122"/>
                          <a:cs typeface="Calibri" pitchFamily="34" charset="-120"/>
                        </a:rPr>
                        <a:t>  US Mid Cap</a:t>
                      </a:r>
                      <a:endParaRPr lang="en-US" sz="95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r" indent="0" marL="0">
                        <a:buNone/>
                      </a:pPr>
                      <a:r>
                        <a:rPr lang="en-US" sz="950" dirty="0">
                          <a:solidFill>
                            <a:srgbClr val="4A5568"/>
                          </a:solidFill>
                          <a:latin typeface="Calibri" pitchFamily="34" charset="0"/>
                          <a:ea typeface="Calibri" pitchFamily="34" charset="-122"/>
                          <a:cs typeface="Calibri" pitchFamily="34" charset="-120"/>
                        </a:rPr>
                        <a:t>1.25%</a:t>
                      </a:r>
                      <a:endParaRPr lang="en-US" sz="95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5922E"/>
                          </a:solidFill>
                          <a:latin typeface="Calibri" pitchFamily="34" charset="0"/>
                          <a:ea typeface="Calibri" pitchFamily="34" charset="-122"/>
                          <a:cs typeface="Calibri" pitchFamily="34" charset="-120"/>
                        </a:rPr>
                        <a:t>$900,000</a:t>
                      </a:r>
                      <a:endParaRPr lang="en-US" sz="95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r>
              <a:tr h="263066">
                <a:tc gridSpan="3">
                  <a:txBody>
                    <a:bodyPr/>
                    <a:lstStyle/>
                    <a:p>
                      <a:pPr indent="0" marL="0">
                        <a:buNone/>
                      </a:pPr>
                      <a:r>
                        <a:rPr lang="en-US" sz="950" b="1" dirty="0">
                          <a:solidFill>
                            <a:srgbClr val="0D1B2A"/>
                          </a:solidFill>
                          <a:latin typeface="Calibri" pitchFamily="34" charset="0"/>
                          <a:ea typeface="Calibri" pitchFamily="34" charset="-122"/>
                          <a:cs typeface="Calibri" pitchFamily="34" charset="-120"/>
                        </a:rPr>
                        <a:t>FIXED INCOME — 24.50%</a:t>
                      </a:r>
                      <a:endParaRPr lang="en-US" sz="95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6F6F4"/>
                    </a:solidFill>
                  </a:tcPr>
                </a:tc>
                <a:tc hMerge="1">
                  <a:tcPr/>
                </a:tc>
                <a:tc hMerge="1">
                  <a:tcPr/>
                </a:tc>
              </a:tr>
              <a:tr h="263066">
                <a:tc>
                  <a:txBody>
                    <a:bodyPr/>
                    <a:lstStyle/>
                    <a:p>
                      <a:pPr indent="0" marL="0">
                        <a:buNone/>
                      </a:pPr>
                      <a:r>
                        <a:rPr lang="en-US" sz="950" dirty="0">
                          <a:solidFill>
                            <a:srgbClr val="4A5568"/>
                          </a:solidFill>
                          <a:latin typeface="Calibri" pitchFamily="34" charset="0"/>
                          <a:ea typeface="Calibri" pitchFamily="34" charset="-122"/>
                          <a:cs typeface="Calibri" pitchFamily="34" charset="-120"/>
                        </a:rPr>
                        <a:t>  US Core / Muni Bonds</a:t>
                      </a:r>
                      <a:endParaRPr lang="en-US" sz="95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r" indent="0" marL="0">
                        <a:buNone/>
                      </a:pPr>
                      <a:r>
                        <a:rPr lang="en-US" sz="950" dirty="0">
                          <a:solidFill>
                            <a:srgbClr val="4A5568"/>
                          </a:solidFill>
                          <a:latin typeface="Calibri" pitchFamily="34" charset="0"/>
                          <a:ea typeface="Calibri" pitchFamily="34" charset="-122"/>
                          <a:cs typeface="Calibri" pitchFamily="34" charset="-120"/>
                        </a:rPr>
                        <a:t>24.50%</a:t>
                      </a:r>
                      <a:endParaRPr lang="en-US" sz="95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5922E"/>
                          </a:solidFill>
                          <a:latin typeface="Calibri" pitchFamily="34" charset="0"/>
                          <a:ea typeface="Calibri" pitchFamily="34" charset="-122"/>
                          <a:cs typeface="Calibri" pitchFamily="34" charset="-120"/>
                        </a:rPr>
                        <a:t>$17,640,000</a:t>
                      </a:r>
                      <a:endParaRPr lang="en-US" sz="95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r>
              <a:tr h="263066">
                <a:tc gridSpan="3">
                  <a:txBody>
                    <a:bodyPr/>
                    <a:lstStyle/>
                    <a:p>
                      <a:pPr indent="0" marL="0">
                        <a:buNone/>
                      </a:pPr>
                      <a:r>
                        <a:rPr lang="en-US" sz="950" b="1" dirty="0">
                          <a:solidFill>
                            <a:srgbClr val="0D1B2A"/>
                          </a:solidFill>
                          <a:latin typeface="Calibri" pitchFamily="34" charset="0"/>
                          <a:ea typeface="Calibri" pitchFamily="34" charset="-122"/>
                          <a:cs typeface="Calibri" pitchFamily="34" charset="-120"/>
                        </a:rPr>
                        <a:t>ALTERNATIVES — 22.00%</a:t>
                      </a:r>
                      <a:endParaRPr lang="en-US" sz="95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6F6F4"/>
                    </a:solidFill>
                  </a:tcPr>
                </a:tc>
                <a:tc hMerge="1">
                  <a:tcPr/>
                </a:tc>
                <a:tc hMerge="1">
                  <a:tcPr/>
                </a:tc>
              </a:tr>
              <a:tr h="263066">
                <a:tc>
                  <a:txBody>
                    <a:bodyPr/>
                    <a:lstStyle/>
                    <a:p>
                      <a:pPr indent="0" marL="0">
                        <a:buNone/>
                      </a:pPr>
                      <a:r>
                        <a:rPr lang="en-US" sz="950" dirty="0">
                          <a:solidFill>
                            <a:srgbClr val="4A5568"/>
                          </a:solidFill>
                          <a:latin typeface="Calibri" pitchFamily="34" charset="0"/>
                          <a:ea typeface="Calibri" pitchFamily="34" charset="-122"/>
                          <a:cs typeface="Calibri" pitchFamily="34" charset="-120"/>
                        </a:rPr>
                        <a:t>  Diversified Alternatives (Interval Funds)</a:t>
                      </a:r>
                      <a:endParaRPr lang="en-US" sz="95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r" indent="0" marL="0">
                        <a:buNone/>
                      </a:pPr>
                      <a:r>
                        <a:rPr lang="en-US" sz="950" dirty="0">
                          <a:solidFill>
                            <a:srgbClr val="4A5568"/>
                          </a:solidFill>
                          <a:latin typeface="Calibri" pitchFamily="34" charset="0"/>
                          <a:ea typeface="Calibri" pitchFamily="34" charset="-122"/>
                          <a:cs typeface="Calibri" pitchFamily="34" charset="-120"/>
                        </a:rPr>
                        <a:t>22.00%</a:t>
                      </a:r>
                      <a:endParaRPr lang="en-US" sz="95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5922E"/>
                          </a:solidFill>
                          <a:latin typeface="Calibri" pitchFamily="34" charset="0"/>
                          <a:ea typeface="Calibri" pitchFamily="34" charset="-122"/>
                          <a:cs typeface="Calibri" pitchFamily="34" charset="-120"/>
                        </a:rPr>
                        <a:t>$15,840,000</a:t>
                      </a:r>
                      <a:endParaRPr lang="en-US" sz="95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r>
              <a:tr h="263066">
                <a:tc>
                  <a:txBody>
                    <a:bodyPr/>
                    <a:lstStyle/>
                    <a:p>
                      <a:pPr indent="0" marL="0">
                        <a:buNone/>
                      </a:pPr>
                      <a:r>
                        <a:rPr lang="en-US" sz="950" b="1" dirty="0">
                          <a:solidFill>
                            <a:srgbClr val="B5922E"/>
                          </a:solidFill>
                          <a:latin typeface="Calibri" pitchFamily="34" charset="0"/>
                          <a:ea typeface="Calibri" pitchFamily="34" charset="-122"/>
                          <a:cs typeface="Calibri" pitchFamily="34" charset="-120"/>
                        </a:rPr>
                        <a:t>TOTAL</a:t>
                      </a:r>
                      <a:endParaRPr lang="en-US" sz="95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0D1B2A"/>
                    </a:solidFill>
                  </a:tcPr>
                </a:tc>
                <a:tc>
                  <a:txBody>
                    <a:bodyPr/>
                    <a:lstStyle/>
                    <a:p>
                      <a:pPr algn="r" indent="0" marL="0">
                        <a:buNone/>
                      </a:pPr>
                      <a:r>
                        <a:rPr lang="en-US" sz="950" b="1" dirty="0">
                          <a:solidFill>
                            <a:srgbClr val="B5922E"/>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0D1B2A"/>
                    </a:solidFill>
                  </a:tcPr>
                </a:tc>
                <a:tc>
                  <a:txBody>
                    <a:bodyPr/>
                    <a:lstStyle/>
                    <a:p>
                      <a:pPr algn="r" indent="0" marL="0">
                        <a:buNone/>
                      </a:pPr>
                      <a:r>
                        <a:rPr lang="en-US" sz="950" b="1" dirty="0">
                          <a:solidFill>
                            <a:srgbClr val="B5922E"/>
                          </a:solidFill>
                          <a:latin typeface="Calibri" pitchFamily="34" charset="0"/>
                          <a:ea typeface="Calibri" pitchFamily="34" charset="-122"/>
                          <a:cs typeface="Calibri" pitchFamily="34" charset="-120"/>
                        </a:rPr>
                        <a:t>$72,000,000</a:t>
                      </a:r>
                      <a:endParaRPr lang="en-US" sz="95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0D1B2A"/>
                    </a:solidFill>
                  </a:tcPr>
                </a:tc>
              </a:tr>
            </a:tbl>
          </a:graphicData>
        </a:graphic>
      </p:graphicFrame>
      <p:graphicFrame>
        <p:nvGraphicFramePr>
          <p:cNvPr id="9" name="Chart 0" descr=""/>
          <p:cNvGraphicFramePr/>
          <p:nvPr/>
        </p:nvGraphicFramePr>
        <p:xfrm>
          <a:off x="5742432" y="1536192"/>
          <a:ext cx="3200400" cy="2926080"/>
        </p:xfrm>
        <a:graphic xmlns:a="http://schemas.openxmlformats.org/drawingml/2006/main">
          <a:graphicData uri="http://schemas.openxmlformats.org/drawingml/2006/chart">
            <c:chart xmlns:c="http://schemas.openxmlformats.org/drawingml/2006/chart" r:id="rId1"/>
          </a:graphicData>
        </a:graphic>
      </p:graphicFrame>
      <p:sp>
        <p:nvSpPr>
          <p:cNvPr id="10" name="Text 6"/>
          <p:cNvSpPr/>
          <p:nvPr/>
        </p:nvSpPr>
        <p:spPr>
          <a:xfrm>
            <a:off x="5742432" y="4370832"/>
            <a:ext cx="3200400" cy="585216"/>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Why Select Liquidity? Provides alternatives exposure without locking capital in illiquid private placements — appropriate given the NVIDIA position already creates significant illiquidity risk. Interval funds offer quarterly liquidity windows.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B5922E"/>
          </a:solidFill>
          <a:ln w="12700">
            <a:solidFill>
              <a:srgbClr val="B5922E"/>
            </a:solidFill>
            <a:prstDash val="solid"/>
          </a:ln>
        </p:spPr>
      </p:sp>
      <p:sp>
        <p:nvSpPr>
          <p:cNvPr id="3" name="Text 1"/>
          <p:cNvSpPr/>
          <p:nvPr/>
        </p:nvSpPr>
        <p:spPr>
          <a:xfrm>
            <a:off x="411480" y="1371600"/>
            <a:ext cx="2743200" cy="1097280"/>
          </a:xfrm>
          <a:prstGeom prst="rect">
            <a:avLst/>
          </a:prstGeom>
          <a:noFill/>
          <a:ln/>
        </p:spPr>
        <p:txBody>
          <a:bodyPr wrap="square" lIns="0" tIns="0" rIns="0" bIns="0" rtlCol="0" anchor="ctr"/>
          <a:lstStyle/>
          <a:p>
            <a:pPr indent="0" marL="0">
              <a:buNone/>
            </a:pPr>
            <a:r>
              <a:rPr lang="en-US" sz="9600" b="1" dirty="0">
                <a:solidFill>
                  <a:srgbClr val="1E3347"/>
                </a:solidFill>
                <a:latin typeface="Garamond" pitchFamily="34" charset="0"/>
                <a:ea typeface="Garamond" pitchFamily="34" charset="-122"/>
                <a:cs typeface="Garamond" pitchFamily="34" charset="-120"/>
              </a:rPr>
              <a:t>05</a:t>
            </a:r>
            <a:endParaRPr lang="en-US" sz="9600" dirty="0"/>
          </a:p>
        </p:txBody>
      </p:sp>
      <p:sp>
        <p:nvSpPr>
          <p:cNvPr id="4" name="Text 2"/>
          <p:cNvSpPr/>
          <p:nvPr/>
        </p:nvSpPr>
        <p:spPr>
          <a:xfrm>
            <a:off x="411480" y="1234440"/>
            <a:ext cx="7315200" cy="201168"/>
          </a:xfrm>
          <a:prstGeom prst="rect">
            <a:avLst/>
          </a:prstGeom>
          <a:noFill/>
          <a:ln/>
        </p:spPr>
        <p:txBody>
          <a:bodyPr wrap="square" lIns="0" tIns="0" rIns="0" bIns="0" rtlCol="0" anchor="ctr"/>
          <a:lstStyle/>
          <a:p>
            <a:pPr indent="0" marL="0">
              <a:buNone/>
            </a:pPr>
            <a:r>
              <a:rPr lang="en-US" sz="900" b="1" spc="300" kern="0" dirty="0">
                <a:solidFill>
                  <a:srgbClr val="B5922E"/>
                </a:solidFill>
                <a:latin typeface="Calibri" pitchFamily="34" charset="0"/>
                <a:ea typeface="Calibri" pitchFamily="34" charset="-122"/>
                <a:cs typeface="Calibri" pitchFamily="34" charset="-120"/>
              </a:rPr>
              <a:t>SECTION</a:t>
            </a:r>
            <a:endParaRPr lang="en-US" sz="900" dirty="0"/>
          </a:p>
        </p:txBody>
      </p:sp>
      <p:sp>
        <p:nvSpPr>
          <p:cNvPr id="5" name="Text 3"/>
          <p:cNvSpPr/>
          <p:nvPr/>
        </p:nvSpPr>
        <p:spPr>
          <a:xfrm>
            <a:off x="411480" y="2395728"/>
            <a:ext cx="6400800" cy="502920"/>
          </a:xfrm>
          <a:prstGeom prst="rect">
            <a:avLst/>
          </a:prstGeom>
          <a:noFill/>
          <a:ln/>
        </p:spPr>
        <p:txBody>
          <a:bodyPr wrap="square" lIns="0" tIns="0" rIns="0" bIns="0" rtlCol="0" anchor="ctr"/>
          <a:lstStyle/>
          <a:p>
            <a:pPr indent="0" marL="0">
              <a:buNone/>
            </a:pPr>
            <a:r>
              <a:rPr lang="en-US" sz="3600" b="1" dirty="0">
                <a:solidFill>
                  <a:srgbClr val="FFFFFF"/>
                </a:solidFill>
                <a:latin typeface="Garamond" pitchFamily="34" charset="0"/>
                <a:ea typeface="Garamond" pitchFamily="34" charset="-122"/>
                <a:cs typeface="Garamond" pitchFamily="34" charset="-120"/>
              </a:rPr>
              <a:t>Concentrated Stock</a:t>
            </a:r>
            <a:endParaRPr lang="en-US" sz="3600" dirty="0"/>
          </a:p>
          <a:p>
            <a:pPr indent="0" marL="0">
              <a:buNone/>
            </a:pPr>
            <a:r>
              <a:rPr lang="en-US" sz="3600" b="1" dirty="0">
                <a:solidFill>
                  <a:srgbClr val="FFFFFF"/>
                </a:solidFill>
                <a:latin typeface="Garamond" pitchFamily="34" charset="0"/>
                <a:ea typeface="Garamond" pitchFamily="34" charset="-122"/>
                <a:cs typeface="Garamond" pitchFamily="34" charset="-120"/>
              </a:rPr>
              <a:t>Strategies</a:t>
            </a:r>
            <a:endParaRPr lang="en-US" sz="3600" dirty="0"/>
          </a:p>
        </p:txBody>
      </p:sp>
      <p:sp>
        <p:nvSpPr>
          <p:cNvPr id="6" name="Text 4"/>
          <p:cNvSpPr/>
          <p:nvPr/>
        </p:nvSpPr>
        <p:spPr>
          <a:xfrm>
            <a:off x="411480" y="3621024"/>
            <a:ext cx="6400800" cy="365760"/>
          </a:xfrm>
          <a:prstGeom prst="rect">
            <a:avLst/>
          </a:prstGeom>
          <a:noFill/>
          <a:ln/>
        </p:spPr>
        <p:txBody>
          <a:bodyPr wrap="square" lIns="0" tIns="0" rIns="0" bIns="0" rtlCol="0" anchor="ctr"/>
          <a:lstStyle/>
          <a:p>
            <a:pPr indent="0" marL="0">
              <a:buNone/>
            </a:pPr>
            <a:r>
              <a:rPr lang="en-US" sz="1300" dirty="0">
                <a:solidFill>
                  <a:srgbClr val="A0B4C8"/>
                </a:solidFill>
                <a:latin typeface="Calibri" pitchFamily="34" charset="0"/>
                <a:ea typeface="Calibri" pitchFamily="34" charset="-122"/>
                <a:cs typeface="Calibri" pitchFamily="34" charset="-120"/>
              </a:rPr>
              <a:t>Charitable Remainder Unitrust · Tax-Loss Harvesting · Options Collar · Portfolio Transformation Roadmap.</a:t>
            </a:r>
            <a:endParaRPr lang="en-US" sz="1300" dirty="0"/>
          </a:p>
        </p:txBody>
      </p:sp>
      <p:pic>
        <p:nvPicPr>
          <p:cNvPr id="7" name="Image 0" descr="preencoded.png">    </p:cNvPr>
          <p:cNvPicPr>
            <a:picLocks noChangeAspect="1"/>
          </p:cNvPicPr>
          <p:nvPr/>
        </p:nvPicPr>
        <p:blipFill>
          <a:blip r:embed="rId1">
            <a:alphaModFix amt="30000"/>
          </a:blip>
          <a:stretch>
            <a:fillRect/>
          </a:stretch>
        </p:blipFill>
        <p:spPr>
          <a:xfrm>
            <a:off x="7132320" y="1645920"/>
            <a:ext cx="1371600" cy="13716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1B2A"/>
          </a:solidFill>
          <a:ln w="12700">
            <a:solidFill>
              <a:srgbClr val="0D1B2A"/>
            </a:solidFill>
            <a:prstDash val="solid"/>
          </a:ln>
        </p:spPr>
      </p:sp>
      <p:sp>
        <p:nvSpPr>
          <p:cNvPr id="3" name="Text 1"/>
          <p:cNvSpPr/>
          <p:nvPr/>
        </p:nvSpPr>
        <p:spPr>
          <a:xfrm>
            <a:off x="256032" y="274320"/>
            <a:ext cx="7315200" cy="201168"/>
          </a:xfrm>
          <a:prstGeom prst="rect">
            <a:avLst/>
          </a:prstGeom>
          <a:noFill/>
          <a:ln/>
        </p:spPr>
        <p:txBody>
          <a:bodyPr wrap="square" lIns="0" tIns="0" rIns="0" bIns="0" rtlCol="0" anchor="ctr"/>
          <a:lstStyle/>
          <a:p>
            <a:pPr indent="0" marL="0">
              <a:buNone/>
            </a:pPr>
            <a:r>
              <a:rPr lang="en-US" sz="900" b="1" spc="300" kern="0" dirty="0">
                <a:solidFill>
                  <a:srgbClr val="B5922E"/>
                </a:solidFill>
                <a:latin typeface="Calibri" pitchFamily="34" charset="0"/>
                <a:ea typeface="Calibri" pitchFamily="34" charset="-122"/>
                <a:cs typeface="Calibri" pitchFamily="34" charset="-120"/>
              </a:rPr>
              <a:t>SECTION 05 · CONCENTRATED STOCK</a:t>
            </a:r>
            <a:endParaRPr lang="en-US" sz="900" dirty="0"/>
          </a:p>
        </p:txBody>
      </p:sp>
      <p:sp>
        <p:nvSpPr>
          <p:cNvPr id="4" name="Text 2"/>
          <p:cNvSpPr/>
          <p:nvPr/>
        </p:nvSpPr>
        <p:spPr>
          <a:xfrm>
            <a:off x="256032" y="493776"/>
            <a:ext cx="8686800" cy="502920"/>
          </a:xfrm>
          <a:prstGeom prst="rect">
            <a:avLst/>
          </a:prstGeom>
          <a:noFill/>
          <a:ln/>
        </p:spPr>
        <p:txBody>
          <a:bodyPr wrap="square" lIns="0" tIns="0" rIns="0" bIns="0" rtlCol="0" anchor="ctr"/>
          <a:lstStyle/>
          <a:p>
            <a:pPr indent="0" marL="0">
              <a:buNone/>
            </a:pPr>
            <a:r>
              <a:rPr lang="en-US" sz="2200" b="1" dirty="0">
                <a:solidFill>
                  <a:srgbClr val="0D1B2A"/>
                </a:solidFill>
                <a:latin typeface="Garamond" pitchFamily="34" charset="0"/>
                <a:ea typeface="Garamond" pitchFamily="34" charset="-122"/>
                <a:cs typeface="Garamond" pitchFamily="34" charset="-120"/>
              </a:rPr>
              <a:t>Strategy 1: Charitable Remainder Unitrust (CRUT)</a:t>
            </a:r>
            <a:endParaRPr lang="en-US" sz="2200" dirty="0"/>
          </a:p>
        </p:txBody>
      </p:sp>
      <p:sp>
        <p:nvSpPr>
          <p:cNvPr id="5" name="Shape 3"/>
          <p:cNvSpPr/>
          <p:nvPr/>
        </p:nvSpPr>
        <p:spPr>
          <a:xfrm>
            <a:off x="256032" y="1005840"/>
            <a:ext cx="8686800" cy="804672"/>
          </a:xfrm>
          <a:prstGeom prst="rect">
            <a:avLst/>
          </a:prstGeom>
          <a:solidFill>
            <a:srgbClr val="F6F6F4"/>
          </a:solidFill>
          <a:ln w="9525">
            <a:solidFill>
              <a:srgbClr val="B5922E"/>
            </a:solidFill>
            <a:prstDash val="solid"/>
          </a:ln>
        </p:spPr>
      </p:sp>
      <p:sp>
        <p:nvSpPr>
          <p:cNvPr id="6" name="Shape 4"/>
          <p:cNvSpPr/>
          <p:nvPr/>
        </p:nvSpPr>
        <p:spPr>
          <a:xfrm>
            <a:off x="256032" y="1005840"/>
            <a:ext cx="54864" cy="804672"/>
          </a:xfrm>
          <a:prstGeom prst="rect">
            <a:avLst/>
          </a:prstGeom>
          <a:solidFill>
            <a:srgbClr val="B5922E"/>
          </a:solidFill>
          <a:ln w="12700">
            <a:solidFill>
              <a:srgbClr val="B5922E"/>
            </a:solidFill>
            <a:prstDash val="solid"/>
          </a:ln>
        </p:spPr>
      </p:sp>
      <p:sp>
        <p:nvSpPr>
          <p:cNvPr id="7" name="Text 5"/>
          <p:cNvSpPr/>
          <p:nvPr/>
        </p:nvSpPr>
        <p:spPr>
          <a:xfrm>
            <a:off x="420624" y="1078992"/>
            <a:ext cx="8412480" cy="658368"/>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Structure: Mr. Mercer contributes $15,000,000 of highly appreciated NVIDIA shares to a Charitable Remainder Unitrust. The trust liquidates the position without capital gain recognition, reinvests the full proceeds in a diversified portfolio, and distributes a fixed unitrust percentage annually to the Mercers for life. Upon the death of the surviving beneficiary, the remaining corpus passes to designated charitable organizations.</a:t>
            </a:r>
            <a:endParaRPr lang="en-US" sz="1000" dirty="0"/>
          </a:p>
        </p:txBody>
      </p:sp>
      <p:sp>
        <p:nvSpPr>
          <p:cNvPr id="8" name="Shape 6"/>
          <p:cNvSpPr/>
          <p:nvPr/>
        </p:nvSpPr>
        <p:spPr>
          <a:xfrm>
            <a:off x="256032" y="1956816"/>
            <a:ext cx="2029968" cy="1078992"/>
          </a:xfrm>
          <a:prstGeom prst="rect">
            <a:avLst/>
          </a:prstGeom>
          <a:solidFill>
            <a:srgbClr val="F6F6F4"/>
          </a:solidFill>
          <a:ln w="9525">
            <a:solidFill>
              <a:srgbClr val="DEDEDE"/>
            </a:solidFill>
            <a:prstDash val="solid"/>
          </a:ln>
          <a:effectLst>
            <a:outerShdw sx="100000" sy="100000" kx="0" ky="0" algn="bl" rotWithShape="0" blurRad="101600" dist="25400" dir="8100000">
              <a:srgbClr val="000000">
                <a:alpha val="6000"/>
              </a:srgbClr>
            </a:outerShdw>
          </a:effectLst>
        </p:spPr>
      </p:sp>
      <p:sp>
        <p:nvSpPr>
          <p:cNvPr id="9" name="Shape 7"/>
          <p:cNvSpPr/>
          <p:nvPr/>
        </p:nvSpPr>
        <p:spPr>
          <a:xfrm>
            <a:off x="256032" y="1956816"/>
            <a:ext cx="2029968" cy="41148"/>
          </a:xfrm>
          <a:prstGeom prst="rect">
            <a:avLst/>
          </a:prstGeom>
          <a:solidFill>
            <a:srgbClr val="B5922E"/>
          </a:solidFill>
          <a:ln w="12700">
            <a:solidFill>
              <a:srgbClr val="B5922E"/>
            </a:solidFill>
            <a:prstDash val="solid"/>
          </a:ln>
        </p:spPr>
      </p:sp>
      <p:sp>
        <p:nvSpPr>
          <p:cNvPr id="10" name="Text 8"/>
          <p:cNvSpPr/>
          <p:nvPr/>
        </p:nvSpPr>
        <p:spPr>
          <a:xfrm>
            <a:off x="420624" y="2121408"/>
            <a:ext cx="1700784" cy="182880"/>
          </a:xfrm>
          <a:prstGeom prst="rect">
            <a:avLst/>
          </a:prstGeom>
          <a:noFill/>
          <a:ln/>
        </p:spPr>
        <p:txBody>
          <a:bodyPr wrap="square" lIns="0" tIns="0" rIns="0" bIns="0" rtlCol="0" anchor="ctr"/>
          <a:lstStyle/>
          <a:p>
            <a:pPr indent="0" marL="0">
              <a:buNone/>
            </a:pPr>
            <a:r>
              <a:rPr lang="en-US" sz="850" b="1" spc="150" kern="0" dirty="0">
                <a:solidFill>
                  <a:srgbClr val="718096"/>
                </a:solidFill>
                <a:latin typeface="Calibri" pitchFamily="34" charset="0"/>
                <a:ea typeface="Calibri" pitchFamily="34" charset="-122"/>
                <a:cs typeface="Calibri" pitchFamily="34" charset="-120"/>
              </a:rPr>
              <a:t>CONTRIBUTION</a:t>
            </a:r>
            <a:endParaRPr lang="en-US" sz="850" dirty="0"/>
          </a:p>
        </p:txBody>
      </p:sp>
      <p:sp>
        <p:nvSpPr>
          <p:cNvPr id="11" name="Text 9"/>
          <p:cNvSpPr/>
          <p:nvPr/>
        </p:nvSpPr>
        <p:spPr>
          <a:xfrm>
            <a:off x="420624" y="2322576"/>
            <a:ext cx="1700784" cy="475488"/>
          </a:xfrm>
          <a:prstGeom prst="rect">
            <a:avLst/>
          </a:prstGeom>
          <a:noFill/>
          <a:ln/>
        </p:spPr>
        <p:txBody>
          <a:bodyPr wrap="square" lIns="0" tIns="0" rIns="0" bIns="0" rtlCol="0" anchor="ctr"/>
          <a:lstStyle/>
          <a:p>
            <a:pPr indent="0" marL="0">
              <a:buNone/>
            </a:pPr>
            <a:r>
              <a:rPr lang="en-US" sz="2000" b="1" dirty="0">
                <a:solidFill>
                  <a:srgbClr val="0D1B2A"/>
                </a:solidFill>
                <a:latin typeface="Garamond" pitchFamily="34" charset="0"/>
                <a:ea typeface="Garamond" pitchFamily="34" charset="-122"/>
                <a:cs typeface="Garamond" pitchFamily="34" charset="-120"/>
              </a:rPr>
              <a:t>$15,000,000</a:t>
            </a:r>
            <a:endParaRPr lang="en-US" sz="2000" dirty="0"/>
          </a:p>
        </p:txBody>
      </p:sp>
      <p:sp>
        <p:nvSpPr>
          <p:cNvPr id="12" name="Text 10"/>
          <p:cNvSpPr/>
          <p:nvPr/>
        </p:nvSpPr>
        <p:spPr>
          <a:xfrm>
            <a:off x="420624" y="2816352"/>
            <a:ext cx="1700784" cy="164592"/>
          </a:xfrm>
          <a:prstGeom prst="rect">
            <a:avLst/>
          </a:prstGeom>
          <a:noFill/>
          <a:ln/>
        </p:spPr>
        <p:txBody>
          <a:bodyPr wrap="square" lIns="0" tIns="0" rIns="0" bIns="0" rtlCol="0" anchor="ctr"/>
          <a:lstStyle/>
          <a:p>
            <a:pPr indent="0" marL="0">
              <a:buNone/>
            </a:pPr>
            <a:r>
              <a:rPr lang="en-US" sz="900" dirty="0">
                <a:solidFill>
                  <a:srgbClr val="718096"/>
                </a:solidFill>
                <a:latin typeface="Calibri" pitchFamily="34" charset="0"/>
                <a:ea typeface="Calibri" pitchFamily="34" charset="-122"/>
                <a:cs typeface="Calibri" pitchFamily="34" charset="-120"/>
              </a:rPr>
              <a:t>Appreciated NVDA stock</a:t>
            </a:r>
            <a:endParaRPr lang="en-US" sz="900" dirty="0"/>
          </a:p>
        </p:txBody>
      </p:sp>
      <p:sp>
        <p:nvSpPr>
          <p:cNvPr id="13" name="Shape 11"/>
          <p:cNvSpPr/>
          <p:nvPr/>
        </p:nvSpPr>
        <p:spPr>
          <a:xfrm>
            <a:off x="2468880" y="1956816"/>
            <a:ext cx="2029968" cy="1078992"/>
          </a:xfrm>
          <a:prstGeom prst="rect">
            <a:avLst/>
          </a:prstGeom>
          <a:solidFill>
            <a:srgbClr val="F6F6F4"/>
          </a:solidFill>
          <a:ln w="9525">
            <a:solidFill>
              <a:srgbClr val="DEDEDE"/>
            </a:solidFill>
            <a:prstDash val="solid"/>
          </a:ln>
          <a:effectLst>
            <a:outerShdw sx="100000" sy="100000" kx="0" ky="0" algn="bl" rotWithShape="0" blurRad="101600" dist="25400" dir="8100000">
              <a:srgbClr val="000000">
                <a:alpha val="6000"/>
              </a:srgbClr>
            </a:outerShdw>
          </a:effectLst>
        </p:spPr>
      </p:sp>
      <p:sp>
        <p:nvSpPr>
          <p:cNvPr id="14" name="Shape 12"/>
          <p:cNvSpPr/>
          <p:nvPr/>
        </p:nvSpPr>
        <p:spPr>
          <a:xfrm>
            <a:off x="2468880" y="1956816"/>
            <a:ext cx="2029968" cy="41148"/>
          </a:xfrm>
          <a:prstGeom prst="rect">
            <a:avLst/>
          </a:prstGeom>
          <a:solidFill>
            <a:srgbClr val="B5922E"/>
          </a:solidFill>
          <a:ln w="12700">
            <a:solidFill>
              <a:srgbClr val="B5922E"/>
            </a:solidFill>
            <a:prstDash val="solid"/>
          </a:ln>
        </p:spPr>
      </p:sp>
      <p:sp>
        <p:nvSpPr>
          <p:cNvPr id="15" name="Text 13"/>
          <p:cNvSpPr/>
          <p:nvPr/>
        </p:nvSpPr>
        <p:spPr>
          <a:xfrm>
            <a:off x="2633472" y="2121408"/>
            <a:ext cx="1700784" cy="182880"/>
          </a:xfrm>
          <a:prstGeom prst="rect">
            <a:avLst/>
          </a:prstGeom>
          <a:noFill/>
          <a:ln/>
        </p:spPr>
        <p:txBody>
          <a:bodyPr wrap="square" lIns="0" tIns="0" rIns="0" bIns="0" rtlCol="0" anchor="ctr"/>
          <a:lstStyle/>
          <a:p>
            <a:pPr indent="0" marL="0">
              <a:buNone/>
            </a:pPr>
            <a:r>
              <a:rPr lang="en-US" sz="850" b="1" spc="150" kern="0" dirty="0">
                <a:solidFill>
                  <a:srgbClr val="718096"/>
                </a:solidFill>
                <a:latin typeface="Calibri" pitchFamily="34" charset="0"/>
                <a:ea typeface="Calibri" pitchFamily="34" charset="-122"/>
                <a:cs typeface="Calibri" pitchFamily="34" charset="-120"/>
              </a:rPr>
              <a:t>PAYOUT RATE</a:t>
            </a:r>
            <a:endParaRPr lang="en-US" sz="850" dirty="0"/>
          </a:p>
        </p:txBody>
      </p:sp>
      <p:sp>
        <p:nvSpPr>
          <p:cNvPr id="16" name="Text 14"/>
          <p:cNvSpPr/>
          <p:nvPr/>
        </p:nvSpPr>
        <p:spPr>
          <a:xfrm>
            <a:off x="2633472" y="2322576"/>
            <a:ext cx="1700784" cy="475488"/>
          </a:xfrm>
          <a:prstGeom prst="rect">
            <a:avLst/>
          </a:prstGeom>
          <a:noFill/>
          <a:ln/>
        </p:spPr>
        <p:txBody>
          <a:bodyPr wrap="square" lIns="0" tIns="0" rIns="0" bIns="0" rtlCol="0" anchor="ctr"/>
          <a:lstStyle/>
          <a:p>
            <a:pPr indent="0" marL="0">
              <a:buNone/>
            </a:pPr>
            <a:r>
              <a:rPr lang="en-US" sz="2000" b="1" dirty="0">
                <a:solidFill>
                  <a:srgbClr val="0D1B2A"/>
                </a:solidFill>
                <a:latin typeface="Garamond" pitchFamily="34" charset="0"/>
                <a:ea typeface="Garamond" pitchFamily="34" charset="-122"/>
                <a:cs typeface="Garamond" pitchFamily="34" charset="-120"/>
              </a:rPr>
              <a:t>5%</a:t>
            </a:r>
            <a:endParaRPr lang="en-US" sz="2000" dirty="0"/>
          </a:p>
        </p:txBody>
      </p:sp>
      <p:sp>
        <p:nvSpPr>
          <p:cNvPr id="17" name="Text 15"/>
          <p:cNvSpPr/>
          <p:nvPr/>
        </p:nvSpPr>
        <p:spPr>
          <a:xfrm>
            <a:off x="2633472" y="2816352"/>
            <a:ext cx="1700784" cy="164592"/>
          </a:xfrm>
          <a:prstGeom prst="rect">
            <a:avLst/>
          </a:prstGeom>
          <a:noFill/>
          <a:ln/>
        </p:spPr>
        <p:txBody>
          <a:bodyPr wrap="square" lIns="0" tIns="0" rIns="0" bIns="0" rtlCol="0" anchor="ctr"/>
          <a:lstStyle/>
          <a:p>
            <a:pPr indent="0" marL="0">
              <a:buNone/>
            </a:pPr>
            <a:r>
              <a:rPr lang="en-US" sz="900" dirty="0">
                <a:solidFill>
                  <a:srgbClr val="718096"/>
                </a:solidFill>
                <a:latin typeface="Calibri" pitchFamily="34" charset="0"/>
                <a:ea typeface="Calibri" pitchFamily="34" charset="-122"/>
                <a:cs typeface="Calibri" pitchFamily="34" charset="-120"/>
              </a:rPr>
              <a:t>Annual unitrust rate</a:t>
            </a:r>
            <a:endParaRPr lang="en-US" sz="900" dirty="0"/>
          </a:p>
        </p:txBody>
      </p:sp>
      <p:sp>
        <p:nvSpPr>
          <p:cNvPr id="18" name="Shape 16"/>
          <p:cNvSpPr/>
          <p:nvPr/>
        </p:nvSpPr>
        <p:spPr>
          <a:xfrm>
            <a:off x="4681728" y="1956816"/>
            <a:ext cx="2029968" cy="1078992"/>
          </a:xfrm>
          <a:prstGeom prst="rect">
            <a:avLst/>
          </a:prstGeom>
          <a:solidFill>
            <a:srgbClr val="F6F6F4"/>
          </a:solidFill>
          <a:ln w="9525">
            <a:solidFill>
              <a:srgbClr val="DEDEDE"/>
            </a:solidFill>
            <a:prstDash val="solid"/>
          </a:ln>
          <a:effectLst>
            <a:outerShdw sx="100000" sy="100000" kx="0" ky="0" algn="bl" rotWithShape="0" blurRad="101600" dist="25400" dir="8100000">
              <a:srgbClr val="000000">
                <a:alpha val="6000"/>
              </a:srgbClr>
            </a:outerShdw>
          </a:effectLst>
        </p:spPr>
      </p:sp>
      <p:sp>
        <p:nvSpPr>
          <p:cNvPr id="19" name="Shape 17"/>
          <p:cNvSpPr/>
          <p:nvPr/>
        </p:nvSpPr>
        <p:spPr>
          <a:xfrm>
            <a:off x="4681728" y="1956816"/>
            <a:ext cx="2029968" cy="41148"/>
          </a:xfrm>
          <a:prstGeom prst="rect">
            <a:avLst/>
          </a:prstGeom>
          <a:solidFill>
            <a:srgbClr val="B5922E"/>
          </a:solidFill>
          <a:ln w="12700">
            <a:solidFill>
              <a:srgbClr val="B5922E"/>
            </a:solidFill>
            <a:prstDash val="solid"/>
          </a:ln>
        </p:spPr>
      </p:sp>
      <p:sp>
        <p:nvSpPr>
          <p:cNvPr id="20" name="Text 18"/>
          <p:cNvSpPr/>
          <p:nvPr/>
        </p:nvSpPr>
        <p:spPr>
          <a:xfrm>
            <a:off x="4846320" y="2121408"/>
            <a:ext cx="1700784" cy="182880"/>
          </a:xfrm>
          <a:prstGeom prst="rect">
            <a:avLst/>
          </a:prstGeom>
          <a:noFill/>
          <a:ln/>
        </p:spPr>
        <p:txBody>
          <a:bodyPr wrap="square" lIns="0" tIns="0" rIns="0" bIns="0" rtlCol="0" anchor="ctr"/>
          <a:lstStyle/>
          <a:p>
            <a:pPr indent="0" marL="0">
              <a:buNone/>
            </a:pPr>
            <a:r>
              <a:rPr lang="en-US" sz="850" b="1" spc="150" kern="0" dirty="0">
                <a:solidFill>
                  <a:srgbClr val="718096"/>
                </a:solidFill>
                <a:latin typeface="Calibri" pitchFamily="34" charset="0"/>
                <a:ea typeface="Calibri" pitchFamily="34" charset="-122"/>
                <a:cs typeface="Calibri" pitchFamily="34" charset="-120"/>
              </a:rPr>
              <a:t>YEAR 1 INCOME</a:t>
            </a:r>
            <a:endParaRPr lang="en-US" sz="850" dirty="0"/>
          </a:p>
        </p:txBody>
      </p:sp>
      <p:sp>
        <p:nvSpPr>
          <p:cNvPr id="21" name="Text 19"/>
          <p:cNvSpPr/>
          <p:nvPr/>
        </p:nvSpPr>
        <p:spPr>
          <a:xfrm>
            <a:off x="4846320" y="2322576"/>
            <a:ext cx="1700784" cy="475488"/>
          </a:xfrm>
          <a:prstGeom prst="rect">
            <a:avLst/>
          </a:prstGeom>
          <a:noFill/>
          <a:ln/>
        </p:spPr>
        <p:txBody>
          <a:bodyPr wrap="square" lIns="0" tIns="0" rIns="0" bIns="0" rtlCol="0" anchor="ctr"/>
          <a:lstStyle/>
          <a:p>
            <a:pPr indent="0" marL="0">
              <a:buNone/>
            </a:pPr>
            <a:r>
              <a:rPr lang="en-US" sz="2000" b="1" dirty="0">
                <a:solidFill>
                  <a:srgbClr val="0D1B2A"/>
                </a:solidFill>
                <a:latin typeface="Garamond" pitchFamily="34" charset="0"/>
                <a:ea typeface="Garamond" pitchFamily="34" charset="-122"/>
                <a:cs typeface="Garamond" pitchFamily="34" charset="-120"/>
              </a:rPr>
              <a:t>$750,000</a:t>
            </a:r>
            <a:endParaRPr lang="en-US" sz="2000" dirty="0"/>
          </a:p>
        </p:txBody>
      </p:sp>
      <p:sp>
        <p:nvSpPr>
          <p:cNvPr id="22" name="Text 20"/>
          <p:cNvSpPr/>
          <p:nvPr/>
        </p:nvSpPr>
        <p:spPr>
          <a:xfrm>
            <a:off x="4846320" y="2816352"/>
            <a:ext cx="1700784" cy="164592"/>
          </a:xfrm>
          <a:prstGeom prst="rect">
            <a:avLst/>
          </a:prstGeom>
          <a:noFill/>
          <a:ln/>
        </p:spPr>
        <p:txBody>
          <a:bodyPr wrap="square" lIns="0" tIns="0" rIns="0" bIns="0" rtlCol="0" anchor="ctr"/>
          <a:lstStyle/>
          <a:p>
            <a:pPr indent="0" marL="0">
              <a:buNone/>
            </a:pPr>
            <a:r>
              <a:rPr lang="en-US" sz="900" dirty="0">
                <a:solidFill>
                  <a:srgbClr val="718096"/>
                </a:solidFill>
                <a:latin typeface="Calibri" pitchFamily="34" charset="0"/>
                <a:ea typeface="Calibri" pitchFamily="34" charset="-122"/>
                <a:cs typeface="Calibri" pitchFamily="34" charset="-120"/>
              </a:rPr>
              <a:t>Estimated first payout</a:t>
            </a:r>
            <a:endParaRPr lang="en-US" sz="900" dirty="0"/>
          </a:p>
        </p:txBody>
      </p:sp>
      <p:sp>
        <p:nvSpPr>
          <p:cNvPr id="23" name="Shape 21"/>
          <p:cNvSpPr/>
          <p:nvPr/>
        </p:nvSpPr>
        <p:spPr>
          <a:xfrm>
            <a:off x="6894576" y="1956816"/>
            <a:ext cx="2029968" cy="1078992"/>
          </a:xfrm>
          <a:prstGeom prst="rect">
            <a:avLst/>
          </a:prstGeom>
          <a:solidFill>
            <a:srgbClr val="F6F6F4"/>
          </a:solidFill>
          <a:ln w="9525">
            <a:solidFill>
              <a:srgbClr val="DEDEDE"/>
            </a:solidFill>
            <a:prstDash val="solid"/>
          </a:ln>
          <a:effectLst>
            <a:outerShdw sx="100000" sy="100000" kx="0" ky="0" algn="bl" rotWithShape="0" blurRad="101600" dist="25400" dir="8100000">
              <a:srgbClr val="000000">
                <a:alpha val="6000"/>
              </a:srgbClr>
            </a:outerShdw>
          </a:effectLst>
        </p:spPr>
      </p:sp>
      <p:sp>
        <p:nvSpPr>
          <p:cNvPr id="24" name="Shape 22"/>
          <p:cNvSpPr/>
          <p:nvPr/>
        </p:nvSpPr>
        <p:spPr>
          <a:xfrm>
            <a:off x="6894576" y="1956816"/>
            <a:ext cx="2029968" cy="41148"/>
          </a:xfrm>
          <a:prstGeom prst="rect">
            <a:avLst/>
          </a:prstGeom>
          <a:solidFill>
            <a:srgbClr val="B5922E"/>
          </a:solidFill>
          <a:ln w="12700">
            <a:solidFill>
              <a:srgbClr val="B5922E"/>
            </a:solidFill>
            <a:prstDash val="solid"/>
          </a:ln>
        </p:spPr>
      </p:sp>
      <p:sp>
        <p:nvSpPr>
          <p:cNvPr id="25" name="Text 23"/>
          <p:cNvSpPr/>
          <p:nvPr/>
        </p:nvSpPr>
        <p:spPr>
          <a:xfrm>
            <a:off x="7059168" y="2121408"/>
            <a:ext cx="1700784" cy="182880"/>
          </a:xfrm>
          <a:prstGeom prst="rect">
            <a:avLst/>
          </a:prstGeom>
          <a:noFill/>
          <a:ln/>
        </p:spPr>
        <p:txBody>
          <a:bodyPr wrap="square" lIns="0" tIns="0" rIns="0" bIns="0" rtlCol="0" anchor="ctr"/>
          <a:lstStyle/>
          <a:p>
            <a:pPr indent="0" marL="0">
              <a:buNone/>
            </a:pPr>
            <a:r>
              <a:rPr lang="en-US" sz="850" b="1" spc="150" kern="0" dirty="0">
                <a:solidFill>
                  <a:srgbClr val="718096"/>
                </a:solidFill>
                <a:latin typeface="Calibri" pitchFamily="34" charset="0"/>
                <a:ea typeface="Calibri" pitchFamily="34" charset="-122"/>
                <a:cs typeface="Calibri" pitchFamily="34" charset="-120"/>
              </a:rPr>
              <a:t>TAX DEFERRED</a:t>
            </a:r>
            <a:endParaRPr lang="en-US" sz="850" dirty="0"/>
          </a:p>
        </p:txBody>
      </p:sp>
      <p:sp>
        <p:nvSpPr>
          <p:cNvPr id="26" name="Text 24"/>
          <p:cNvSpPr/>
          <p:nvPr/>
        </p:nvSpPr>
        <p:spPr>
          <a:xfrm>
            <a:off x="7059168" y="2322576"/>
            <a:ext cx="1700784" cy="475488"/>
          </a:xfrm>
          <a:prstGeom prst="rect">
            <a:avLst/>
          </a:prstGeom>
          <a:noFill/>
          <a:ln/>
        </p:spPr>
        <p:txBody>
          <a:bodyPr wrap="square" lIns="0" tIns="0" rIns="0" bIns="0" rtlCol="0" anchor="ctr"/>
          <a:lstStyle/>
          <a:p>
            <a:pPr indent="0" marL="0">
              <a:buNone/>
            </a:pPr>
            <a:r>
              <a:rPr lang="en-US" sz="2000" b="1" dirty="0">
                <a:solidFill>
                  <a:srgbClr val="0D1B2A"/>
                </a:solidFill>
                <a:latin typeface="Garamond" pitchFamily="34" charset="0"/>
                <a:ea typeface="Garamond" pitchFamily="34" charset="-122"/>
                <a:cs typeface="Garamond" pitchFamily="34" charset="-120"/>
              </a:rPr>
              <a:t>~$3,570,000</a:t>
            </a:r>
            <a:endParaRPr lang="en-US" sz="2000" dirty="0"/>
          </a:p>
        </p:txBody>
      </p:sp>
      <p:sp>
        <p:nvSpPr>
          <p:cNvPr id="27" name="Text 25"/>
          <p:cNvSpPr/>
          <p:nvPr/>
        </p:nvSpPr>
        <p:spPr>
          <a:xfrm>
            <a:off x="7059168" y="2816352"/>
            <a:ext cx="1700784" cy="164592"/>
          </a:xfrm>
          <a:prstGeom prst="rect">
            <a:avLst/>
          </a:prstGeom>
          <a:noFill/>
          <a:ln/>
        </p:spPr>
        <p:txBody>
          <a:bodyPr wrap="square" lIns="0" tIns="0" rIns="0" bIns="0" rtlCol="0" anchor="ctr"/>
          <a:lstStyle/>
          <a:p>
            <a:pPr indent="0" marL="0">
              <a:buNone/>
            </a:pPr>
            <a:r>
              <a:rPr lang="en-US" sz="900" dirty="0">
                <a:solidFill>
                  <a:srgbClr val="718096"/>
                </a:solidFill>
                <a:latin typeface="Calibri" pitchFamily="34" charset="0"/>
                <a:ea typeface="Calibri" pitchFamily="34" charset="-122"/>
                <a:cs typeface="Calibri" pitchFamily="34" charset="-120"/>
              </a:rPr>
              <a:t>23.8% LTCG avoided on $15M</a:t>
            </a:r>
            <a:endParaRPr lang="en-US" sz="900" dirty="0"/>
          </a:p>
        </p:txBody>
      </p:sp>
      <p:sp>
        <p:nvSpPr>
          <p:cNvPr id="28" name="Text 26"/>
          <p:cNvSpPr/>
          <p:nvPr/>
        </p:nvSpPr>
        <p:spPr>
          <a:xfrm>
            <a:off x="256032" y="3200400"/>
            <a:ext cx="8686800" cy="164592"/>
          </a:xfrm>
          <a:prstGeom prst="rect">
            <a:avLst/>
          </a:prstGeom>
          <a:noFill/>
          <a:ln/>
        </p:spPr>
        <p:txBody>
          <a:bodyPr wrap="square" lIns="0" tIns="0" rIns="0" bIns="0" rtlCol="0" anchor="ctr"/>
          <a:lstStyle/>
          <a:p>
            <a:pPr indent="0" marL="0">
              <a:buNone/>
            </a:pPr>
            <a:r>
              <a:rPr lang="en-US" sz="850" b="1" spc="200" kern="0" dirty="0">
                <a:solidFill>
                  <a:srgbClr val="B5922E"/>
                </a:solidFill>
                <a:latin typeface="Calibri" pitchFamily="34" charset="0"/>
                <a:ea typeface="Calibri" pitchFamily="34" charset="-122"/>
                <a:cs typeface="Calibri" pitchFamily="34" charset="-120"/>
              </a:rPr>
              <a:t>KEY BENEFITS</a:t>
            </a:r>
            <a:endParaRPr lang="en-US" sz="850" dirty="0"/>
          </a:p>
        </p:txBody>
      </p:sp>
      <p:pic>
        <p:nvPicPr>
          <p:cNvPr id="29" name="Image 0" descr="preencoded.png">    </p:cNvPr>
          <p:cNvPicPr>
            <a:picLocks noChangeAspect="1"/>
          </p:cNvPicPr>
          <p:nvPr/>
        </p:nvPicPr>
        <p:blipFill>
          <a:blip r:embed="rId1"/>
          <a:stretch>
            <a:fillRect/>
          </a:stretch>
        </p:blipFill>
        <p:spPr>
          <a:xfrm>
            <a:off x="256032" y="3429000"/>
            <a:ext cx="237744" cy="237744"/>
          </a:xfrm>
          <a:prstGeom prst="rect">
            <a:avLst/>
          </a:prstGeom>
        </p:spPr>
      </p:pic>
      <p:sp>
        <p:nvSpPr>
          <p:cNvPr id="30" name="Text 27"/>
          <p:cNvSpPr/>
          <p:nvPr/>
        </p:nvSpPr>
        <p:spPr>
          <a:xfrm>
            <a:off x="566928" y="3419856"/>
            <a:ext cx="8321040" cy="274320"/>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No immediate capital gains tax on $15M of appreciated NVIDIA stock</a:t>
            </a:r>
            <a:endParaRPr lang="en-US" sz="1000" dirty="0"/>
          </a:p>
        </p:txBody>
      </p:sp>
      <p:pic>
        <p:nvPicPr>
          <p:cNvPr id="31" name="Image 1" descr="preencoded.png">    </p:cNvPr>
          <p:cNvPicPr>
            <a:picLocks noChangeAspect="1"/>
          </p:cNvPicPr>
          <p:nvPr/>
        </p:nvPicPr>
        <p:blipFill>
          <a:blip r:embed="rId2"/>
          <a:stretch>
            <a:fillRect/>
          </a:stretch>
        </p:blipFill>
        <p:spPr>
          <a:xfrm>
            <a:off x="256032" y="3758184"/>
            <a:ext cx="237744" cy="237744"/>
          </a:xfrm>
          <a:prstGeom prst="rect">
            <a:avLst/>
          </a:prstGeom>
        </p:spPr>
      </p:pic>
      <p:sp>
        <p:nvSpPr>
          <p:cNvPr id="32" name="Text 28"/>
          <p:cNvSpPr/>
          <p:nvPr/>
        </p:nvSpPr>
        <p:spPr>
          <a:xfrm>
            <a:off x="566928" y="3749040"/>
            <a:ext cx="8321040" cy="274320"/>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Full $15M reinvested and diversified — 32% of concentration addressed in one transaction</a:t>
            </a:r>
            <a:endParaRPr lang="en-US" sz="1000" dirty="0"/>
          </a:p>
        </p:txBody>
      </p:sp>
      <p:pic>
        <p:nvPicPr>
          <p:cNvPr id="33" name="Image 2" descr="preencoded.png">    </p:cNvPr>
          <p:cNvPicPr>
            <a:picLocks noChangeAspect="1"/>
          </p:cNvPicPr>
          <p:nvPr/>
        </p:nvPicPr>
        <p:blipFill>
          <a:blip r:embed="rId3"/>
          <a:stretch>
            <a:fillRect/>
          </a:stretch>
        </p:blipFill>
        <p:spPr>
          <a:xfrm>
            <a:off x="256032" y="4087368"/>
            <a:ext cx="237744" cy="237744"/>
          </a:xfrm>
          <a:prstGeom prst="rect">
            <a:avLst/>
          </a:prstGeom>
        </p:spPr>
      </p:pic>
      <p:sp>
        <p:nvSpPr>
          <p:cNvPr id="34" name="Text 29"/>
          <p:cNvSpPr/>
          <p:nvPr/>
        </p:nvSpPr>
        <p:spPr>
          <a:xfrm>
            <a:off x="566928" y="4078224"/>
            <a:ext cx="8321040" cy="274320"/>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Creates $750,000+ annual income stream for Daniel and Claire for life</a:t>
            </a:r>
            <a:endParaRPr lang="en-US" sz="1000" dirty="0"/>
          </a:p>
        </p:txBody>
      </p:sp>
      <p:pic>
        <p:nvPicPr>
          <p:cNvPr id="35" name="Image 3" descr="preencoded.png">    </p:cNvPr>
          <p:cNvPicPr>
            <a:picLocks noChangeAspect="1"/>
          </p:cNvPicPr>
          <p:nvPr/>
        </p:nvPicPr>
        <p:blipFill>
          <a:blip r:embed="rId4"/>
          <a:stretch>
            <a:fillRect/>
          </a:stretch>
        </p:blipFill>
        <p:spPr>
          <a:xfrm>
            <a:off x="256032" y="4416552"/>
            <a:ext cx="237744" cy="237744"/>
          </a:xfrm>
          <a:prstGeom prst="rect">
            <a:avLst/>
          </a:prstGeom>
        </p:spPr>
      </p:pic>
      <p:sp>
        <p:nvSpPr>
          <p:cNvPr id="36" name="Text 30"/>
          <p:cNvSpPr/>
          <p:nvPr/>
        </p:nvSpPr>
        <p:spPr>
          <a:xfrm>
            <a:off x="566928" y="4407408"/>
            <a:ext cx="8321040" cy="274320"/>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Charitable income tax deduction at time of contribution</a:t>
            </a:r>
            <a:endParaRPr lang="en-US" sz="1000" dirty="0"/>
          </a:p>
        </p:txBody>
      </p:sp>
      <p:pic>
        <p:nvPicPr>
          <p:cNvPr id="37" name="Image 4" descr="preencoded.png">    </p:cNvPr>
          <p:cNvPicPr>
            <a:picLocks noChangeAspect="1"/>
          </p:cNvPicPr>
          <p:nvPr/>
        </p:nvPicPr>
        <p:blipFill>
          <a:blip r:embed="rId5"/>
          <a:stretch>
            <a:fillRect/>
          </a:stretch>
        </p:blipFill>
        <p:spPr>
          <a:xfrm>
            <a:off x="256032" y="4745736"/>
            <a:ext cx="237744" cy="237744"/>
          </a:xfrm>
          <a:prstGeom prst="rect">
            <a:avLst/>
          </a:prstGeom>
        </p:spPr>
      </p:pic>
      <p:sp>
        <p:nvSpPr>
          <p:cNvPr id="38" name="Text 31"/>
          <p:cNvSpPr/>
          <p:nvPr/>
        </p:nvSpPr>
        <p:spPr>
          <a:xfrm>
            <a:off x="566928" y="4736592"/>
            <a:ext cx="8321040" cy="274320"/>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Aligns with Claire's STEM and medical research philanthropic goals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1B2A"/>
          </a:solidFill>
          <a:ln w="12700">
            <a:solidFill>
              <a:srgbClr val="0D1B2A"/>
            </a:solidFill>
            <a:prstDash val="solid"/>
          </a:ln>
        </p:spPr>
      </p:sp>
      <p:sp>
        <p:nvSpPr>
          <p:cNvPr id="3" name="Text 1"/>
          <p:cNvSpPr/>
          <p:nvPr/>
        </p:nvSpPr>
        <p:spPr>
          <a:xfrm>
            <a:off x="256032" y="274320"/>
            <a:ext cx="7315200" cy="201168"/>
          </a:xfrm>
          <a:prstGeom prst="rect">
            <a:avLst/>
          </a:prstGeom>
          <a:noFill/>
          <a:ln/>
        </p:spPr>
        <p:txBody>
          <a:bodyPr wrap="square" lIns="0" tIns="0" rIns="0" bIns="0" rtlCol="0" anchor="ctr"/>
          <a:lstStyle/>
          <a:p>
            <a:pPr indent="0" marL="0">
              <a:buNone/>
            </a:pPr>
            <a:r>
              <a:rPr lang="en-US" sz="900" b="1" spc="300" kern="0" dirty="0">
                <a:solidFill>
                  <a:srgbClr val="B5922E"/>
                </a:solidFill>
                <a:latin typeface="Calibri" pitchFamily="34" charset="0"/>
                <a:ea typeface="Calibri" pitchFamily="34" charset="-122"/>
                <a:cs typeface="Calibri" pitchFamily="34" charset="-120"/>
              </a:rPr>
              <a:t>SECTION 05 · CONCENTRATED STOCK</a:t>
            </a:r>
            <a:endParaRPr lang="en-US" sz="900" dirty="0"/>
          </a:p>
        </p:txBody>
      </p:sp>
      <p:sp>
        <p:nvSpPr>
          <p:cNvPr id="4" name="Text 2"/>
          <p:cNvSpPr/>
          <p:nvPr/>
        </p:nvSpPr>
        <p:spPr>
          <a:xfrm>
            <a:off x="256032" y="493776"/>
            <a:ext cx="8686800" cy="502920"/>
          </a:xfrm>
          <a:prstGeom prst="rect">
            <a:avLst/>
          </a:prstGeom>
          <a:noFill/>
          <a:ln/>
        </p:spPr>
        <p:txBody>
          <a:bodyPr wrap="square" lIns="0" tIns="0" rIns="0" bIns="0" rtlCol="0" anchor="ctr"/>
          <a:lstStyle/>
          <a:p>
            <a:pPr indent="0" marL="0">
              <a:buNone/>
            </a:pPr>
            <a:r>
              <a:rPr lang="en-US" sz="2200" b="1" dirty="0">
                <a:solidFill>
                  <a:srgbClr val="0D1B2A"/>
                </a:solidFill>
                <a:latin typeface="Garamond" pitchFamily="34" charset="0"/>
                <a:ea typeface="Garamond" pitchFamily="34" charset="-122"/>
                <a:cs typeface="Garamond" pitchFamily="34" charset="-120"/>
              </a:rPr>
              <a:t>Strategy 2: Leveraged Tax-Loss Harvesting / 130-30</a:t>
            </a:r>
            <a:endParaRPr lang="en-US" sz="2200" dirty="0"/>
          </a:p>
        </p:txBody>
      </p:sp>
      <p:sp>
        <p:nvSpPr>
          <p:cNvPr id="5" name="Shape 3"/>
          <p:cNvSpPr/>
          <p:nvPr/>
        </p:nvSpPr>
        <p:spPr>
          <a:xfrm>
            <a:off x="256032" y="1005840"/>
            <a:ext cx="8686800" cy="804672"/>
          </a:xfrm>
          <a:prstGeom prst="rect">
            <a:avLst/>
          </a:prstGeom>
          <a:solidFill>
            <a:srgbClr val="F6F6F4"/>
          </a:solidFill>
          <a:ln w="9525">
            <a:solidFill>
              <a:srgbClr val="B5922E"/>
            </a:solidFill>
            <a:prstDash val="solid"/>
          </a:ln>
        </p:spPr>
      </p:sp>
      <p:sp>
        <p:nvSpPr>
          <p:cNvPr id="6" name="Shape 4"/>
          <p:cNvSpPr/>
          <p:nvPr/>
        </p:nvSpPr>
        <p:spPr>
          <a:xfrm>
            <a:off x="256032" y="1005840"/>
            <a:ext cx="54864" cy="804672"/>
          </a:xfrm>
          <a:prstGeom prst="rect">
            <a:avLst/>
          </a:prstGeom>
          <a:solidFill>
            <a:srgbClr val="B5922E"/>
          </a:solidFill>
          <a:ln w="12700">
            <a:solidFill>
              <a:srgbClr val="B5922E"/>
            </a:solidFill>
            <a:prstDash val="solid"/>
          </a:ln>
        </p:spPr>
      </p:sp>
      <p:sp>
        <p:nvSpPr>
          <p:cNvPr id="7" name="Text 5"/>
          <p:cNvSpPr/>
          <p:nvPr/>
        </p:nvSpPr>
        <p:spPr>
          <a:xfrm>
            <a:off x="420624" y="1078992"/>
            <a:ext cx="8412480" cy="658368"/>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Structure: The 130/30 strategy maintains 130% long exposure offset by 30% short exposure at a net 100% market position. The short book is systematically harvested for realized losses, which are applied against capital gains recognized through the annual NVIDIA disposition program — materially reducing the household's net capital gains tax liability.</a:t>
            </a:r>
            <a:endParaRPr lang="en-US" sz="1000" dirty="0"/>
          </a:p>
        </p:txBody>
      </p:sp>
      <p:graphicFrame>
        <p:nvGraphicFramePr>
          <p:cNvPr id="8" name="Chart 0" descr=""/>
          <p:cNvGraphicFramePr/>
          <p:nvPr/>
        </p:nvGraphicFramePr>
        <p:xfrm>
          <a:off x="256032" y="1920240"/>
          <a:ext cx="5120640" cy="2889504"/>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5577840" y="1920240"/>
            <a:ext cx="1060704" cy="950976"/>
          </a:xfrm>
          <a:prstGeom prst="rect">
            <a:avLst/>
          </a:prstGeom>
          <a:solidFill>
            <a:srgbClr val="718096"/>
          </a:solidFill>
          <a:ln w="9525">
            <a:solidFill>
              <a:srgbClr val="DEDEDE"/>
            </a:solidFill>
            <a:prstDash val="solid"/>
          </a:ln>
        </p:spPr>
      </p:sp>
      <p:sp>
        <p:nvSpPr>
          <p:cNvPr id="10" name="Text 7"/>
          <p:cNvSpPr/>
          <p:nvPr/>
        </p:nvSpPr>
        <p:spPr>
          <a:xfrm>
            <a:off x="5650992" y="1993392"/>
            <a:ext cx="914400" cy="182880"/>
          </a:xfrm>
          <a:prstGeom prst="rect">
            <a:avLst/>
          </a:prstGeom>
          <a:noFill/>
          <a:ln/>
        </p:spPr>
        <p:txBody>
          <a:bodyPr wrap="square" lIns="0" tIns="0" rIns="0" bIns="0" rtlCol="0" anchor="ctr"/>
          <a:lstStyle/>
          <a:p>
            <a:pPr indent="0" marL="0">
              <a:buNone/>
            </a:pPr>
            <a:r>
              <a:rPr lang="en-US" sz="800" b="1" spc="100" kern="0" dirty="0">
                <a:solidFill>
                  <a:srgbClr val="FFFFFF"/>
                </a:solidFill>
                <a:latin typeface="Calibri" pitchFamily="34" charset="0"/>
                <a:ea typeface="Calibri" pitchFamily="34" charset="-122"/>
                <a:cs typeface="Calibri" pitchFamily="34" charset="-120"/>
              </a:rPr>
              <a:t>LONG ONLY</a:t>
            </a:r>
            <a:endParaRPr lang="en-US" sz="800" dirty="0"/>
          </a:p>
        </p:txBody>
      </p:sp>
      <p:sp>
        <p:nvSpPr>
          <p:cNvPr id="11" name="Text 8"/>
          <p:cNvSpPr/>
          <p:nvPr/>
        </p:nvSpPr>
        <p:spPr>
          <a:xfrm>
            <a:off x="5650992" y="2194560"/>
            <a:ext cx="914400" cy="347472"/>
          </a:xfrm>
          <a:prstGeom prst="rect">
            <a:avLst/>
          </a:prstGeom>
          <a:noFill/>
          <a:ln/>
        </p:spPr>
        <p:txBody>
          <a:bodyPr wrap="square" lIns="0" tIns="0" rIns="0" bIns="0" rtlCol="0" anchor="ctr"/>
          <a:lstStyle/>
          <a:p>
            <a:pPr indent="0" marL="0">
              <a:buNone/>
            </a:pPr>
            <a:r>
              <a:rPr lang="en-US" sz="1600" b="1" dirty="0">
                <a:solidFill>
                  <a:srgbClr val="FFFFFF"/>
                </a:solidFill>
                <a:latin typeface="Garamond" pitchFamily="34" charset="0"/>
                <a:ea typeface="Garamond" pitchFamily="34" charset="-122"/>
                <a:cs typeface="Garamond" pitchFamily="34" charset="-120"/>
              </a:rPr>
              <a:t>$30.4M</a:t>
            </a:r>
            <a:endParaRPr lang="en-US" sz="1600" dirty="0"/>
          </a:p>
        </p:txBody>
      </p:sp>
      <p:sp>
        <p:nvSpPr>
          <p:cNvPr id="12" name="Text 9"/>
          <p:cNvSpPr/>
          <p:nvPr/>
        </p:nvSpPr>
        <p:spPr>
          <a:xfrm>
            <a:off x="5650992" y="2560320"/>
            <a:ext cx="914400" cy="182880"/>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after-tax value</a:t>
            </a:r>
            <a:endParaRPr lang="en-US" sz="800" dirty="0"/>
          </a:p>
        </p:txBody>
      </p:sp>
      <p:sp>
        <p:nvSpPr>
          <p:cNvPr id="13" name="Shape 10"/>
          <p:cNvSpPr/>
          <p:nvPr/>
        </p:nvSpPr>
        <p:spPr>
          <a:xfrm>
            <a:off x="6711696" y="1920240"/>
            <a:ext cx="1060704" cy="950976"/>
          </a:xfrm>
          <a:prstGeom prst="rect">
            <a:avLst/>
          </a:prstGeom>
          <a:solidFill>
            <a:srgbClr val="F5F0E6"/>
          </a:solidFill>
          <a:ln w="9525">
            <a:solidFill>
              <a:srgbClr val="DEDEDE"/>
            </a:solidFill>
            <a:prstDash val="solid"/>
          </a:ln>
        </p:spPr>
      </p:sp>
      <p:sp>
        <p:nvSpPr>
          <p:cNvPr id="14" name="Text 11"/>
          <p:cNvSpPr/>
          <p:nvPr/>
        </p:nvSpPr>
        <p:spPr>
          <a:xfrm>
            <a:off x="6784848" y="1993392"/>
            <a:ext cx="914400" cy="182880"/>
          </a:xfrm>
          <a:prstGeom prst="rect">
            <a:avLst/>
          </a:prstGeom>
          <a:noFill/>
          <a:ln/>
        </p:spPr>
        <p:txBody>
          <a:bodyPr wrap="square" lIns="0" tIns="0" rIns="0" bIns="0" rtlCol="0" anchor="ctr"/>
          <a:lstStyle/>
          <a:p>
            <a:pPr indent="0" marL="0">
              <a:buNone/>
            </a:pPr>
            <a:r>
              <a:rPr lang="en-US" sz="800" b="1" spc="100" kern="0" dirty="0">
                <a:solidFill>
                  <a:srgbClr val="B5922E"/>
                </a:solidFill>
                <a:latin typeface="Calibri" pitchFamily="34" charset="0"/>
                <a:ea typeface="Calibri" pitchFamily="34" charset="-122"/>
                <a:cs typeface="Calibri" pitchFamily="34" charset="-120"/>
              </a:rPr>
              <a:t>130/20</a:t>
            </a:r>
            <a:endParaRPr lang="en-US" sz="800" dirty="0"/>
          </a:p>
        </p:txBody>
      </p:sp>
      <p:sp>
        <p:nvSpPr>
          <p:cNvPr id="15" name="Text 12"/>
          <p:cNvSpPr/>
          <p:nvPr/>
        </p:nvSpPr>
        <p:spPr>
          <a:xfrm>
            <a:off x="6784848" y="2194560"/>
            <a:ext cx="914400" cy="347472"/>
          </a:xfrm>
          <a:prstGeom prst="rect">
            <a:avLst/>
          </a:prstGeom>
          <a:noFill/>
          <a:ln/>
        </p:spPr>
        <p:txBody>
          <a:bodyPr wrap="square" lIns="0" tIns="0" rIns="0" bIns="0" rtlCol="0" anchor="ctr"/>
          <a:lstStyle/>
          <a:p>
            <a:pPr indent="0" marL="0">
              <a:buNone/>
            </a:pPr>
            <a:r>
              <a:rPr lang="en-US" sz="1600" b="1" dirty="0">
                <a:solidFill>
                  <a:srgbClr val="B5922E"/>
                </a:solidFill>
                <a:latin typeface="Garamond" pitchFamily="34" charset="0"/>
                <a:ea typeface="Garamond" pitchFamily="34" charset="-122"/>
                <a:cs typeface="Garamond" pitchFamily="34" charset="-120"/>
              </a:rPr>
              <a:t>$32.5M</a:t>
            </a:r>
            <a:endParaRPr lang="en-US" sz="1600" dirty="0"/>
          </a:p>
        </p:txBody>
      </p:sp>
      <p:sp>
        <p:nvSpPr>
          <p:cNvPr id="16" name="Text 13"/>
          <p:cNvSpPr/>
          <p:nvPr/>
        </p:nvSpPr>
        <p:spPr>
          <a:xfrm>
            <a:off x="6784848" y="2560320"/>
            <a:ext cx="914400" cy="182880"/>
          </a:xfrm>
          <a:prstGeom prst="rect">
            <a:avLst/>
          </a:prstGeom>
          <a:noFill/>
          <a:ln/>
        </p:spPr>
        <p:txBody>
          <a:bodyPr wrap="square" lIns="0" tIns="0" rIns="0" bIns="0" rtlCol="0" anchor="ctr"/>
          <a:lstStyle/>
          <a:p>
            <a:pPr indent="0" marL="0">
              <a:buNone/>
            </a:pPr>
            <a:r>
              <a:rPr lang="en-US" sz="800" dirty="0">
                <a:solidFill>
                  <a:srgbClr val="B5922E"/>
                </a:solidFill>
                <a:latin typeface="Calibri" pitchFamily="34" charset="0"/>
                <a:ea typeface="Calibri" pitchFamily="34" charset="-122"/>
                <a:cs typeface="Calibri" pitchFamily="34" charset="-120"/>
              </a:rPr>
              <a:t>after-tax value</a:t>
            </a:r>
            <a:endParaRPr lang="en-US" sz="800" dirty="0"/>
          </a:p>
        </p:txBody>
      </p:sp>
      <p:sp>
        <p:nvSpPr>
          <p:cNvPr id="17" name="Shape 14"/>
          <p:cNvSpPr/>
          <p:nvPr/>
        </p:nvSpPr>
        <p:spPr>
          <a:xfrm>
            <a:off x="7845552" y="1920240"/>
            <a:ext cx="1060704" cy="950976"/>
          </a:xfrm>
          <a:prstGeom prst="rect">
            <a:avLst/>
          </a:prstGeom>
          <a:solidFill>
            <a:srgbClr val="0D1B2A"/>
          </a:solidFill>
          <a:ln w="9525">
            <a:solidFill>
              <a:srgbClr val="DEDEDE"/>
            </a:solidFill>
            <a:prstDash val="solid"/>
          </a:ln>
        </p:spPr>
      </p:sp>
      <p:sp>
        <p:nvSpPr>
          <p:cNvPr id="18" name="Text 15"/>
          <p:cNvSpPr/>
          <p:nvPr/>
        </p:nvSpPr>
        <p:spPr>
          <a:xfrm>
            <a:off x="7918704" y="1993392"/>
            <a:ext cx="914400" cy="182880"/>
          </a:xfrm>
          <a:prstGeom prst="rect">
            <a:avLst/>
          </a:prstGeom>
          <a:noFill/>
          <a:ln/>
        </p:spPr>
        <p:txBody>
          <a:bodyPr wrap="square" lIns="0" tIns="0" rIns="0" bIns="0" rtlCol="0" anchor="ctr"/>
          <a:lstStyle/>
          <a:p>
            <a:pPr indent="0" marL="0">
              <a:buNone/>
            </a:pPr>
            <a:r>
              <a:rPr lang="en-US" sz="800" b="1" spc="100" kern="0" dirty="0">
                <a:solidFill>
                  <a:srgbClr val="B5922E"/>
                </a:solidFill>
                <a:latin typeface="Calibri" pitchFamily="34" charset="0"/>
                <a:ea typeface="Calibri" pitchFamily="34" charset="-122"/>
                <a:cs typeface="Calibri" pitchFamily="34" charset="-120"/>
              </a:rPr>
              <a:t>130/30</a:t>
            </a:r>
            <a:endParaRPr lang="en-US" sz="800" dirty="0"/>
          </a:p>
        </p:txBody>
      </p:sp>
      <p:sp>
        <p:nvSpPr>
          <p:cNvPr id="19" name="Text 16"/>
          <p:cNvSpPr/>
          <p:nvPr/>
        </p:nvSpPr>
        <p:spPr>
          <a:xfrm>
            <a:off x="7918704" y="2194560"/>
            <a:ext cx="914400" cy="347472"/>
          </a:xfrm>
          <a:prstGeom prst="rect">
            <a:avLst/>
          </a:prstGeom>
          <a:noFill/>
          <a:ln/>
        </p:spPr>
        <p:txBody>
          <a:bodyPr wrap="square" lIns="0" tIns="0" rIns="0" bIns="0" rtlCol="0" anchor="ctr"/>
          <a:lstStyle/>
          <a:p>
            <a:pPr indent="0" marL="0">
              <a:buNone/>
            </a:pPr>
            <a:r>
              <a:rPr lang="en-US" sz="1600" b="1" dirty="0">
                <a:solidFill>
                  <a:srgbClr val="B5922E"/>
                </a:solidFill>
                <a:latin typeface="Garamond" pitchFamily="34" charset="0"/>
                <a:ea typeface="Garamond" pitchFamily="34" charset="-122"/>
                <a:cs typeface="Garamond" pitchFamily="34" charset="-120"/>
              </a:rPr>
              <a:t>$34.3M</a:t>
            </a:r>
            <a:endParaRPr lang="en-US" sz="1600" dirty="0"/>
          </a:p>
        </p:txBody>
      </p:sp>
      <p:sp>
        <p:nvSpPr>
          <p:cNvPr id="20" name="Text 17"/>
          <p:cNvSpPr/>
          <p:nvPr/>
        </p:nvSpPr>
        <p:spPr>
          <a:xfrm>
            <a:off x="7918704" y="2560320"/>
            <a:ext cx="914400" cy="182880"/>
          </a:xfrm>
          <a:prstGeom prst="rect">
            <a:avLst/>
          </a:prstGeom>
          <a:noFill/>
          <a:ln/>
        </p:spPr>
        <p:txBody>
          <a:bodyPr wrap="square" lIns="0" tIns="0" rIns="0" bIns="0" rtlCol="0" anchor="ctr"/>
          <a:lstStyle/>
          <a:p>
            <a:pPr indent="0" marL="0">
              <a:buNone/>
            </a:pPr>
            <a:r>
              <a:rPr lang="en-US" sz="800" dirty="0">
                <a:solidFill>
                  <a:srgbClr val="B5922E"/>
                </a:solidFill>
                <a:latin typeface="Calibri" pitchFamily="34" charset="0"/>
                <a:ea typeface="Calibri" pitchFamily="34" charset="-122"/>
                <a:cs typeface="Calibri" pitchFamily="34" charset="-120"/>
              </a:rPr>
              <a:t>after-tax value</a:t>
            </a:r>
            <a:endParaRPr lang="en-US" sz="800" dirty="0"/>
          </a:p>
        </p:txBody>
      </p:sp>
      <p:sp>
        <p:nvSpPr>
          <p:cNvPr id="21" name="Shape 18"/>
          <p:cNvSpPr/>
          <p:nvPr/>
        </p:nvSpPr>
        <p:spPr>
          <a:xfrm>
            <a:off x="5577840" y="3017520"/>
            <a:ext cx="1591056" cy="1024128"/>
          </a:xfrm>
          <a:prstGeom prst="rect">
            <a:avLst/>
          </a:prstGeom>
          <a:solidFill>
            <a:srgbClr val="F6F6F4"/>
          </a:solidFill>
          <a:ln w="9525">
            <a:solidFill>
              <a:srgbClr val="DEDEDE"/>
            </a:solidFill>
            <a:prstDash val="solid"/>
          </a:ln>
          <a:effectLst>
            <a:outerShdw sx="100000" sy="100000" kx="0" ky="0" algn="bl" rotWithShape="0" blurRad="101600" dist="25400" dir="8100000">
              <a:srgbClr val="000000">
                <a:alpha val="6000"/>
              </a:srgbClr>
            </a:outerShdw>
          </a:effectLst>
        </p:spPr>
      </p:sp>
      <p:sp>
        <p:nvSpPr>
          <p:cNvPr id="22" name="Shape 19"/>
          <p:cNvSpPr/>
          <p:nvPr/>
        </p:nvSpPr>
        <p:spPr>
          <a:xfrm>
            <a:off x="5577840" y="3017520"/>
            <a:ext cx="1591056" cy="41148"/>
          </a:xfrm>
          <a:prstGeom prst="rect">
            <a:avLst/>
          </a:prstGeom>
          <a:solidFill>
            <a:srgbClr val="B5922E"/>
          </a:solidFill>
          <a:ln w="12700">
            <a:solidFill>
              <a:srgbClr val="B5922E"/>
            </a:solidFill>
            <a:prstDash val="solid"/>
          </a:ln>
        </p:spPr>
      </p:sp>
      <p:sp>
        <p:nvSpPr>
          <p:cNvPr id="23" name="Text 20"/>
          <p:cNvSpPr/>
          <p:nvPr/>
        </p:nvSpPr>
        <p:spPr>
          <a:xfrm>
            <a:off x="5742432" y="3182112"/>
            <a:ext cx="1261872" cy="182880"/>
          </a:xfrm>
          <a:prstGeom prst="rect">
            <a:avLst/>
          </a:prstGeom>
          <a:noFill/>
          <a:ln/>
        </p:spPr>
        <p:txBody>
          <a:bodyPr wrap="square" lIns="0" tIns="0" rIns="0" bIns="0" rtlCol="0" anchor="ctr"/>
          <a:lstStyle/>
          <a:p>
            <a:pPr indent="0" marL="0">
              <a:buNone/>
            </a:pPr>
            <a:r>
              <a:rPr lang="en-US" sz="850" b="1" spc="150" kern="0" dirty="0">
                <a:solidFill>
                  <a:srgbClr val="718096"/>
                </a:solidFill>
                <a:latin typeface="Calibri" pitchFamily="34" charset="0"/>
                <a:ea typeface="Calibri" pitchFamily="34" charset="-122"/>
                <a:cs typeface="Calibri" pitchFamily="34" charset="-120"/>
              </a:rPr>
              <a:t>ALLOCATION TARGET</a:t>
            </a:r>
            <a:endParaRPr lang="en-US" sz="850" dirty="0"/>
          </a:p>
        </p:txBody>
      </p:sp>
      <p:sp>
        <p:nvSpPr>
          <p:cNvPr id="24" name="Text 21"/>
          <p:cNvSpPr/>
          <p:nvPr/>
        </p:nvSpPr>
        <p:spPr>
          <a:xfrm>
            <a:off x="5742432" y="3383280"/>
            <a:ext cx="1261872" cy="475488"/>
          </a:xfrm>
          <a:prstGeom prst="rect">
            <a:avLst/>
          </a:prstGeom>
          <a:noFill/>
          <a:ln/>
        </p:spPr>
        <p:txBody>
          <a:bodyPr wrap="square" lIns="0" tIns="0" rIns="0" bIns="0" rtlCol="0" anchor="ctr"/>
          <a:lstStyle/>
          <a:p>
            <a:pPr indent="0" marL="0">
              <a:buNone/>
            </a:pPr>
            <a:r>
              <a:rPr lang="en-US" sz="1800" b="1" dirty="0">
                <a:solidFill>
                  <a:srgbClr val="0D1B2A"/>
                </a:solidFill>
                <a:latin typeface="Garamond" pitchFamily="34" charset="0"/>
                <a:ea typeface="Garamond" pitchFamily="34" charset="-122"/>
                <a:cs typeface="Garamond" pitchFamily="34" charset="-120"/>
              </a:rPr>
              <a:t>$10–15M</a:t>
            </a:r>
            <a:endParaRPr lang="en-US" sz="1800" dirty="0"/>
          </a:p>
        </p:txBody>
      </p:sp>
      <p:sp>
        <p:nvSpPr>
          <p:cNvPr id="25" name="Text 22"/>
          <p:cNvSpPr/>
          <p:nvPr/>
        </p:nvSpPr>
        <p:spPr>
          <a:xfrm>
            <a:off x="5742432" y="3877056"/>
            <a:ext cx="1261872" cy="164592"/>
          </a:xfrm>
          <a:prstGeom prst="rect">
            <a:avLst/>
          </a:prstGeom>
          <a:noFill/>
          <a:ln/>
        </p:spPr>
        <p:txBody>
          <a:bodyPr wrap="square" lIns="0" tIns="0" rIns="0" bIns="0" rtlCol="0" anchor="ctr"/>
          <a:lstStyle/>
          <a:p>
            <a:pPr indent="0" marL="0">
              <a:buNone/>
            </a:pPr>
            <a:r>
              <a:rPr lang="en-US" sz="900" dirty="0">
                <a:solidFill>
                  <a:srgbClr val="718096"/>
                </a:solidFill>
                <a:latin typeface="Calibri" pitchFamily="34" charset="0"/>
                <a:ea typeface="Calibri" pitchFamily="34" charset="-122"/>
                <a:cs typeface="Calibri" pitchFamily="34" charset="-120"/>
              </a:rPr>
              <a:t>Deployed over time</a:t>
            </a:r>
            <a:endParaRPr lang="en-US" sz="900" dirty="0"/>
          </a:p>
        </p:txBody>
      </p:sp>
      <p:sp>
        <p:nvSpPr>
          <p:cNvPr id="26" name="Shape 23"/>
          <p:cNvSpPr/>
          <p:nvPr/>
        </p:nvSpPr>
        <p:spPr>
          <a:xfrm>
            <a:off x="7315200" y="3017520"/>
            <a:ext cx="1591056" cy="1024128"/>
          </a:xfrm>
          <a:prstGeom prst="rect">
            <a:avLst/>
          </a:prstGeom>
          <a:solidFill>
            <a:srgbClr val="F6F6F4"/>
          </a:solidFill>
          <a:ln w="9525">
            <a:solidFill>
              <a:srgbClr val="DEDEDE"/>
            </a:solidFill>
            <a:prstDash val="solid"/>
          </a:ln>
          <a:effectLst>
            <a:outerShdw sx="100000" sy="100000" kx="0" ky="0" algn="bl" rotWithShape="0" blurRad="101600" dist="25400" dir="8100000">
              <a:srgbClr val="000000">
                <a:alpha val="6000"/>
              </a:srgbClr>
            </a:outerShdw>
          </a:effectLst>
        </p:spPr>
      </p:sp>
      <p:sp>
        <p:nvSpPr>
          <p:cNvPr id="27" name="Shape 24"/>
          <p:cNvSpPr/>
          <p:nvPr/>
        </p:nvSpPr>
        <p:spPr>
          <a:xfrm>
            <a:off x="7315200" y="3017520"/>
            <a:ext cx="1591056" cy="41148"/>
          </a:xfrm>
          <a:prstGeom prst="rect">
            <a:avLst/>
          </a:prstGeom>
          <a:solidFill>
            <a:srgbClr val="B5922E"/>
          </a:solidFill>
          <a:ln w="12700">
            <a:solidFill>
              <a:srgbClr val="B5922E"/>
            </a:solidFill>
            <a:prstDash val="solid"/>
          </a:ln>
        </p:spPr>
      </p:sp>
      <p:sp>
        <p:nvSpPr>
          <p:cNvPr id="28" name="Text 25"/>
          <p:cNvSpPr/>
          <p:nvPr/>
        </p:nvSpPr>
        <p:spPr>
          <a:xfrm>
            <a:off x="7479792" y="3182112"/>
            <a:ext cx="1261872" cy="182880"/>
          </a:xfrm>
          <a:prstGeom prst="rect">
            <a:avLst/>
          </a:prstGeom>
          <a:noFill/>
          <a:ln/>
        </p:spPr>
        <p:txBody>
          <a:bodyPr wrap="square" lIns="0" tIns="0" rIns="0" bIns="0" rtlCol="0" anchor="ctr"/>
          <a:lstStyle/>
          <a:p>
            <a:pPr indent="0" marL="0">
              <a:buNone/>
            </a:pPr>
            <a:r>
              <a:rPr lang="en-US" sz="850" b="1" spc="150" kern="0" dirty="0">
                <a:solidFill>
                  <a:srgbClr val="718096"/>
                </a:solidFill>
                <a:latin typeface="Calibri" pitchFamily="34" charset="0"/>
                <a:ea typeface="Calibri" pitchFamily="34" charset="-122"/>
                <a:cs typeface="Calibri" pitchFamily="34" charset="-120"/>
              </a:rPr>
              <a:t>PAIRS WITH</a:t>
            </a:r>
            <a:endParaRPr lang="en-US" sz="850" dirty="0"/>
          </a:p>
        </p:txBody>
      </p:sp>
      <p:sp>
        <p:nvSpPr>
          <p:cNvPr id="29" name="Text 26"/>
          <p:cNvSpPr/>
          <p:nvPr/>
        </p:nvSpPr>
        <p:spPr>
          <a:xfrm>
            <a:off x="7479792" y="3383280"/>
            <a:ext cx="1261872" cy="475488"/>
          </a:xfrm>
          <a:prstGeom prst="rect">
            <a:avLst/>
          </a:prstGeom>
          <a:noFill/>
          <a:ln/>
        </p:spPr>
        <p:txBody>
          <a:bodyPr wrap="square" lIns="0" tIns="0" rIns="0" bIns="0" rtlCol="0" anchor="ctr"/>
          <a:lstStyle/>
          <a:p>
            <a:pPr indent="0" marL="0">
              <a:buNone/>
            </a:pPr>
            <a:r>
              <a:rPr lang="en-US" sz="1800" b="1" dirty="0">
                <a:solidFill>
                  <a:srgbClr val="0D1B2A"/>
                </a:solidFill>
                <a:latin typeface="Garamond" pitchFamily="34" charset="0"/>
                <a:ea typeface="Garamond" pitchFamily="34" charset="-122"/>
                <a:cs typeface="Garamond" pitchFamily="34" charset="-120"/>
              </a:rPr>
              <a:t>$3–5M/yr</a:t>
            </a:r>
            <a:endParaRPr lang="en-US" sz="1800" dirty="0"/>
          </a:p>
        </p:txBody>
      </p:sp>
      <p:sp>
        <p:nvSpPr>
          <p:cNvPr id="30" name="Text 27"/>
          <p:cNvSpPr/>
          <p:nvPr/>
        </p:nvSpPr>
        <p:spPr>
          <a:xfrm>
            <a:off x="7479792" y="3877056"/>
            <a:ext cx="1261872" cy="164592"/>
          </a:xfrm>
          <a:prstGeom prst="rect">
            <a:avLst/>
          </a:prstGeom>
          <a:noFill/>
          <a:ln/>
        </p:spPr>
        <p:txBody>
          <a:bodyPr wrap="square" lIns="0" tIns="0" rIns="0" bIns="0" rtlCol="0" anchor="ctr"/>
          <a:lstStyle/>
          <a:p>
            <a:pPr indent="0" marL="0">
              <a:buNone/>
            </a:pPr>
            <a:r>
              <a:rPr lang="en-US" sz="900" dirty="0">
                <a:solidFill>
                  <a:srgbClr val="718096"/>
                </a:solidFill>
                <a:latin typeface="Calibri" pitchFamily="34" charset="0"/>
                <a:ea typeface="Calibri" pitchFamily="34" charset="-122"/>
                <a:cs typeface="Calibri" pitchFamily="34" charset="-120"/>
              </a:rPr>
              <a:t>Staged NVDA sales</a:t>
            </a:r>
            <a:endParaRPr lang="en-US" sz="900" dirty="0"/>
          </a:p>
        </p:txBody>
      </p:sp>
      <p:sp>
        <p:nvSpPr>
          <p:cNvPr id="31" name="Text 28"/>
          <p:cNvSpPr/>
          <p:nvPr/>
        </p:nvSpPr>
        <p:spPr>
          <a:xfrm>
            <a:off x="256032" y="4882896"/>
            <a:ext cx="8686800" cy="164592"/>
          </a:xfrm>
          <a:prstGeom prst="rect">
            <a:avLst/>
          </a:prstGeom>
          <a:noFill/>
          <a:ln/>
        </p:spPr>
        <p:txBody>
          <a:bodyPr wrap="square" lIns="0" tIns="0" rIns="0" bIns="0" rtlCol="0" anchor="ctr"/>
          <a:lstStyle/>
          <a:p>
            <a:pPr indent="0" marL="0">
              <a:buNone/>
            </a:pPr>
            <a:r>
              <a:rPr lang="en-US" sz="800" i="1" dirty="0">
                <a:solidFill>
                  <a:srgbClr val="718096"/>
                </a:solidFill>
                <a:latin typeface="Calibri" pitchFamily="34" charset="0"/>
                <a:ea typeface="Calibri" pitchFamily="34" charset="-122"/>
                <a:cs typeface="Calibri" pitchFamily="34" charset="-120"/>
              </a:rPr>
              <a:t>Assumes $12.5M initial, 8% gross return, 23.8% LTCG tax rate. 130/20 adds ~1.2% after-tax alpha; 130/30 adds ~2.0%. Illustrative only.</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1B2A"/>
          </a:solidFill>
          <a:ln w="12700">
            <a:solidFill>
              <a:srgbClr val="0D1B2A"/>
            </a:solidFill>
            <a:prstDash val="solid"/>
          </a:ln>
        </p:spPr>
      </p:sp>
      <p:sp>
        <p:nvSpPr>
          <p:cNvPr id="3" name="Text 1"/>
          <p:cNvSpPr/>
          <p:nvPr/>
        </p:nvSpPr>
        <p:spPr>
          <a:xfrm>
            <a:off x="256032" y="274320"/>
            <a:ext cx="7315200" cy="201168"/>
          </a:xfrm>
          <a:prstGeom prst="rect">
            <a:avLst/>
          </a:prstGeom>
          <a:noFill/>
          <a:ln/>
        </p:spPr>
        <p:txBody>
          <a:bodyPr wrap="square" lIns="0" tIns="0" rIns="0" bIns="0" rtlCol="0" anchor="ctr"/>
          <a:lstStyle/>
          <a:p>
            <a:pPr indent="0" marL="0">
              <a:buNone/>
            </a:pPr>
            <a:r>
              <a:rPr lang="en-US" sz="900" b="1" spc="300" kern="0" dirty="0">
                <a:solidFill>
                  <a:srgbClr val="B5922E"/>
                </a:solidFill>
                <a:latin typeface="Calibri" pitchFamily="34" charset="0"/>
                <a:ea typeface="Calibri" pitchFamily="34" charset="-122"/>
                <a:cs typeface="Calibri" pitchFamily="34" charset="-120"/>
              </a:rPr>
              <a:t>SECTION 05 · CONCENTRATED STOCK</a:t>
            </a:r>
            <a:endParaRPr lang="en-US" sz="900" dirty="0"/>
          </a:p>
        </p:txBody>
      </p:sp>
      <p:sp>
        <p:nvSpPr>
          <p:cNvPr id="4" name="Text 2"/>
          <p:cNvSpPr/>
          <p:nvPr/>
        </p:nvSpPr>
        <p:spPr>
          <a:xfrm>
            <a:off x="256032" y="493776"/>
            <a:ext cx="8686800" cy="502920"/>
          </a:xfrm>
          <a:prstGeom prst="rect">
            <a:avLst/>
          </a:prstGeom>
          <a:noFill/>
          <a:ln/>
        </p:spPr>
        <p:txBody>
          <a:bodyPr wrap="square" lIns="0" tIns="0" rIns="0" bIns="0" rtlCol="0" anchor="ctr"/>
          <a:lstStyle/>
          <a:p>
            <a:pPr indent="0" marL="0">
              <a:buNone/>
            </a:pPr>
            <a:r>
              <a:rPr lang="en-US" sz="2200" b="1" dirty="0">
                <a:solidFill>
                  <a:srgbClr val="0D1B2A"/>
                </a:solidFill>
                <a:latin typeface="Garamond" pitchFamily="34" charset="0"/>
                <a:ea typeface="Garamond" pitchFamily="34" charset="-122"/>
                <a:cs typeface="Garamond" pitchFamily="34" charset="-120"/>
              </a:rPr>
              <a:t>Strategy 3: Options Collar on Retained NVIDIA</a:t>
            </a:r>
            <a:endParaRPr lang="en-US" sz="2200" dirty="0"/>
          </a:p>
        </p:txBody>
      </p:sp>
      <p:sp>
        <p:nvSpPr>
          <p:cNvPr id="5" name="Shape 3"/>
          <p:cNvSpPr/>
          <p:nvPr/>
        </p:nvSpPr>
        <p:spPr>
          <a:xfrm>
            <a:off x="256032" y="1005840"/>
            <a:ext cx="8686800" cy="804672"/>
          </a:xfrm>
          <a:prstGeom prst="rect">
            <a:avLst/>
          </a:prstGeom>
          <a:solidFill>
            <a:srgbClr val="F6F6F4"/>
          </a:solidFill>
          <a:ln w="9525">
            <a:solidFill>
              <a:srgbClr val="B5922E"/>
            </a:solidFill>
            <a:prstDash val="solid"/>
          </a:ln>
        </p:spPr>
      </p:sp>
      <p:sp>
        <p:nvSpPr>
          <p:cNvPr id="6" name="Shape 4"/>
          <p:cNvSpPr/>
          <p:nvPr/>
        </p:nvSpPr>
        <p:spPr>
          <a:xfrm>
            <a:off x="256032" y="1005840"/>
            <a:ext cx="54864" cy="804672"/>
          </a:xfrm>
          <a:prstGeom prst="rect">
            <a:avLst/>
          </a:prstGeom>
          <a:solidFill>
            <a:srgbClr val="B5922E"/>
          </a:solidFill>
          <a:ln w="12700">
            <a:solidFill>
              <a:srgbClr val="B5922E"/>
            </a:solidFill>
            <a:prstDash val="solid"/>
          </a:ln>
        </p:spPr>
      </p:sp>
      <p:sp>
        <p:nvSpPr>
          <p:cNvPr id="7" name="Text 5"/>
          <p:cNvSpPr/>
          <p:nvPr/>
        </p:nvSpPr>
        <p:spPr>
          <a:xfrm>
            <a:off x="420624" y="1078992"/>
            <a:ext cx="8412480" cy="658368"/>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Structure: Following the CRUT contribution, Mr. Mercer retains approximately $31,500,000 of NVIDIA equity. A zero- or low-cost collar is established on the retained position: a protective put defines the maximum downside, and a covered call generates offsetting premium income. The structure provides contractual risk protection without triggering a taxable disposition.</a:t>
            </a:r>
            <a:endParaRPr lang="en-US" sz="1000" dirty="0"/>
          </a:p>
        </p:txBody>
      </p:sp>
      <p:graphicFrame>
        <p:nvGraphicFramePr>
          <p:cNvPr id="8" name="Chart 0" descr=""/>
          <p:cNvGraphicFramePr/>
          <p:nvPr/>
        </p:nvGraphicFramePr>
        <p:xfrm>
          <a:off x="256032" y="1901952"/>
          <a:ext cx="5120640" cy="2907792"/>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5577840" y="1901952"/>
            <a:ext cx="3346704" cy="512064"/>
          </a:xfrm>
          <a:prstGeom prst="rect">
            <a:avLst/>
          </a:prstGeom>
          <a:solidFill>
            <a:srgbClr val="F6F6F4"/>
          </a:solidFill>
          <a:ln w="9525">
            <a:solidFill>
              <a:srgbClr val="DEDEDE"/>
            </a:solidFill>
            <a:prstDash val="solid"/>
          </a:ln>
        </p:spPr>
      </p:sp>
      <p:sp>
        <p:nvSpPr>
          <p:cNvPr id="10" name="Text 7"/>
          <p:cNvSpPr/>
          <p:nvPr/>
        </p:nvSpPr>
        <p:spPr>
          <a:xfrm>
            <a:off x="5705856" y="1956816"/>
            <a:ext cx="2011680" cy="164592"/>
          </a:xfrm>
          <a:prstGeom prst="rect">
            <a:avLst/>
          </a:prstGeom>
          <a:noFill/>
          <a:ln/>
        </p:spPr>
        <p:txBody>
          <a:bodyPr wrap="square" lIns="0" tIns="0" rIns="0" bIns="0" rtlCol="0" anchor="ctr"/>
          <a:lstStyle/>
          <a:p>
            <a:pPr indent="0" marL="0">
              <a:buNone/>
            </a:pPr>
            <a:r>
              <a:rPr lang="en-US" sz="800" b="1" spc="100" kern="0" dirty="0">
                <a:solidFill>
                  <a:srgbClr val="0D1B2A"/>
                </a:solidFill>
                <a:latin typeface="Calibri" pitchFamily="34" charset="0"/>
                <a:ea typeface="Calibri" pitchFamily="34" charset="-122"/>
                <a:cs typeface="Calibri" pitchFamily="34" charset="-120"/>
              </a:rPr>
              <a:t>PROTECTED POSITION</a:t>
            </a:r>
            <a:endParaRPr lang="en-US" sz="800" dirty="0"/>
          </a:p>
        </p:txBody>
      </p:sp>
      <p:sp>
        <p:nvSpPr>
          <p:cNvPr id="11" name="Text 8"/>
          <p:cNvSpPr/>
          <p:nvPr/>
        </p:nvSpPr>
        <p:spPr>
          <a:xfrm>
            <a:off x="5705856" y="2157984"/>
            <a:ext cx="1463040" cy="201168"/>
          </a:xfrm>
          <a:prstGeom prst="rect">
            <a:avLst/>
          </a:prstGeom>
          <a:noFill/>
          <a:ln/>
        </p:spPr>
        <p:txBody>
          <a:bodyPr wrap="square" lIns="0" tIns="0" rIns="0" bIns="0" rtlCol="0" anchor="ctr"/>
          <a:lstStyle/>
          <a:p>
            <a:pPr indent="0" marL="0">
              <a:buNone/>
            </a:pPr>
            <a:r>
              <a:rPr lang="en-US" sz="1300" b="1" dirty="0">
                <a:solidFill>
                  <a:srgbClr val="0D1B2A"/>
                </a:solidFill>
                <a:latin typeface="Garamond" pitchFamily="34" charset="0"/>
                <a:ea typeface="Garamond" pitchFamily="34" charset="-122"/>
                <a:cs typeface="Garamond" pitchFamily="34" charset="-120"/>
              </a:rPr>
              <a:t>~$31.5M</a:t>
            </a:r>
            <a:endParaRPr lang="en-US" sz="1300" dirty="0"/>
          </a:p>
        </p:txBody>
      </p:sp>
      <p:sp>
        <p:nvSpPr>
          <p:cNvPr id="12" name="Text 9"/>
          <p:cNvSpPr/>
          <p:nvPr/>
        </p:nvSpPr>
        <p:spPr>
          <a:xfrm>
            <a:off x="7223760" y="2157984"/>
            <a:ext cx="1572768" cy="201168"/>
          </a:xfrm>
          <a:prstGeom prst="rect">
            <a:avLst/>
          </a:prstGeom>
          <a:noFill/>
          <a:ln/>
        </p:spPr>
        <p:txBody>
          <a:bodyPr wrap="square" lIns="0" tIns="0" rIns="0" bIns="0" rtlCol="0" anchor="ctr"/>
          <a:lstStyle/>
          <a:p>
            <a:pPr algn="r" indent="0" marL="0">
              <a:buNone/>
            </a:pPr>
            <a:r>
              <a:rPr lang="en-US" sz="850" dirty="0">
                <a:solidFill>
                  <a:srgbClr val="718096"/>
                </a:solidFill>
                <a:latin typeface="Calibri" pitchFamily="34" charset="0"/>
                <a:ea typeface="Calibri" pitchFamily="34" charset="-122"/>
                <a:cs typeface="Calibri" pitchFamily="34" charset="-120"/>
              </a:rPr>
              <a:t>Retained NVDA core</a:t>
            </a:r>
            <a:endParaRPr lang="en-US" sz="850" dirty="0"/>
          </a:p>
        </p:txBody>
      </p:sp>
      <p:sp>
        <p:nvSpPr>
          <p:cNvPr id="13" name="Shape 10"/>
          <p:cNvSpPr/>
          <p:nvPr/>
        </p:nvSpPr>
        <p:spPr>
          <a:xfrm>
            <a:off x="5577840" y="2487168"/>
            <a:ext cx="3346704" cy="512064"/>
          </a:xfrm>
          <a:prstGeom prst="rect">
            <a:avLst/>
          </a:prstGeom>
          <a:solidFill>
            <a:srgbClr val="FDF4F3"/>
          </a:solidFill>
          <a:ln w="9525">
            <a:solidFill>
              <a:srgbClr val="DEDEDE"/>
            </a:solidFill>
            <a:prstDash val="solid"/>
          </a:ln>
        </p:spPr>
      </p:sp>
      <p:sp>
        <p:nvSpPr>
          <p:cNvPr id="14" name="Text 11"/>
          <p:cNvSpPr/>
          <p:nvPr/>
        </p:nvSpPr>
        <p:spPr>
          <a:xfrm>
            <a:off x="5705856" y="2542032"/>
            <a:ext cx="2011680" cy="164592"/>
          </a:xfrm>
          <a:prstGeom prst="rect">
            <a:avLst/>
          </a:prstGeom>
          <a:noFill/>
          <a:ln/>
        </p:spPr>
        <p:txBody>
          <a:bodyPr wrap="square" lIns="0" tIns="0" rIns="0" bIns="0" rtlCol="0" anchor="ctr"/>
          <a:lstStyle/>
          <a:p>
            <a:pPr indent="0" marL="0">
              <a:buNone/>
            </a:pPr>
            <a:r>
              <a:rPr lang="en-US" sz="800" b="1" spc="100" kern="0" dirty="0">
                <a:solidFill>
                  <a:srgbClr val="7B2D26"/>
                </a:solidFill>
                <a:latin typeface="Calibri" pitchFamily="34" charset="0"/>
                <a:ea typeface="Calibri" pitchFamily="34" charset="-122"/>
                <a:cs typeface="Calibri" pitchFamily="34" charset="-120"/>
              </a:rPr>
              <a:t>PUT FLOOR (ILLUSTRATIVE)</a:t>
            </a:r>
            <a:endParaRPr lang="en-US" sz="800" dirty="0"/>
          </a:p>
        </p:txBody>
      </p:sp>
      <p:sp>
        <p:nvSpPr>
          <p:cNvPr id="15" name="Text 12"/>
          <p:cNvSpPr/>
          <p:nvPr/>
        </p:nvSpPr>
        <p:spPr>
          <a:xfrm>
            <a:off x="5705856" y="2743200"/>
            <a:ext cx="1463040" cy="201168"/>
          </a:xfrm>
          <a:prstGeom prst="rect">
            <a:avLst/>
          </a:prstGeom>
          <a:noFill/>
          <a:ln/>
        </p:spPr>
        <p:txBody>
          <a:bodyPr wrap="square" lIns="0" tIns="0" rIns="0" bIns="0" rtlCol="0" anchor="ctr"/>
          <a:lstStyle/>
          <a:p>
            <a:pPr indent="0" marL="0">
              <a:buNone/>
            </a:pPr>
            <a:r>
              <a:rPr lang="en-US" sz="1300" b="1" dirty="0">
                <a:solidFill>
                  <a:srgbClr val="7B2D26"/>
                </a:solidFill>
                <a:latin typeface="Garamond" pitchFamily="34" charset="0"/>
                <a:ea typeface="Garamond" pitchFamily="34" charset="-122"/>
                <a:cs typeface="Garamond" pitchFamily="34" charset="-120"/>
              </a:rPr>
              <a:t>~$118.80</a:t>
            </a:r>
            <a:endParaRPr lang="en-US" sz="1300" dirty="0"/>
          </a:p>
        </p:txBody>
      </p:sp>
      <p:sp>
        <p:nvSpPr>
          <p:cNvPr id="16" name="Text 13"/>
          <p:cNvSpPr/>
          <p:nvPr/>
        </p:nvSpPr>
        <p:spPr>
          <a:xfrm>
            <a:off x="7223760" y="2743200"/>
            <a:ext cx="1572768" cy="201168"/>
          </a:xfrm>
          <a:prstGeom prst="rect">
            <a:avLst/>
          </a:prstGeom>
          <a:noFill/>
          <a:ln/>
        </p:spPr>
        <p:txBody>
          <a:bodyPr wrap="square" lIns="0" tIns="0" rIns="0" bIns="0" rtlCol="0" anchor="ctr"/>
          <a:lstStyle/>
          <a:p>
            <a:pPr algn="r" indent="0" marL="0">
              <a:buNone/>
            </a:pPr>
            <a:r>
              <a:rPr lang="en-US" sz="850" dirty="0">
                <a:solidFill>
                  <a:srgbClr val="C0392B"/>
                </a:solidFill>
                <a:latin typeface="Calibri" pitchFamily="34" charset="0"/>
                <a:ea typeface="Calibri" pitchFamily="34" charset="-122"/>
                <a:cs typeface="Calibri" pitchFamily="34" charset="-120"/>
              </a:rPr>
              <a:t>12% below spot ($135)</a:t>
            </a:r>
            <a:endParaRPr lang="en-US" sz="850" dirty="0"/>
          </a:p>
        </p:txBody>
      </p:sp>
      <p:sp>
        <p:nvSpPr>
          <p:cNvPr id="17" name="Shape 14"/>
          <p:cNvSpPr/>
          <p:nvPr/>
        </p:nvSpPr>
        <p:spPr>
          <a:xfrm>
            <a:off x="5577840" y="3072384"/>
            <a:ext cx="3346704" cy="512064"/>
          </a:xfrm>
          <a:prstGeom prst="rect">
            <a:avLst/>
          </a:prstGeom>
          <a:solidFill>
            <a:srgbClr val="EFF7F2"/>
          </a:solidFill>
          <a:ln w="9525">
            <a:solidFill>
              <a:srgbClr val="DEDEDE"/>
            </a:solidFill>
            <a:prstDash val="solid"/>
          </a:ln>
        </p:spPr>
      </p:sp>
      <p:sp>
        <p:nvSpPr>
          <p:cNvPr id="18" name="Text 15"/>
          <p:cNvSpPr/>
          <p:nvPr/>
        </p:nvSpPr>
        <p:spPr>
          <a:xfrm>
            <a:off x="5705856" y="3127248"/>
            <a:ext cx="2011680" cy="164592"/>
          </a:xfrm>
          <a:prstGeom prst="rect">
            <a:avLst/>
          </a:prstGeom>
          <a:noFill/>
          <a:ln/>
        </p:spPr>
        <p:txBody>
          <a:bodyPr wrap="square" lIns="0" tIns="0" rIns="0" bIns="0" rtlCol="0" anchor="ctr"/>
          <a:lstStyle/>
          <a:p>
            <a:pPr indent="0" marL="0">
              <a:buNone/>
            </a:pPr>
            <a:r>
              <a:rPr lang="en-US" sz="800" b="1" spc="100" kern="0" dirty="0">
                <a:solidFill>
                  <a:srgbClr val="1A6B45"/>
                </a:solidFill>
                <a:latin typeface="Calibri" pitchFamily="34" charset="0"/>
                <a:ea typeface="Calibri" pitchFamily="34" charset="-122"/>
                <a:cs typeface="Calibri" pitchFamily="34" charset="-120"/>
              </a:rPr>
              <a:t>CALL CAP (ILLUSTRATIVE)</a:t>
            </a:r>
            <a:endParaRPr lang="en-US" sz="800" dirty="0"/>
          </a:p>
        </p:txBody>
      </p:sp>
      <p:sp>
        <p:nvSpPr>
          <p:cNvPr id="19" name="Text 16"/>
          <p:cNvSpPr/>
          <p:nvPr/>
        </p:nvSpPr>
        <p:spPr>
          <a:xfrm>
            <a:off x="5705856" y="3328416"/>
            <a:ext cx="1463040" cy="201168"/>
          </a:xfrm>
          <a:prstGeom prst="rect">
            <a:avLst/>
          </a:prstGeom>
          <a:noFill/>
          <a:ln/>
        </p:spPr>
        <p:txBody>
          <a:bodyPr wrap="square" lIns="0" tIns="0" rIns="0" bIns="0" rtlCol="0" anchor="ctr"/>
          <a:lstStyle/>
          <a:p>
            <a:pPr indent="0" marL="0">
              <a:buNone/>
            </a:pPr>
            <a:r>
              <a:rPr lang="en-US" sz="1300" b="1" dirty="0">
                <a:solidFill>
                  <a:srgbClr val="1A6B45"/>
                </a:solidFill>
                <a:latin typeface="Garamond" pitchFamily="34" charset="0"/>
                <a:ea typeface="Garamond" pitchFamily="34" charset="-122"/>
                <a:cs typeface="Garamond" pitchFamily="34" charset="-120"/>
              </a:rPr>
              <a:t>~$157.95</a:t>
            </a:r>
            <a:endParaRPr lang="en-US" sz="1300" dirty="0"/>
          </a:p>
        </p:txBody>
      </p:sp>
      <p:sp>
        <p:nvSpPr>
          <p:cNvPr id="20" name="Text 17"/>
          <p:cNvSpPr/>
          <p:nvPr/>
        </p:nvSpPr>
        <p:spPr>
          <a:xfrm>
            <a:off x="7223760" y="3328416"/>
            <a:ext cx="1572768" cy="201168"/>
          </a:xfrm>
          <a:prstGeom prst="rect">
            <a:avLst/>
          </a:prstGeom>
          <a:noFill/>
          <a:ln/>
        </p:spPr>
        <p:txBody>
          <a:bodyPr wrap="square" lIns="0" tIns="0" rIns="0" bIns="0" rtlCol="0" anchor="ctr"/>
          <a:lstStyle/>
          <a:p>
            <a:pPr algn="r" indent="0" marL="0">
              <a:buNone/>
            </a:pPr>
            <a:r>
              <a:rPr lang="en-US" sz="850" dirty="0">
                <a:solidFill>
                  <a:srgbClr val="1A6B45"/>
                </a:solidFill>
                <a:latin typeface="Calibri" pitchFamily="34" charset="0"/>
                <a:ea typeface="Calibri" pitchFamily="34" charset="-122"/>
                <a:cs typeface="Calibri" pitchFamily="34" charset="-120"/>
              </a:rPr>
              <a:t>17% above spot ($135)</a:t>
            </a:r>
            <a:endParaRPr lang="en-US" sz="850" dirty="0"/>
          </a:p>
        </p:txBody>
      </p:sp>
      <p:sp>
        <p:nvSpPr>
          <p:cNvPr id="21" name="Shape 18"/>
          <p:cNvSpPr/>
          <p:nvPr/>
        </p:nvSpPr>
        <p:spPr>
          <a:xfrm>
            <a:off x="5577840" y="3657600"/>
            <a:ext cx="3346704" cy="512064"/>
          </a:xfrm>
          <a:prstGeom prst="rect">
            <a:avLst/>
          </a:prstGeom>
          <a:solidFill>
            <a:srgbClr val="FDF4F3"/>
          </a:solidFill>
          <a:ln w="9525">
            <a:solidFill>
              <a:srgbClr val="DEDEDE"/>
            </a:solidFill>
            <a:prstDash val="solid"/>
          </a:ln>
        </p:spPr>
      </p:sp>
      <p:sp>
        <p:nvSpPr>
          <p:cNvPr id="22" name="Text 19"/>
          <p:cNvSpPr/>
          <p:nvPr/>
        </p:nvSpPr>
        <p:spPr>
          <a:xfrm>
            <a:off x="5705856" y="3712464"/>
            <a:ext cx="2011680" cy="164592"/>
          </a:xfrm>
          <a:prstGeom prst="rect">
            <a:avLst/>
          </a:prstGeom>
          <a:noFill/>
          <a:ln/>
        </p:spPr>
        <p:txBody>
          <a:bodyPr wrap="square" lIns="0" tIns="0" rIns="0" bIns="0" rtlCol="0" anchor="ctr"/>
          <a:lstStyle/>
          <a:p>
            <a:pPr indent="0" marL="0">
              <a:buNone/>
            </a:pPr>
            <a:r>
              <a:rPr lang="en-US" sz="800" b="1" spc="100" kern="0" dirty="0">
                <a:solidFill>
                  <a:srgbClr val="C0392B"/>
                </a:solidFill>
                <a:latin typeface="Calibri" pitchFamily="34" charset="0"/>
                <a:ea typeface="Calibri" pitchFamily="34" charset="-122"/>
                <a:cs typeface="Calibri" pitchFamily="34" charset="-120"/>
              </a:rPr>
              <a:t>MAX LOSS</a:t>
            </a:r>
            <a:endParaRPr lang="en-US" sz="800" dirty="0"/>
          </a:p>
        </p:txBody>
      </p:sp>
      <p:sp>
        <p:nvSpPr>
          <p:cNvPr id="23" name="Text 20"/>
          <p:cNvSpPr/>
          <p:nvPr/>
        </p:nvSpPr>
        <p:spPr>
          <a:xfrm>
            <a:off x="5705856" y="3913632"/>
            <a:ext cx="1463040" cy="201168"/>
          </a:xfrm>
          <a:prstGeom prst="rect">
            <a:avLst/>
          </a:prstGeom>
          <a:noFill/>
          <a:ln/>
        </p:spPr>
        <p:txBody>
          <a:bodyPr wrap="square" lIns="0" tIns="0" rIns="0" bIns="0" rtlCol="0" anchor="ctr"/>
          <a:lstStyle/>
          <a:p>
            <a:pPr indent="0" marL="0">
              <a:buNone/>
            </a:pPr>
            <a:r>
              <a:rPr lang="en-US" sz="1300" b="1" dirty="0">
                <a:solidFill>
                  <a:srgbClr val="C0392B"/>
                </a:solidFill>
                <a:latin typeface="Garamond" pitchFamily="34" charset="0"/>
                <a:ea typeface="Garamond" pitchFamily="34" charset="-122"/>
                <a:cs typeface="Garamond" pitchFamily="34" charset="-120"/>
              </a:rPr>
              <a:t>-$3.78M</a:t>
            </a:r>
            <a:endParaRPr lang="en-US" sz="1300" dirty="0"/>
          </a:p>
        </p:txBody>
      </p:sp>
      <p:sp>
        <p:nvSpPr>
          <p:cNvPr id="24" name="Text 21"/>
          <p:cNvSpPr/>
          <p:nvPr/>
        </p:nvSpPr>
        <p:spPr>
          <a:xfrm>
            <a:off x="7223760" y="3913632"/>
            <a:ext cx="1572768" cy="201168"/>
          </a:xfrm>
          <a:prstGeom prst="rect">
            <a:avLst/>
          </a:prstGeom>
          <a:noFill/>
          <a:ln/>
        </p:spPr>
        <p:txBody>
          <a:bodyPr wrap="square" lIns="0" tIns="0" rIns="0" bIns="0" rtlCol="0" anchor="ctr"/>
          <a:lstStyle/>
          <a:p>
            <a:pPr algn="r" indent="0" marL="0">
              <a:buNone/>
            </a:pPr>
            <a:r>
              <a:rPr lang="en-US" sz="850" dirty="0">
                <a:solidFill>
                  <a:srgbClr val="A0392B"/>
                </a:solidFill>
                <a:latin typeface="Calibri" pitchFamily="34" charset="0"/>
                <a:ea typeface="Calibri" pitchFamily="34" charset="-122"/>
                <a:cs typeface="Calibri" pitchFamily="34" charset="-120"/>
              </a:rPr>
              <a:t>Floor protection active</a:t>
            </a:r>
            <a:endParaRPr lang="en-US" sz="850" dirty="0"/>
          </a:p>
        </p:txBody>
      </p:sp>
      <p:sp>
        <p:nvSpPr>
          <p:cNvPr id="25" name="Shape 22"/>
          <p:cNvSpPr/>
          <p:nvPr/>
        </p:nvSpPr>
        <p:spPr>
          <a:xfrm>
            <a:off x="5577840" y="4242816"/>
            <a:ext cx="3346704" cy="512064"/>
          </a:xfrm>
          <a:prstGeom prst="rect">
            <a:avLst/>
          </a:prstGeom>
          <a:solidFill>
            <a:srgbClr val="EFF7F2"/>
          </a:solidFill>
          <a:ln w="9525">
            <a:solidFill>
              <a:srgbClr val="DEDEDE"/>
            </a:solidFill>
            <a:prstDash val="solid"/>
          </a:ln>
        </p:spPr>
      </p:sp>
      <p:sp>
        <p:nvSpPr>
          <p:cNvPr id="26" name="Text 23"/>
          <p:cNvSpPr/>
          <p:nvPr/>
        </p:nvSpPr>
        <p:spPr>
          <a:xfrm>
            <a:off x="5705856" y="4297680"/>
            <a:ext cx="2011680" cy="164592"/>
          </a:xfrm>
          <a:prstGeom prst="rect">
            <a:avLst/>
          </a:prstGeom>
          <a:noFill/>
          <a:ln/>
        </p:spPr>
        <p:txBody>
          <a:bodyPr wrap="square" lIns="0" tIns="0" rIns="0" bIns="0" rtlCol="0" anchor="ctr"/>
          <a:lstStyle/>
          <a:p>
            <a:pPr indent="0" marL="0">
              <a:buNone/>
            </a:pPr>
            <a:r>
              <a:rPr lang="en-US" sz="800" b="1" spc="100" kern="0" dirty="0">
                <a:solidFill>
                  <a:srgbClr val="1A6B45"/>
                </a:solidFill>
                <a:latin typeface="Calibri" pitchFamily="34" charset="0"/>
                <a:ea typeface="Calibri" pitchFamily="34" charset="-122"/>
                <a:cs typeface="Calibri" pitchFamily="34" charset="-120"/>
              </a:rPr>
              <a:t>MAX GAIN</a:t>
            </a:r>
            <a:endParaRPr lang="en-US" sz="800" dirty="0"/>
          </a:p>
        </p:txBody>
      </p:sp>
      <p:sp>
        <p:nvSpPr>
          <p:cNvPr id="27" name="Text 24"/>
          <p:cNvSpPr/>
          <p:nvPr/>
        </p:nvSpPr>
        <p:spPr>
          <a:xfrm>
            <a:off x="5705856" y="4498848"/>
            <a:ext cx="1463040" cy="201168"/>
          </a:xfrm>
          <a:prstGeom prst="rect">
            <a:avLst/>
          </a:prstGeom>
          <a:noFill/>
          <a:ln/>
        </p:spPr>
        <p:txBody>
          <a:bodyPr wrap="square" lIns="0" tIns="0" rIns="0" bIns="0" rtlCol="0" anchor="ctr"/>
          <a:lstStyle/>
          <a:p>
            <a:pPr indent="0" marL="0">
              <a:buNone/>
            </a:pPr>
            <a:r>
              <a:rPr lang="en-US" sz="1300" b="1" dirty="0">
                <a:solidFill>
                  <a:srgbClr val="1A6B45"/>
                </a:solidFill>
                <a:latin typeface="Garamond" pitchFamily="34" charset="0"/>
                <a:ea typeface="Garamond" pitchFamily="34" charset="-122"/>
                <a:cs typeface="Garamond" pitchFamily="34" charset="-120"/>
              </a:rPr>
              <a:t>+$5.36M</a:t>
            </a:r>
            <a:endParaRPr lang="en-US" sz="1300" dirty="0"/>
          </a:p>
        </p:txBody>
      </p:sp>
      <p:sp>
        <p:nvSpPr>
          <p:cNvPr id="28" name="Text 25"/>
          <p:cNvSpPr/>
          <p:nvPr/>
        </p:nvSpPr>
        <p:spPr>
          <a:xfrm>
            <a:off x="7223760" y="4498848"/>
            <a:ext cx="1572768" cy="201168"/>
          </a:xfrm>
          <a:prstGeom prst="rect">
            <a:avLst/>
          </a:prstGeom>
          <a:noFill/>
          <a:ln/>
        </p:spPr>
        <p:txBody>
          <a:bodyPr wrap="square" lIns="0" tIns="0" rIns="0" bIns="0" rtlCol="0" anchor="ctr"/>
          <a:lstStyle/>
          <a:p>
            <a:pPr algn="r" indent="0" marL="0">
              <a:buNone/>
            </a:pPr>
            <a:r>
              <a:rPr lang="en-US" sz="850" dirty="0">
                <a:solidFill>
                  <a:srgbClr val="1A6B45"/>
                </a:solidFill>
                <a:latin typeface="Calibri" pitchFamily="34" charset="0"/>
                <a:ea typeface="Calibri" pitchFamily="34" charset="-122"/>
                <a:cs typeface="Calibri" pitchFamily="34" charset="-120"/>
              </a:rPr>
              <a:t>Before call is exercised</a:t>
            </a:r>
            <a:endParaRPr lang="en-US" sz="850" dirty="0"/>
          </a:p>
        </p:txBody>
      </p:sp>
      <p:sp>
        <p:nvSpPr>
          <p:cNvPr id="29" name="Text 26"/>
          <p:cNvSpPr/>
          <p:nvPr/>
        </p:nvSpPr>
        <p:spPr>
          <a:xfrm>
            <a:off x="256032" y="4882896"/>
            <a:ext cx="8686800" cy="164592"/>
          </a:xfrm>
          <a:prstGeom prst="rect">
            <a:avLst/>
          </a:prstGeom>
          <a:noFill/>
          <a:ln/>
        </p:spPr>
        <p:txBody>
          <a:bodyPr wrap="square" lIns="0" tIns="0" rIns="0" bIns="0" rtlCol="0" anchor="ctr"/>
          <a:lstStyle/>
          <a:p>
            <a:pPr indent="0" marL="0">
              <a:buNone/>
            </a:pPr>
            <a:r>
              <a:rPr lang="en-US" sz="800" i="1" dirty="0">
                <a:solidFill>
                  <a:srgbClr val="718096"/>
                </a:solidFill>
                <a:latin typeface="Calibri" pitchFamily="34" charset="0"/>
                <a:ea typeface="Calibri" pitchFamily="34" charset="-122"/>
                <a:cs typeface="Calibri" pitchFamily="34" charset="-120"/>
              </a:rPr>
              <a:t>Illustrative structure based on NVDA at $135/share. Actual strikes determined at time of execution in coordination with options desk.</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1B2A"/>
          </a:solidFill>
          <a:ln w="12700">
            <a:solidFill>
              <a:srgbClr val="0D1B2A"/>
            </a:solidFill>
            <a:prstDash val="solid"/>
          </a:ln>
        </p:spPr>
      </p:sp>
      <p:sp>
        <p:nvSpPr>
          <p:cNvPr id="3" name="Text 1"/>
          <p:cNvSpPr/>
          <p:nvPr/>
        </p:nvSpPr>
        <p:spPr>
          <a:xfrm>
            <a:off x="256032" y="274320"/>
            <a:ext cx="7315200" cy="201168"/>
          </a:xfrm>
          <a:prstGeom prst="rect">
            <a:avLst/>
          </a:prstGeom>
          <a:noFill/>
          <a:ln/>
        </p:spPr>
        <p:txBody>
          <a:bodyPr wrap="square" lIns="0" tIns="0" rIns="0" bIns="0" rtlCol="0" anchor="ctr"/>
          <a:lstStyle/>
          <a:p>
            <a:pPr indent="0" marL="0">
              <a:buNone/>
            </a:pPr>
            <a:r>
              <a:rPr lang="en-US" sz="900" b="1" spc="300" kern="0" dirty="0">
                <a:solidFill>
                  <a:srgbClr val="B5922E"/>
                </a:solidFill>
                <a:latin typeface="Calibri" pitchFamily="34" charset="0"/>
                <a:ea typeface="Calibri" pitchFamily="34" charset="-122"/>
                <a:cs typeface="Calibri" pitchFamily="34" charset="-120"/>
              </a:rPr>
              <a:t>SECTION 05 · CONCENTRATED STOCK</a:t>
            </a:r>
            <a:endParaRPr lang="en-US" sz="900" dirty="0"/>
          </a:p>
        </p:txBody>
      </p:sp>
      <p:sp>
        <p:nvSpPr>
          <p:cNvPr id="4" name="Text 2"/>
          <p:cNvSpPr/>
          <p:nvPr/>
        </p:nvSpPr>
        <p:spPr>
          <a:xfrm>
            <a:off x="256032" y="493776"/>
            <a:ext cx="8686800" cy="502920"/>
          </a:xfrm>
          <a:prstGeom prst="rect">
            <a:avLst/>
          </a:prstGeom>
          <a:noFill/>
          <a:ln/>
        </p:spPr>
        <p:txBody>
          <a:bodyPr wrap="square" lIns="0" tIns="0" rIns="0" bIns="0" rtlCol="0" anchor="ctr"/>
          <a:lstStyle/>
          <a:p>
            <a:pPr indent="0" marL="0">
              <a:buNone/>
            </a:pPr>
            <a:r>
              <a:rPr lang="en-US" sz="2200" b="1" dirty="0">
                <a:solidFill>
                  <a:srgbClr val="0D1B2A"/>
                </a:solidFill>
                <a:latin typeface="Garamond" pitchFamily="34" charset="0"/>
                <a:ea typeface="Garamond" pitchFamily="34" charset="-122"/>
                <a:cs typeface="Garamond" pitchFamily="34" charset="-120"/>
              </a:rPr>
              <a:t>Portfolio Transformation Roadmap</a:t>
            </a:r>
            <a:endParaRPr lang="en-US" sz="2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256032" y="1024128"/>
          <a:ext cx="8686800" cy="3858768"/>
        </p:xfrm>
        <a:graphic>
          <a:graphicData uri="http://schemas.openxmlformats.org/drawingml/2006/table">
            <a:tbl>
              <a:tblPr/>
              <a:tblGrid>
                <a:gridCol w="3108960"/>
                <a:gridCol w="1737360"/>
                <a:gridCol w="1737360"/>
                <a:gridCol w="2103120"/>
              </a:tblGrid>
              <a:tr h="428752">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Category</a:t>
                      </a:r>
                      <a:endParaRPr lang="en-US" sz="9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0D1B2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Current</a:t>
                      </a:r>
                      <a:endParaRPr lang="en-US" sz="9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0D1B2A"/>
                    </a:solidFill>
                  </a:tcPr>
                </a:tc>
                <a:tc>
                  <a:txBody>
                    <a:bodyPr/>
                    <a:lstStyle/>
                    <a:p>
                      <a:pPr indent="0" marL="0">
                        <a:buNone/>
                      </a:pPr>
                      <a:r>
                        <a:rPr lang="en-US" sz="900" b="1" dirty="0">
                          <a:solidFill>
                            <a:srgbClr val="B5922E"/>
                          </a:solidFill>
                          <a:latin typeface="Calibri" pitchFamily="34" charset="0"/>
                          <a:ea typeface="Calibri" pitchFamily="34" charset="-122"/>
                          <a:cs typeface="Calibri" pitchFamily="34" charset="-120"/>
                        </a:rPr>
                        <a:t>Target Over Time</a:t>
                      </a:r>
                      <a:endParaRPr lang="en-US" sz="9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0D1B2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Direction</a:t>
                      </a:r>
                      <a:endParaRPr lang="en-US" sz="9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0D1B2A"/>
                    </a:solidFill>
                  </a:tcPr>
                </a:tc>
              </a:tr>
              <a:tr h="428752">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Direct NVIDIA</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$46,500,000</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$20M – $25M</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0392B"/>
                          </a:solidFill>
                          <a:latin typeface="Calibri" pitchFamily="34" charset="0"/>
                          <a:ea typeface="Calibri" pitchFamily="34" charset="-122"/>
                          <a:cs typeface="Calibri" pitchFamily="34" charset="-120"/>
                        </a:rPr>
                        <a:t>▼ Reduce</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r>
              <a:tr h="428752">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CRT Portfolio</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$15,000,000</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85FA5"/>
                          </a:solidFill>
                          <a:latin typeface="Calibri" pitchFamily="34" charset="0"/>
                          <a:ea typeface="Calibri" pitchFamily="34" charset="-122"/>
                          <a:cs typeface="Calibri" pitchFamily="34" charset="-120"/>
                        </a:rPr>
                        <a:t>★ New</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r>
              <a:tr h="428752">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Diversified Public Equities</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$15M – $18M</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$25M – $30M</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A6B45"/>
                          </a:solidFill>
                          <a:latin typeface="Calibri" pitchFamily="34" charset="0"/>
                          <a:ea typeface="Calibri" pitchFamily="34" charset="-122"/>
                          <a:cs typeface="Calibri" pitchFamily="34" charset="-120"/>
                        </a:rPr>
                        <a:t>▲ Grow</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r>
              <a:tr h="428752">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Municipal Bonds / Fixed Income</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$5,500,000</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$8M – $10M</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A6B45"/>
                          </a:solidFill>
                          <a:latin typeface="Calibri" pitchFamily="34" charset="0"/>
                          <a:ea typeface="Calibri" pitchFamily="34" charset="-122"/>
                          <a:cs typeface="Calibri" pitchFamily="34" charset="-120"/>
                        </a:rPr>
                        <a:t>▲ Grow</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r>
              <a:tr h="428752">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Tax-Loss Harvesting / 130-30</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$10M – $15M</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85FA5"/>
                          </a:solidFill>
                          <a:latin typeface="Calibri" pitchFamily="34" charset="0"/>
                          <a:ea typeface="Calibri" pitchFamily="34" charset="-122"/>
                          <a:cs typeface="Calibri" pitchFamily="34" charset="-120"/>
                        </a:rPr>
                        <a:t>★ New</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r>
              <a:tr h="428752">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Cash / Treasury Bills</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$3,000,000</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$3M – $5M</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4A5568"/>
                          </a:solidFill>
                          <a:latin typeface="Calibri" pitchFamily="34" charset="0"/>
                          <a:ea typeface="Calibri" pitchFamily="34" charset="-122"/>
                          <a:cs typeface="Calibri" pitchFamily="34" charset="-120"/>
                        </a:rPr>
                        <a:t>— Maintain</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r>
              <a:tr h="428752">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Charitable / Foundation Assets</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$1,000,000</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$5M+</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A6B45"/>
                          </a:solidFill>
                          <a:latin typeface="Calibri" pitchFamily="34" charset="0"/>
                          <a:ea typeface="Calibri" pitchFamily="34" charset="-122"/>
                          <a:cs typeface="Calibri" pitchFamily="34" charset="-120"/>
                        </a:rPr>
                        <a:t>▲ Grow</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r>
              <a:tr h="428752">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Real Estate Holdings</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$28,000,000</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Maintain</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4A5568"/>
                          </a:solidFill>
                          <a:latin typeface="Calibri" pitchFamily="34" charset="0"/>
                          <a:ea typeface="Calibri" pitchFamily="34" charset="-122"/>
                          <a:cs typeface="Calibri" pitchFamily="34" charset="-120"/>
                        </a:rPr>
                        <a:t>— Review annually</a:t>
                      </a:r>
                      <a:endParaRPr lang="en-US" sz="1000" dirty="0">
                        <a:latin typeface="Calibri" charset="0"/>
                        <a:ea typeface="Calibri" charset="0"/>
                        <a:cs typeface="Calibri" charset="0"/>
                      </a:endParaRPr>
                    </a:p>
                  </a:txBody>
                  <a:tcPr marL="91440" marR="91440" marT="45720" marB="4572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r>
            </a:tbl>
          </a:graphicData>
        </a:graphic>
      </p:graphicFrame>
      <p:sp>
        <p:nvSpPr>
          <p:cNvPr id="6" name="Text 3"/>
          <p:cNvSpPr/>
          <p:nvPr/>
        </p:nvSpPr>
        <p:spPr>
          <a:xfrm>
            <a:off x="256032" y="4901184"/>
            <a:ext cx="8686800" cy="164592"/>
          </a:xfrm>
          <a:prstGeom prst="rect">
            <a:avLst/>
          </a:prstGeom>
          <a:noFill/>
          <a:ln/>
        </p:spPr>
        <p:txBody>
          <a:bodyPr wrap="square" lIns="0" tIns="0" rIns="0" bIns="0" rtlCol="0" anchor="ctr"/>
          <a:lstStyle/>
          <a:p>
            <a:pPr indent="0" marL="0">
              <a:buNone/>
            </a:pPr>
            <a:r>
              <a:rPr lang="en-US" sz="800" i="1" dirty="0">
                <a:solidFill>
                  <a:srgbClr val="718096"/>
                </a:solidFill>
                <a:latin typeface="Calibri" pitchFamily="34" charset="0"/>
                <a:ea typeface="Calibri" pitchFamily="34" charset="-122"/>
                <a:cs typeface="Calibri" pitchFamily="34" charset="-120"/>
              </a:rPr>
              <a:t>Target allocations are directional goals to be achieved over a multi-year period, coordinated with annual tax planning, trading windows, and estate counsel.</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B5922E"/>
          </a:solidFill>
          <a:ln w="12700">
            <a:solidFill>
              <a:srgbClr val="B5922E"/>
            </a:solidFill>
            <a:prstDash val="solid"/>
          </a:ln>
        </p:spPr>
      </p:sp>
      <p:sp>
        <p:nvSpPr>
          <p:cNvPr id="3" name="Text 1"/>
          <p:cNvSpPr/>
          <p:nvPr/>
        </p:nvSpPr>
        <p:spPr>
          <a:xfrm>
            <a:off x="411480" y="1371600"/>
            <a:ext cx="2743200" cy="1097280"/>
          </a:xfrm>
          <a:prstGeom prst="rect">
            <a:avLst/>
          </a:prstGeom>
          <a:noFill/>
          <a:ln/>
        </p:spPr>
        <p:txBody>
          <a:bodyPr wrap="square" lIns="0" tIns="0" rIns="0" bIns="0" rtlCol="0" anchor="ctr"/>
          <a:lstStyle/>
          <a:p>
            <a:pPr indent="0" marL="0">
              <a:buNone/>
            </a:pPr>
            <a:r>
              <a:rPr lang="en-US" sz="9600" b="1" dirty="0">
                <a:solidFill>
                  <a:srgbClr val="1E3347"/>
                </a:solidFill>
                <a:latin typeface="Garamond" pitchFamily="34" charset="0"/>
                <a:ea typeface="Garamond" pitchFamily="34" charset="-122"/>
                <a:cs typeface="Garamond" pitchFamily="34" charset="-120"/>
              </a:rPr>
              <a:t>PM</a:t>
            </a:r>
            <a:endParaRPr lang="en-US" sz="9600" dirty="0"/>
          </a:p>
        </p:txBody>
      </p:sp>
      <p:sp>
        <p:nvSpPr>
          <p:cNvPr id="4" name="Text 2"/>
          <p:cNvSpPr/>
          <p:nvPr/>
        </p:nvSpPr>
        <p:spPr>
          <a:xfrm>
            <a:off x="411480" y="1234440"/>
            <a:ext cx="7315200" cy="201168"/>
          </a:xfrm>
          <a:prstGeom prst="rect">
            <a:avLst/>
          </a:prstGeom>
          <a:noFill/>
          <a:ln/>
        </p:spPr>
        <p:txBody>
          <a:bodyPr wrap="square" lIns="0" tIns="0" rIns="0" bIns="0" rtlCol="0" anchor="ctr"/>
          <a:lstStyle/>
          <a:p>
            <a:pPr indent="0" marL="0">
              <a:buNone/>
            </a:pPr>
            <a:r>
              <a:rPr lang="en-US" sz="900" b="1" spc="300" kern="0" dirty="0">
                <a:solidFill>
                  <a:srgbClr val="B5922E"/>
                </a:solidFill>
                <a:latin typeface="Calibri" pitchFamily="34" charset="0"/>
                <a:ea typeface="Calibri" pitchFamily="34" charset="-122"/>
                <a:cs typeface="Calibri" pitchFamily="34" charset="-120"/>
              </a:rPr>
              <a:t>PLANNING MODULES</a:t>
            </a:r>
            <a:endParaRPr lang="en-US" sz="900" dirty="0"/>
          </a:p>
        </p:txBody>
      </p:sp>
      <p:sp>
        <p:nvSpPr>
          <p:cNvPr id="5" name="Text 3"/>
          <p:cNvSpPr/>
          <p:nvPr/>
        </p:nvSpPr>
        <p:spPr>
          <a:xfrm>
            <a:off x="411480" y="2395728"/>
            <a:ext cx="6400800" cy="502920"/>
          </a:xfrm>
          <a:prstGeom prst="rect">
            <a:avLst/>
          </a:prstGeom>
          <a:noFill/>
          <a:ln/>
        </p:spPr>
        <p:txBody>
          <a:bodyPr wrap="square" lIns="0" tIns="0" rIns="0" bIns="0" rtlCol="0" anchor="ctr"/>
          <a:lstStyle/>
          <a:p>
            <a:pPr indent="0" marL="0">
              <a:buNone/>
            </a:pPr>
            <a:r>
              <a:rPr lang="en-US" sz="3600" b="1" dirty="0">
                <a:solidFill>
                  <a:srgbClr val="FFFFFF"/>
                </a:solidFill>
                <a:latin typeface="Garamond" pitchFamily="34" charset="0"/>
                <a:ea typeface="Garamond" pitchFamily="34" charset="-122"/>
                <a:cs typeface="Garamond" pitchFamily="34" charset="-120"/>
              </a:rPr>
              <a:t>Comprehensive</a:t>
            </a:r>
            <a:endParaRPr lang="en-US" sz="3600" dirty="0"/>
          </a:p>
          <a:p>
            <a:pPr indent="0" marL="0">
              <a:buNone/>
            </a:pPr>
            <a:r>
              <a:rPr lang="en-US" sz="3600" b="1" dirty="0">
                <a:solidFill>
                  <a:srgbClr val="FFFFFF"/>
                </a:solidFill>
                <a:latin typeface="Garamond" pitchFamily="34" charset="0"/>
                <a:ea typeface="Garamond" pitchFamily="34" charset="-122"/>
                <a:cs typeface="Garamond" pitchFamily="34" charset="-120"/>
              </a:rPr>
              <a:t>Planning Modules</a:t>
            </a:r>
            <a:endParaRPr lang="en-US" sz="3600" dirty="0"/>
          </a:p>
        </p:txBody>
      </p:sp>
      <p:sp>
        <p:nvSpPr>
          <p:cNvPr id="6" name="Text 4"/>
          <p:cNvSpPr/>
          <p:nvPr/>
        </p:nvSpPr>
        <p:spPr>
          <a:xfrm>
            <a:off x="411480" y="3621024"/>
            <a:ext cx="7315200" cy="365760"/>
          </a:xfrm>
          <a:prstGeom prst="rect">
            <a:avLst/>
          </a:prstGeom>
          <a:noFill/>
          <a:ln/>
        </p:spPr>
        <p:txBody>
          <a:bodyPr wrap="square" lIns="0" tIns="0" rIns="0" bIns="0" rtlCol="0" anchor="ctr"/>
          <a:lstStyle/>
          <a:p>
            <a:pPr indent="0" marL="0">
              <a:buNone/>
            </a:pPr>
            <a:r>
              <a:rPr lang="en-US" sz="1300" dirty="0">
                <a:solidFill>
                  <a:srgbClr val="A0B4C8"/>
                </a:solidFill>
                <a:latin typeface="Calibri" pitchFamily="34" charset="0"/>
                <a:ea typeface="Calibri" pitchFamily="34" charset="-122"/>
                <a:cs typeface="Calibri" pitchFamily="34" charset="-120"/>
              </a:rPr>
              <a:t>Risk · Goals · Liquidity · Tax · Income · Retirement · Legacy · Restrictions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1B2A"/>
          </a:solidFill>
          <a:ln w="12700">
            <a:solidFill>
              <a:srgbClr val="0D1B2A"/>
            </a:solidFill>
            <a:prstDash val="solid"/>
          </a:ln>
        </p:spPr>
      </p:sp>
      <p:sp>
        <p:nvSpPr>
          <p:cNvPr id="3" name="Text 1"/>
          <p:cNvSpPr/>
          <p:nvPr/>
        </p:nvSpPr>
        <p:spPr>
          <a:xfrm>
            <a:off x="256032" y="274320"/>
            <a:ext cx="7315200" cy="201168"/>
          </a:xfrm>
          <a:prstGeom prst="rect">
            <a:avLst/>
          </a:prstGeom>
          <a:noFill/>
          <a:ln/>
        </p:spPr>
        <p:txBody>
          <a:bodyPr wrap="square" lIns="0" tIns="0" rIns="0" bIns="0" rtlCol="0" anchor="ctr"/>
          <a:lstStyle/>
          <a:p>
            <a:pPr indent="0" marL="0">
              <a:buNone/>
            </a:pPr>
            <a:r>
              <a:rPr lang="en-US" sz="900" b="1" spc="300" kern="0" dirty="0">
                <a:solidFill>
                  <a:srgbClr val="B5922E"/>
                </a:solidFill>
                <a:latin typeface="Calibri" pitchFamily="34" charset="0"/>
                <a:ea typeface="Calibri" pitchFamily="34" charset="-122"/>
                <a:cs typeface="Calibri" pitchFamily="34" charset="-120"/>
              </a:rPr>
              <a:t>PLANNING MODULE · RISK MANAGEMENT</a:t>
            </a:r>
            <a:endParaRPr lang="en-US" sz="900" dirty="0"/>
          </a:p>
        </p:txBody>
      </p:sp>
      <p:sp>
        <p:nvSpPr>
          <p:cNvPr id="4" name="Text 2"/>
          <p:cNvSpPr/>
          <p:nvPr/>
        </p:nvSpPr>
        <p:spPr>
          <a:xfrm>
            <a:off x="256032" y="493776"/>
            <a:ext cx="8686800" cy="502920"/>
          </a:xfrm>
          <a:prstGeom prst="rect">
            <a:avLst/>
          </a:prstGeom>
          <a:noFill/>
          <a:ln/>
        </p:spPr>
        <p:txBody>
          <a:bodyPr wrap="square" lIns="0" tIns="0" rIns="0" bIns="0" rtlCol="0" anchor="ctr"/>
          <a:lstStyle/>
          <a:p>
            <a:pPr indent="0" marL="0">
              <a:buNone/>
            </a:pPr>
            <a:r>
              <a:rPr lang="en-US" sz="2400" b="1" dirty="0">
                <a:solidFill>
                  <a:srgbClr val="0D1B2A"/>
                </a:solidFill>
                <a:latin typeface="Garamond" pitchFamily="34" charset="0"/>
                <a:ea typeface="Garamond" pitchFamily="34" charset="-122"/>
                <a:cs typeface="Garamond" pitchFamily="34" charset="-120"/>
              </a:rPr>
              <a:t>Risk Management Overview</a:t>
            </a:r>
            <a:endParaRPr lang="en-US" sz="2400" dirty="0"/>
          </a:p>
        </p:txBody>
      </p:sp>
      <p:sp>
        <p:nvSpPr>
          <p:cNvPr id="5" name="Shape 3"/>
          <p:cNvSpPr/>
          <p:nvPr/>
        </p:nvSpPr>
        <p:spPr>
          <a:xfrm>
            <a:off x="256032" y="1024128"/>
            <a:ext cx="8686800" cy="310896"/>
          </a:xfrm>
          <a:prstGeom prst="rect">
            <a:avLst/>
          </a:prstGeom>
          <a:solidFill>
            <a:srgbClr val="F6F6F4"/>
          </a:solidFill>
          <a:ln w="9525">
            <a:solidFill>
              <a:srgbClr val="DEDEDE"/>
            </a:solidFill>
            <a:prstDash val="solid"/>
          </a:ln>
        </p:spPr>
      </p:sp>
      <p:sp>
        <p:nvSpPr>
          <p:cNvPr id="6" name="Shape 4"/>
          <p:cNvSpPr/>
          <p:nvPr/>
        </p:nvSpPr>
        <p:spPr>
          <a:xfrm>
            <a:off x="256032" y="1024128"/>
            <a:ext cx="1737360" cy="310896"/>
          </a:xfrm>
          <a:prstGeom prst="rect">
            <a:avLst/>
          </a:prstGeom>
          <a:solidFill>
            <a:srgbClr val="4A90D9"/>
          </a:solidFill>
          <a:ln w="12700">
            <a:solidFill>
              <a:srgbClr val="4A90D9"/>
            </a:solidFill>
            <a:prstDash val="solid"/>
          </a:ln>
        </p:spPr>
      </p:sp>
      <p:sp>
        <p:nvSpPr>
          <p:cNvPr id="7" name="Text 5"/>
          <p:cNvSpPr/>
          <p:nvPr/>
        </p:nvSpPr>
        <p:spPr>
          <a:xfrm>
            <a:off x="256032" y="1024128"/>
            <a:ext cx="1737360"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Conservative</a:t>
            </a:r>
            <a:endParaRPr lang="en-US" sz="850" dirty="0"/>
          </a:p>
        </p:txBody>
      </p:sp>
      <p:sp>
        <p:nvSpPr>
          <p:cNvPr id="8" name="Shape 6"/>
          <p:cNvSpPr/>
          <p:nvPr/>
        </p:nvSpPr>
        <p:spPr>
          <a:xfrm>
            <a:off x="1993392" y="1024128"/>
            <a:ext cx="1737360" cy="310896"/>
          </a:xfrm>
          <a:prstGeom prst="rect">
            <a:avLst/>
          </a:prstGeom>
          <a:solidFill>
            <a:srgbClr val="6EB56E"/>
          </a:solidFill>
          <a:ln w="12700">
            <a:solidFill>
              <a:srgbClr val="6EB56E"/>
            </a:solidFill>
            <a:prstDash val="solid"/>
          </a:ln>
        </p:spPr>
      </p:sp>
      <p:sp>
        <p:nvSpPr>
          <p:cNvPr id="9" name="Text 7"/>
          <p:cNvSpPr/>
          <p:nvPr/>
        </p:nvSpPr>
        <p:spPr>
          <a:xfrm>
            <a:off x="1993392" y="1024128"/>
            <a:ext cx="1737360"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Moderate</a:t>
            </a:r>
            <a:endParaRPr lang="en-US" sz="850" dirty="0"/>
          </a:p>
        </p:txBody>
      </p:sp>
      <p:sp>
        <p:nvSpPr>
          <p:cNvPr id="10" name="Shape 8"/>
          <p:cNvSpPr/>
          <p:nvPr/>
        </p:nvSpPr>
        <p:spPr>
          <a:xfrm>
            <a:off x="3730752" y="1024128"/>
            <a:ext cx="1737360" cy="310896"/>
          </a:xfrm>
          <a:prstGeom prst="rect">
            <a:avLst/>
          </a:prstGeom>
          <a:solidFill>
            <a:srgbClr val="B5922E"/>
          </a:solidFill>
          <a:ln w="12700">
            <a:solidFill>
              <a:srgbClr val="B5922E"/>
            </a:solidFill>
            <a:prstDash val="solid"/>
          </a:ln>
        </p:spPr>
      </p:sp>
      <p:sp>
        <p:nvSpPr>
          <p:cNvPr id="11" name="Text 9"/>
          <p:cNvSpPr/>
          <p:nvPr/>
        </p:nvSpPr>
        <p:spPr>
          <a:xfrm>
            <a:off x="3730752" y="1024128"/>
            <a:ext cx="1737360"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Balanced</a:t>
            </a:r>
            <a:endParaRPr lang="en-US" sz="850" dirty="0"/>
          </a:p>
        </p:txBody>
      </p:sp>
      <p:sp>
        <p:nvSpPr>
          <p:cNvPr id="12" name="Shape 10"/>
          <p:cNvSpPr/>
          <p:nvPr/>
        </p:nvSpPr>
        <p:spPr>
          <a:xfrm>
            <a:off x="5468112" y="1024128"/>
            <a:ext cx="1737360" cy="310896"/>
          </a:xfrm>
          <a:prstGeom prst="rect">
            <a:avLst/>
          </a:prstGeom>
          <a:solidFill>
            <a:srgbClr val="E8892A"/>
          </a:solidFill>
          <a:ln w="12700">
            <a:solidFill>
              <a:srgbClr val="E8892A"/>
            </a:solidFill>
            <a:prstDash val="solid"/>
          </a:ln>
        </p:spPr>
      </p:sp>
      <p:sp>
        <p:nvSpPr>
          <p:cNvPr id="13" name="Text 11"/>
          <p:cNvSpPr/>
          <p:nvPr/>
        </p:nvSpPr>
        <p:spPr>
          <a:xfrm>
            <a:off x="5468112" y="1024128"/>
            <a:ext cx="1737360"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Growth</a:t>
            </a:r>
            <a:endParaRPr lang="en-US" sz="850" dirty="0"/>
          </a:p>
        </p:txBody>
      </p:sp>
      <p:sp>
        <p:nvSpPr>
          <p:cNvPr id="14" name="Shape 12"/>
          <p:cNvSpPr/>
          <p:nvPr/>
        </p:nvSpPr>
        <p:spPr>
          <a:xfrm>
            <a:off x="7205472" y="1024128"/>
            <a:ext cx="1737360" cy="310896"/>
          </a:xfrm>
          <a:prstGeom prst="rect">
            <a:avLst/>
          </a:prstGeom>
          <a:solidFill>
            <a:srgbClr val="C0392B"/>
          </a:solidFill>
          <a:ln w="12700">
            <a:solidFill>
              <a:srgbClr val="C0392B"/>
            </a:solidFill>
            <a:prstDash val="solid"/>
          </a:ln>
        </p:spPr>
      </p:sp>
      <p:sp>
        <p:nvSpPr>
          <p:cNvPr id="15" name="Text 13"/>
          <p:cNvSpPr/>
          <p:nvPr/>
        </p:nvSpPr>
        <p:spPr>
          <a:xfrm>
            <a:off x="7205472" y="1024128"/>
            <a:ext cx="1737360"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Aggressive</a:t>
            </a:r>
            <a:endParaRPr lang="en-US" sz="850" dirty="0"/>
          </a:p>
        </p:txBody>
      </p:sp>
      <p:sp>
        <p:nvSpPr>
          <p:cNvPr id="16" name="Shape 14"/>
          <p:cNvSpPr/>
          <p:nvPr/>
        </p:nvSpPr>
        <p:spPr>
          <a:xfrm>
            <a:off x="5394960" y="969264"/>
            <a:ext cx="54864" cy="420624"/>
          </a:xfrm>
          <a:prstGeom prst="rect">
            <a:avLst/>
          </a:prstGeom>
          <a:solidFill>
            <a:srgbClr val="0D1B2A"/>
          </a:solidFill>
          <a:ln w="12700">
            <a:solidFill>
              <a:srgbClr val="0D1B2A"/>
            </a:solidFill>
            <a:prstDash val="solid"/>
          </a:ln>
        </p:spPr>
      </p:sp>
      <p:sp>
        <p:nvSpPr>
          <p:cNvPr id="17" name="Text 15"/>
          <p:cNvSpPr/>
          <p:nvPr/>
        </p:nvSpPr>
        <p:spPr>
          <a:xfrm>
            <a:off x="5102352" y="768096"/>
            <a:ext cx="640080" cy="201168"/>
          </a:xfrm>
          <a:prstGeom prst="rect">
            <a:avLst/>
          </a:prstGeom>
          <a:noFill/>
          <a:ln/>
        </p:spPr>
        <p:txBody>
          <a:bodyPr wrap="square" lIns="0" tIns="0" rIns="0" bIns="0" rtlCol="0" anchor="ctr"/>
          <a:lstStyle/>
          <a:p>
            <a:pPr algn="ctr" indent="0" marL="0">
              <a:buNone/>
            </a:pPr>
            <a:r>
              <a:rPr lang="en-US" sz="900" b="1" dirty="0">
                <a:solidFill>
                  <a:srgbClr val="0D1B2A"/>
                </a:solidFill>
                <a:latin typeface="Calibri" pitchFamily="34" charset="0"/>
                <a:ea typeface="Calibri" pitchFamily="34" charset="-122"/>
                <a:cs typeface="Calibri" pitchFamily="34" charset="-120"/>
              </a:rPr>
              <a:t>64</a:t>
            </a:r>
            <a:endParaRPr lang="en-US" sz="900" dirty="0"/>
          </a:p>
        </p:txBody>
      </p:sp>
      <p:sp>
        <p:nvSpPr>
          <p:cNvPr id="18" name="Shape 16"/>
          <p:cNvSpPr/>
          <p:nvPr/>
        </p:nvSpPr>
        <p:spPr>
          <a:xfrm>
            <a:off x="256032" y="1481328"/>
            <a:ext cx="2798064" cy="3364992"/>
          </a:xfrm>
          <a:prstGeom prst="rect">
            <a:avLst/>
          </a:prstGeom>
          <a:solidFill>
            <a:srgbClr val="FFF8ED"/>
          </a:solidFill>
          <a:ln w="9525">
            <a:solidFill>
              <a:srgbClr val="DEDEDE"/>
            </a:solidFill>
            <a:prstDash val="solid"/>
          </a:ln>
        </p:spPr>
      </p:sp>
      <p:sp>
        <p:nvSpPr>
          <p:cNvPr id="19" name="Text 17"/>
          <p:cNvSpPr/>
          <p:nvPr/>
        </p:nvSpPr>
        <p:spPr>
          <a:xfrm>
            <a:off x="384048" y="1609344"/>
            <a:ext cx="1828800" cy="237744"/>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Market Risk</a:t>
            </a:r>
            <a:endParaRPr lang="en-US" sz="1100" dirty="0"/>
          </a:p>
        </p:txBody>
      </p:sp>
      <p:sp>
        <p:nvSpPr>
          <p:cNvPr id="20" name="Shape 18"/>
          <p:cNvSpPr/>
          <p:nvPr/>
        </p:nvSpPr>
        <p:spPr>
          <a:xfrm>
            <a:off x="2212848" y="1609344"/>
            <a:ext cx="713232" cy="237744"/>
          </a:xfrm>
          <a:prstGeom prst="rect">
            <a:avLst/>
          </a:prstGeom>
          <a:solidFill>
            <a:srgbClr val="E8892A"/>
          </a:solidFill>
          <a:ln w="12700">
            <a:solidFill>
              <a:srgbClr val="E8892A"/>
            </a:solidFill>
            <a:prstDash val="solid"/>
          </a:ln>
        </p:spPr>
      </p:sp>
      <p:sp>
        <p:nvSpPr>
          <p:cNvPr id="21" name="Text 19"/>
          <p:cNvSpPr/>
          <p:nvPr/>
        </p:nvSpPr>
        <p:spPr>
          <a:xfrm>
            <a:off x="2212848" y="1609344"/>
            <a:ext cx="713232"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Moderate-High</a:t>
            </a:r>
            <a:endParaRPr lang="en-US" sz="800" dirty="0"/>
          </a:p>
        </p:txBody>
      </p:sp>
      <p:sp>
        <p:nvSpPr>
          <p:cNvPr id="22" name="Shape 20"/>
          <p:cNvSpPr/>
          <p:nvPr/>
        </p:nvSpPr>
        <p:spPr>
          <a:xfrm>
            <a:off x="384048" y="1883664"/>
            <a:ext cx="2523744" cy="10973"/>
          </a:xfrm>
          <a:prstGeom prst="rect">
            <a:avLst/>
          </a:prstGeom>
          <a:solidFill>
            <a:srgbClr val="DEDEDE"/>
          </a:solidFill>
          <a:ln w="12700">
            <a:solidFill>
              <a:srgbClr val="DEDEDE"/>
            </a:solidFill>
            <a:prstDash val="solid"/>
          </a:ln>
        </p:spPr>
      </p:sp>
      <p:sp>
        <p:nvSpPr>
          <p:cNvPr id="23" name="Text 21"/>
          <p:cNvSpPr/>
          <p:nvPr/>
        </p:nvSpPr>
        <p:spPr>
          <a:xfrm>
            <a:off x="384048" y="1956816"/>
            <a:ext cx="2523744" cy="822960"/>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Portfolio beta elevated by 64.6% NVDA concentration. Single-stock volatility significantly exceeds broad market. Options collar reduces tail risk on retained position.</a:t>
            </a:r>
            <a:endParaRPr lang="en-US" sz="900" dirty="0"/>
          </a:p>
        </p:txBody>
      </p:sp>
      <p:sp>
        <p:nvSpPr>
          <p:cNvPr id="24" name="Text 22"/>
          <p:cNvSpPr/>
          <p:nvPr/>
        </p:nvSpPr>
        <p:spPr>
          <a:xfrm>
            <a:off x="384048" y="2834640"/>
            <a:ext cx="2523744" cy="164592"/>
          </a:xfrm>
          <a:prstGeom prst="rect">
            <a:avLst/>
          </a:prstGeom>
          <a:noFill/>
          <a:ln/>
        </p:spPr>
        <p:txBody>
          <a:bodyPr wrap="square" lIns="0" tIns="0" rIns="0" bIns="0" rtlCol="0" anchor="ctr"/>
          <a:lstStyle/>
          <a:p>
            <a:pPr indent="0" marL="0">
              <a:buNone/>
            </a:pPr>
            <a:r>
              <a:rPr lang="en-US" sz="800" b="1" spc="150" kern="0" dirty="0">
                <a:solidFill>
                  <a:srgbClr val="E8892A"/>
                </a:solidFill>
                <a:latin typeface="Calibri" pitchFamily="34" charset="0"/>
                <a:ea typeface="Calibri" pitchFamily="34" charset="-122"/>
                <a:cs typeface="Calibri" pitchFamily="34" charset="-120"/>
              </a:rPr>
              <a:t>ACTIONS</a:t>
            </a:r>
            <a:endParaRPr lang="en-US" sz="800" dirty="0"/>
          </a:p>
        </p:txBody>
      </p:sp>
      <p:sp>
        <p:nvSpPr>
          <p:cNvPr id="25" name="Shape 23"/>
          <p:cNvSpPr/>
          <p:nvPr/>
        </p:nvSpPr>
        <p:spPr>
          <a:xfrm>
            <a:off x="384048" y="3054096"/>
            <a:ext cx="109728" cy="109728"/>
          </a:xfrm>
          <a:prstGeom prst="ellipse">
            <a:avLst/>
          </a:prstGeom>
          <a:solidFill>
            <a:srgbClr val="E8892A"/>
          </a:solidFill>
          <a:ln w="12700">
            <a:solidFill>
              <a:srgbClr val="E8892A"/>
            </a:solidFill>
            <a:prstDash val="solid"/>
          </a:ln>
        </p:spPr>
      </p:sp>
      <p:sp>
        <p:nvSpPr>
          <p:cNvPr id="26" name="Text 24"/>
          <p:cNvSpPr/>
          <p:nvPr/>
        </p:nvSpPr>
        <p:spPr>
          <a:xfrm>
            <a:off x="548640" y="3017520"/>
            <a:ext cx="2359152" cy="274320"/>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Implement options collar on $31.5M NVDA</a:t>
            </a:r>
            <a:endParaRPr lang="en-US" sz="900" dirty="0"/>
          </a:p>
        </p:txBody>
      </p:sp>
      <p:sp>
        <p:nvSpPr>
          <p:cNvPr id="27" name="Shape 25"/>
          <p:cNvSpPr/>
          <p:nvPr/>
        </p:nvSpPr>
        <p:spPr>
          <a:xfrm>
            <a:off x="384048" y="3401568"/>
            <a:ext cx="109728" cy="109728"/>
          </a:xfrm>
          <a:prstGeom prst="ellipse">
            <a:avLst/>
          </a:prstGeom>
          <a:solidFill>
            <a:srgbClr val="E8892A"/>
          </a:solidFill>
          <a:ln w="12700">
            <a:solidFill>
              <a:srgbClr val="E8892A"/>
            </a:solidFill>
            <a:prstDash val="solid"/>
          </a:ln>
        </p:spPr>
      </p:sp>
      <p:sp>
        <p:nvSpPr>
          <p:cNvPr id="28" name="Text 26"/>
          <p:cNvSpPr/>
          <p:nvPr/>
        </p:nvSpPr>
        <p:spPr>
          <a:xfrm>
            <a:off x="548640" y="3364992"/>
            <a:ext cx="2359152" cy="274320"/>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Diversify into Select Liquidity 60/40 model</a:t>
            </a:r>
            <a:endParaRPr lang="en-US" sz="900" dirty="0"/>
          </a:p>
        </p:txBody>
      </p:sp>
      <p:sp>
        <p:nvSpPr>
          <p:cNvPr id="29" name="Shape 27"/>
          <p:cNvSpPr/>
          <p:nvPr/>
        </p:nvSpPr>
        <p:spPr>
          <a:xfrm>
            <a:off x="384048" y="3749040"/>
            <a:ext cx="109728" cy="109728"/>
          </a:xfrm>
          <a:prstGeom prst="ellipse">
            <a:avLst/>
          </a:prstGeom>
          <a:solidFill>
            <a:srgbClr val="E8892A"/>
          </a:solidFill>
          <a:ln w="12700">
            <a:solidFill>
              <a:srgbClr val="E8892A"/>
            </a:solidFill>
            <a:prstDash val="solid"/>
          </a:ln>
        </p:spPr>
      </p:sp>
      <p:sp>
        <p:nvSpPr>
          <p:cNvPr id="30" name="Text 28"/>
          <p:cNvSpPr/>
          <p:nvPr/>
        </p:nvSpPr>
        <p:spPr>
          <a:xfrm>
            <a:off x="548640" y="3712464"/>
            <a:ext cx="2359152" cy="274320"/>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Add alternatives allocation (22% target)</a:t>
            </a:r>
            <a:endParaRPr lang="en-US" sz="900" dirty="0"/>
          </a:p>
        </p:txBody>
      </p:sp>
      <p:sp>
        <p:nvSpPr>
          <p:cNvPr id="31" name="Shape 29"/>
          <p:cNvSpPr/>
          <p:nvPr/>
        </p:nvSpPr>
        <p:spPr>
          <a:xfrm>
            <a:off x="3200400" y="1481328"/>
            <a:ext cx="2798064" cy="3364992"/>
          </a:xfrm>
          <a:prstGeom prst="rect">
            <a:avLst/>
          </a:prstGeom>
          <a:solidFill>
            <a:srgbClr val="FDF4F3"/>
          </a:solidFill>
          <a:ln w="9525">
            <a:solidFill>
              <a:srgbClr val="DEDEDE"/>
            </a:solidFill>
            <a:prstDash val="solid"/>
          </a:ln>
        </p:spPr>
      </p:sp>
      <p:sp>
        <p:nvSpPr>
          <p:cNvPr id="32" name="Text 30"/>
          <p:cNvSpPr/>
          <p:nvPr/>
        </p:nvSpPr>
        <p:spPr>
          <a:xfrm>
            <a:off x="3328416" y="1609344"/>
            <a:ext cx="1828800" cy="237744"/>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Concentration Risk</a:t>
            </a:r>
            <a:endParaRPr lang="en-US" sz="1100" dirty="0"/>
          </a:p>
        </p:txBody>
      </p:sp>
      <p:sp>
        <p:nvSpPr>
          <p:cNvPr id="33" name="Shape 31"/>
          <p:cNvSpPr/>
          <p:nvPr/>
        </p:nvSpPr>
        <p:spPr>
          <a:xfrm>
            <a:off x="5157216" y="1609344"/>
            <a:ext cx="713232" cy="237744"/>
          </a:xfrm>
          <a:prstGeom prst="rect">
            <a:avLst/>
          </a:prstGeom>
          <a:solidFill>
            <a:srgbClr val="C0392B"/>
          </a:solidFill>
          <a:ln w="12700">
            <a:solidFill>
              <a:srgbClr val="C0392B"/>
            </a:solidFill>
            <a:prstDash val="solid"/>
          </a:ln>
        </p:spPr>
      </p:sp>
      <p:sp>
        <p:nvSpPr>
          <p:cNvPr id="34" name="Text 32"/>
          <p:cNvSpPr/>
          <p:nvPr/>
        </p:nvSpPr>
        <p:spPr>
          <a:xfrm>
            <a:off x="5157216" y="1609344"/>
            <a:ext cx="713232"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High</a:t>
            </a:r>
            <a:endParaRPr lang="en-US" sz="800" dirty="0"/>
          </a:p>
        </p:txBody>
      </p:sp>
      <p:sp>
        <p:nvSpPr>
          <p:cNvPr id="35" name="Shape 33"/>
          <p:cNvSpPr/>
          <p:nvPr/>
        </p:nvSpPr>
        <p:spPr>
          <a:xfrm>
            <a:off x="3328416" y="1883664"/>
            <a:ext cx="2523744" cy="10973"/>
          </a:xfrm>
          <a:prstGeom prst="rect">
            <a:avLst/>
          </a:prstGeom>
          <a:solidFill>
            <a:srgbClr val="DEDEDE"/>
          </a:solidFill>
          <a:ln w="12700">
            <a:solidFill>
              <a:srgbClr val="DEDEDE"/>
            </a:solidFill>
            <a:prstDash val="solid"/>
          </a:ln>
        </p:spPr>
      </p:sp>
      <p:sp>
        <p:nvSpPr>
          <p:cNvPr id="36" name="Text 34"/>
          <p:cNvSpPr/>
          <p:nvPr/>
        </p:nvSpPr>
        <p:spPr>
          <a:xfrm>
            <a:off x="3328416" y="1956816"/>
            <a:ext cx="2523744" cy="822960"/>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NVDA at 64.6% of managed assets is the primary household risk. A 50% NVDA decline would reduce managed portfolio by ~$23M. Gradual reduction via CRT and staged sales is essential.</a:t>
            </a:r>
            <a:endParaRPr lang="en-US" sz="900" dirty="0"/>
          </a:p>
        </p:txBody>
      </p:sp>
      <p:sp>
        <p:nvSpPr>
          <p:cNvPr id="37" name="Text 35"/>
          <p:cNvSpPr/>
          <p:nvPr/>
        </p:nvSpPr>
        <p:spPr>
          <a:xfrm>
            <a:off x="3328416" y="2834640"/>
            <a:ext cx="2523744" cy="164592"/>
          </a:xfrm>
          <a:prstGeom prst="rect">
            <a:avLst/>
          </a:prstGeom>
          <a:noFill/>
          <a:ln/>
        </p:spPr>
        <p:txBody>
          <a:bodyPr wrap="square" lIns="0" tIns="0" rIns="0" bIns="0" rtlCol="0" anchor="ctr"/>
          <a:lstStyle/>
          <a:p>
            <a:pPr indent="0" marL="0">
              <a:buNone/>
            </a:pPr>
            <a:r>
              <a:rPr lang="en-US" sz="800" b="1" spc="150" kern="0" dirty="0">
                <a:solidFill>
                  <a:srgbClr val="C0392B"/>
                </a:solidFill>
                <a:latin typeface="Calibri" pitchFamily="34" charset="0"/>
                <a:ea typeface="Calibri" pitchFamily="34" charset="-122"/>
                <a:cs typeface="Calibri" pitchFamily="34" charset="-120"/>
              </a:rPr>
              <a:t>ACTIONS</a:t>
            </a:r>
            <a:endParaRPr lang="en-US" sz="800" dirty="0"/>
          </a:p>
        </p:txBody>
      </p:sp>
      <p:sp>
        <p:nvSpPr>
          <p:cNvPr id="38" name="Shape 36"/>
          <p:cNvSpPr/>
          <p:nvPr/>
        </p:nvSpPr>
        <p:spPr>
          <a:xfrm>
            <a:off x="3328416" y="3054096"/>
            <a:ext cx="109728" cy="109728"/>
          </a:xfrm>
          <a:prstGeom prst="ellipse">
            <a:avLst/>
          </a:prstGeom>
          <a:solidFill>
            <a:srgbClr val="C0392B"/>
          </a:solidFill>
          <a:ln w="12700">
            <a:solidFill>
              <a:srgbClr val="C0392B"/>
            </a:solidFill>
            <a:prstDash val="solid"/>
          </a:ln>
        </p:spPr>
      </p:sp>
      <p:sp>
        <p:nvSpPr>
          <p:cNvPr id="39" name="Text 37"/>
          <p:cNvSpPr/>
          <p:nvPr/>
        </p:nvSpPr>
        <p:spPr>
          <a:xfrm>
            <a:off x="3493008" y="3017520"/>
            <a:ext cx="2359152" cy="274320"/>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CRT: remove $15M tax-free</a:t>
            </a:r>
            <a:endParaRPr lang="en-US" sz="900" dirty="0"/>
          </a:p>
        </p:txBody>
      </p:sp>
      <p:sp>
        <p:nvSpPr>
          <p:cNvPr id="40" name="Shape 38"/>
          <p:cNvSpPr/>
          <p:nvPr/>
        </p:nvSpPr>
        <p:spPr>
          <a:xfrm>
            <a:off x="3328416" y="3401568"/>
            <a:ext cx="109728" cy="109728"/>
          </a:xfrm>
          <a:prstGeom prst="ellipse">
            <a:avLst/>
          </a:prstGeom>
          <a:solidFill>
            <a:srgbClr val="C0392B"/>
          </a:solidFill>
          <a:ln w="12700">
            <a:solidFill>
              <a:srgbClr val="C0392B"/>
            </a:solidFill>
            <a:prstDash val="solid"/>
          </a:ln>
        </p:spPr>
      </p:sp>
      <p:sp>
        <p:nvSpPr>
          <p:cNvPr id="41" name="Text 39"/>
          <p:cNvSpPr/>
          <p:nvPr/>
        </p:nvSpPr>
        <p:spPr>
          <a:xfrm>
            <a:off x="3493008" y="3364992"/>
            <a:ext cx="2359152" cy="274320"/>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Staged sales: $3–5M/year</a:t>
            </a:r>
            <a:endParaRPr lang="en-US" sz="900" dirty="0"/>
          </a:p>
        </p:txBody>
      </p:sp>
      <p:sp>
        <p:nvSpPr>
          <p:cNvPr id="42" name="Shape 40"/>
          <p:cNvSpPr/>
          <p:nvPr/>
        </p:nvSpPr>
        <p:spPr>
          <a:xfrm>
            <a:off x="3328416" y="3749040"/>
            <a:ext cx="109728" cy="109728"/>
          </a:xfrm>
          <a:prstGeom prst="ellipse">
            <a:avLst/>
          </a:prstGeom>
          <a:solidFill>
            <a:srgbClr val="C0392B"/>
          </a:solidFill>
          <a:ln w="12700">
            <a:solidFill>
              <a:srgbClr val="C0392B"/>
            </a:solidFill>
            <a:prstDash val="solid"/>
          </a:ln>
        </p:spPr>
      </p:sp>
      <p:sp>
        <p:nvSpPr>
          <p:cNvPr id="43" name="Text 41"/>
          <p:cNvSpPr/>
          <p:nvPr/>
        </p:nvSpPr>
        <p:spPr>
          <a:xfrm>
            <a:off x="3493008" y="3712464"/>
            <a:ext cx="2359152" cy="274320"/>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Target NVDA to $20–25M (30–35%)</a:t>
            </a:r>
            <a:endParaRPr lang="en-US" sz="900" dirty="0"/>
          </a:p>
        </p:txBody>
      </p:sp>
      <p:sp>
        <p:nvSpPr>
          <p:cNvPr id="44" name="Shape 42"/>
          <p:cNvSpPr/>
          <p:nvPr/>
        </p:nvSpPr>
        <p:spPr>
          <a:xfrm>
            <a:off x="6144768" y="1481328"/>
            <a:ext cx="2798064" cy="3364992"/>
          </a:xfrm>
          <a:prstGeom prst="rect">
            <a:avLst/>
          </a:prstGeom>
          <a:solidFill>
            <a:srgbClr val="EFF7F2"/>
          </a:solidFill>
          <a:ln w="9525">
            <a:solidFill>
              <a:srgbClr val="DEDEDE"/>
            </a:solidFill>
            <a:prstDash val="solid"/>
          </a:ln>
        </p:spPr>
      </p:sp>
      <p:sp>
        <p:nvSpPr>
          <p:cNvPr id="45" name="Text 43"/>
          <p:cNvSpPr/>
          <p:nvPr/>
        </p:nvSpPr>
        <p:spPr>
          <a:xfrm>
            <a:off x="6272784" y="1609344"/>
            <a:ext cx="1828800" cy="237744"/>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Liquidity Risk</a:t>
            </a:r>
            <a:endParaRPr lang="en-US" sz="1100" dirty="0"/>
          </a:p>
        </p:txBody>
      </p:sp>
      <p:sp>
        <p:nvSpPr>
          <p:cNvPr id="46" name="Shape 44"/>
          <p:cNvSpPr/>
          <p:nvPr/>
        </p:nvSpPr>
        <p:spPr>
          <a:xfrm>
            <a:off x="8101584" y="1609344"/>
            <a:ext cx="713232" cy="237744"/>
          </a:xfrm>
          <a:prstGeom prst="rect">
            <a:avLst/>
          </a:prstGeom>
          <a:solidFill>
            <a:srgbClr val="1A6B45"/>
          </a:solidFill>
          <a:ln w="12700">
            <a:solidFill>
              <a:srgbClr val="1A6B45"/>
            </a:solidFill>
            <a:prstDash val="solid"/>
          </a:ln>
        </p:spPr>
      </p:sp>
      <p:sp>
        <p:nvSpPr>
          <p:cNvPr id="47" name="Text 45"/>
          <p:cNvSpPr/>
          <p:nvPr/>
        </p:nvSpPr>
        <p:spPr>
          <a:xfrm>
            <a:off x="8101584" y="1609344"/>
            <a:ext cx="713232"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Low-Moderate</a:t>
            </a:r>
            <a:endParaRPr lang="en-US" sz="800" dirty="0"/>
          </a:p>
        </p:txBody>
      </p:sp>
      <p:sp>
        <p:nvSpPr>
          <p:cNvPr id="48" name="Shape 46"/>
          <p:cNvSpPr/>
          <p:nvPr/>
        </p:nvSpPr>
        <p:spPr>
          <a:xfrm>
            <a:off x="6272784" y="1883664"/>
            <a:ext cx="2523744" cy="10973"/>
          </a:xfrm>
          <a:prstGeom prst="rect">
            <a:avLst/>
          </a:prstGeom>
          <a:solidFill>
            <a:srgbClr val="DEDEDE"/>
          </a:solidFill>
          <a:ln w="12700">
            <a:solidFill>
              <a:srgbClr val="DEDEDE"/>
            </a:solidFill>
            <a:prstDash val="solid"/>
          </a:ln>
        </p:spPr>
      </p:sp>
      <p:sp>
        <p:nvSpPr>
          <p:cNvPr id="49" name="Text 47"/>
          <p:cNvSpPr/>
          <p:nvPr/>
        </p:nvSpPr>
        <p:spPr>
          <a:xfrm>
            <a:off x="6272784" y="1956816"/>
            <a:ext cx="2523744" cy="822960"/>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Household maintains $3M+ in cash/T-bills. Real estate ($28M) is illiquid. Investment portfolio is liquid apart from NVDA lock-up periods and trading windows.</a:t>
            </a:r>
            <a:endParaRPr lang="en-US" sz="900" dirty="0"/>
          </a:p>
        </p:txBody>
      </p:sp>
      <p:sp>
        <p:nvSpPr>
          <p:cNvPr id="50" name="Text 48"/>
          <p:cNvSpPr/>
          <p:nvPr/>
        </p:nvSpPr>
        <p:spPr>
          <a:xfrm>
            <a:off x="6272784" y="2834640"/>
            <a:ext cx="2523744" cy="164592"/>
          </a:xfrm>
          <a:prstGeom prst="rect">
            <a:avLst/>
          </a:prstGeom>
          <a:noFill/>
          <a:ln/>
        </p:spPr>
        <p:txBody>
          <a:bodyPr wrap="square" lIns="0" tIns="0" rIns="0" bIns="0" rtlCol="0" anchor="ctr"/>
          <a:lstStyle/>
          <a:p>
            <a:pPr indent="0" marL="0">
              <a:buNone/>
            </a:pPr>
            <a:r>
              <a:rPr lang="en-US" sz="800" b="1" spc="150" kern="0" dirty="0">
                <a:solidFill>
                  <a:srgbClr val="1A6B45"/>
                </a:solidFill>
                <a:latin typeface="Calibri" pitchFamily="34" charset="0"/>
                <a:ea typeface="Calibri" pitchFamily="34" charset="-122"/>
                <a:cs typeface="Calibri" pitchFamily="34" charset="-120"/>
              </a:rPr>
              <a:t>ACTIONS</a:t>
            </a:r>
            <a:endParaRPr lang="en-US" sz="800" dirty="0"/>
          </a:p>
        </p:txBody>
      </p:sp>
      <p:sp>
        <p:nvSpPr>
          <p:cNvPr id="51" name="Shape 49"/>
          <p:cNvSpPr/>
          <p:nvPr/>
        </p:nvSpPr>
        <p:spPr>
          <a:xfrm>
            <a:off x="6272784" y="3054096"/>
            <a:ext cx="109728" cy="109728"/>
          </a:xfrm>
          <a:prstGeom prst="ellipse">
            <a:avLst/>
          </a:prstGeom>
          <a:solidFill>
            <a:srgbClr val="1A6B45"/>
          </a:solidFill>
          <a:ln w="12700">
            <a:solidFill>
              <a:srgbClr val="1A6B45"/>
            </a:solidFill>
            <a:prstDash val="solid"/>
          </a:ln>
        </p:spPr>
      </p:sp>
      <p:sp>
        <p:nvSpPr>
          <p:cNvPr id="52" name="Text 50"/>
          <p:cNvSpPr/>
          <p:nvPr/>
        </p:nvSpPr>
        <p:spPr>
          <a:xfrm>
            <a:off x="6437376" y="3017520"/>
            <a:ext cx="2359152" cy="274320"/>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Maintain $3–5M cash reserve</a:t>
            </a:r>
            <a:endParaRPr lang="en-US" sz="900" dirty="0"/>
          </a:p>
        </p:txBody>
      </p:sp>
      <p:sp>
        <p:nvSpPr>
          <p:cNvPr id="53" name="Shape 51"/>
          <p:cNvSpPr/>
          <p:nvPr/>
        </p:nvSpPr>
        <p:spPr>
          <a:xfrm>
            <a:off x="6272784" y="3401568"/>
            <a:ext cx="109728" cy="109728"/>
          </a:xfrm>
          <a:prstGeom prst="ellipse">
            <a:avLst/>
          </a:prstGeom>
          <a:solidFill>
            <a:srgbClr val="1A6B45"/>
          </a:solidFill>
          <a:ln w="12700">
            <a:solidFill>
              <a:srgbClr val="1A6B45"/>
            </a:solidFill>
            <a:prstDash val="solid"/>
          </a:ln>
        </p:spPr>
      </p:sp>
      <p:sp>
        <p:nvSpPr>
          <p:cNvPr id="54" name="Text 52"/>
          <p:cNvSpPr/>
          <p:nvPr/>
        </p:nvSpPr>
        <p:spPr>
          <a:xfrm>
            <a:off x="6437376" y="3364992"/>
            <a:ext cx="2359152" cy="274320"/>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Interval funds provide quarterly liquidity</a:t>
            </a:r>
            <a:endParaRPr lang="en-US" sz="900" dirty="0"/>
          </a:p>
        </p:txBody>
      </p:sp>
      <p:sp>
        <p:nvSpPr>
          <p:cNvPr id="55" name="Shape 53"/>
          <p:cNvSpPr/>
          <p:nvPr/>
        </p:nvSpPr>
        <p:spPr>
          <a:xfrm>
            <a:off x="6272784" y="3749040"/>
            <a:ext cx="109728" cy="109728"/>
          </a:xfrm>
          <a:prstGeom prst="ellipse">
            <a:avLst/>
          </a:prstGeom>
          <a:solidFill>
            <a:srgbClr val="1A6B45"/>
          </a:solidFill>
          <a:ln w="12700">
            <a:solidFill>
              <a:srgbClr val="1A6B45"/>
            </a:solidFill>
            <a:prstDash val="solid"/>
          </a:ln>
        </p:spPr>
      </p:sp>
      <p:sp>
        <p:nvSpPr>
          <p:cNvPr id="56" name="Text 54"/>
          <p:cNvSpPr/>
          <p:nvPr/>
        </p:nvSpPr>
        <p:spPr>
          <a:xfrm>
            <a:off x="6437376" y="3712464"/>
            <a:ext cx="2359152" cy="274320"/>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Coordinate NVDA sales with trading windows</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1B2A"/>
          </a:solidFill>
          <a:ln w="12700">
            <a:solidFill>
              <a:srgbClr val="0D1B2A"/>
            </a:solidFill>
            <a:prstDash val="solid"/>
          </a:ln>
        </p:spPr>
      </p:sp>
      <p:sp>
        <p:nvSpPr>
          <p:cNvPr id="3" name="Text 1"/>
          <p:cNvSpPr/>
          <p:nvPr/>
        </p:nvSpPr>
        <p:spPr>
          <a:xfrm>
            <a:off x="256032" y="274320"/>
            <a:ext cx="7315200" cy="201168"/>
          </a:xfrm>
          <a:prstGeom prst="rect">
            <a:avLst/>
          </a:prstGeom>
          <a:noFill/>
          <a:ln/>
        </p:spPr>
        <p:txBody>
          <a:bodyPr wrap="square" lIns="0" tIns="0" rIns="0" bIns="0" rtlCol="0" anchor="ctr"/>
          <a:lstStyle/>
          <a:p>
            <a:pPr indent="0" marL="0">
              <a:buNone/>
            </a:pPr>
            <a:r>
              <a:rPr lang="en-US" sz="900" b="1" spc="300" kern="0" dirty="0">
                <a:solidFill>
                  <a:srgbClr val="B5922E"/>
                </a:solidFill>
                <a:latin typeface="Calibri" pitchFamily="34" charset="0"/>
                <a:ea typeface="Calibri" pitchFamily="34" charset="-122"/>
                <a:cs typeface="Calibri" pitchFamily="34" charset="-120"/>
              </a:rPr>
              <a:t>PLANNING MODULE · GOALS</a:t>
            </a:r>
            <a:endParaRPr lang="en-US" sz="900" dirty="0"/>
          </a:p>
        </p:txBody>
      </p:sp>
      <p:sp>
        <p:nvSpPr>
          <p:cNvPr id="4" name="Text 2"/>
          <p:cNvSpPr/>
          <p:nvPr/>
        </p:nvSpPr>
        <p:spPr>
          <a:xfrm>
            <a:off x="256032" y="493776"/>
            <a:ext cx="8686800" cy="502920"/>
          </a:xfrm>
          <a:prstGeom prst="rect">
            <a:avLst/>
          </a:prstGeom>
          <a:noFill/>
          <a:ln/>
        </p:spPr>
        <p:txBody>
          <a:bodyPr wrap="square" lIns="0" tIns="0" rIns="0" bIns="0" rtlCol="0" anchor="ctr"/>
          <a:lstStyle/>
          <a:p>
            <a:pPr indent="0" marL="0">
              <a:buNone/>
            </a:pPr>
            <a:r>
              <a:rPr lang="en-US" sz="2400" b="1" dirty="0">
                <a:solidFill>
                  <a:srgbClr val="0D1B2A"/>
                </a:solidFill>
                <a:latin typeface="Garamond" pitchFamily="34" charset="0"/>
                <a:ea typeface="Garamond" pitchFamily="34" charset="-122"/>
                <a:cs typeface="Garamond" pitchFamily="34" charset="-120"/>
              </a:rPr>
              <a:t>Goals Timeline</a:t>
            </a:r>
            <a:endParaRPr lang="en-US" sz="2400" dirty="0"/>
          </a:p>
        </p:txBody>
      </p:sp>
      <p:sp>
        <p:nvSpPr>
          <p:cNvPr id="5" name="Shape 3"/>
          <p:cNvSpPr/>
          <p:nvPr/>
        </p:nvSpPr>
        <p:spPr>
          <a:xfrm>
            <a:off x="256032" y="1572768"/>
            <a:ext cx="8686800" cy="54864"/>
          </a:xfrm>
          <a:prstGeom prst="rect">
            <a:avLst/>
          </a:prstGeom>
          <a:solidFill>
            <a:srgbClr val="DEDEDE"/>
          </a:solidFill>
          <a:ln w="12700">
            <a:solidFill>
              <a:srgbClr val="DEDEDE"/>
            </a:solidFill>
            <a:prstDash val="solid"/>
          </a:ln>
        </p:spPr>
      </p:sp>
      <p:sp>
        <p:nvSpPr>
          <p:cNvPr id="6" name="Shape 4"/>
          <p:cNvSpPr/>
          <p:nvPr/>
        </p:nvSpPr>
        <p:spPr>
          <a:xfrm>
            <a:off x="1060704" y="1481328"/>
            <a:ext cx="237744" cy="237744"/>
          </a:xfrm>
          <a:prstGeom prst="ellipse">
            <a:avLst/>
          </a:prstGeom>
          <a:solidFill>
            <a:srgbClr val="C0392B"/>
          </a:solidFill>
          <a:ln w="12700">
            <a:solidFill>
              <a:srgbClr val="C0392B"/>
            </a:solidFill>
            <a:prstDash val="solid"/>
          </a:ln>
        </p:spPr>
      </p:sp>
      <p:sp>
        <p:nvSpPr>
          <p:cNvPr id="7" name="Text 5"/>
          <p:cNvSpPr/>
          <p:nvPr/>
        </p:nvSpPr>
        <p:spPr>
          <a:xfrm>
            <a:off x="256032" y="1133856"/>
            <a:ext cx="1920240" cy="201168"/>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Immediate</a:t>
            </a:r>
            <a:endParaRPr lang="en-US" sz="1000" dirty="0"/>
          </a:p>
        </p:txBody>
      </p:sp>
      <p:sp>
        <p:nvSpPr>
          <p:cNvPr id="8" name="Text 6"/>
          <p:cNvSpPr/>
          <p:nvPr/>
        </p:nvSpPr>
        <p:spPr>
          <a:xfrm>
            <a:off x="256032" y="1335024"/>
            <a:ext cx="1920240" cy="164592"/>
          </a:xfrm>
          <a:prstGeom prst="rect">
            <a:avLst/>
          </a:prstGeom>
          <a:noFill/>
          <a:ln/>
        </p:spPr>
        <p:txBody>
          <a:bodyPr wrap="square" lIns="0" tIns="0" rIns="0" bIns="0" rtlCol="0" anchor="ctr"/>
          <a:lstStyle/>
          <a:p>
            <a:pPr algn="ctr" indent="0" marL="0">
              <a:buNone/>
            </a:pPr>
            <a:r>
              <a:rPr lang="en-US" sz="850" dirty="0">
                <a:solidFill>
                  <a:srgbClr val="718096"/>
                </a:solidFill>
                <a:latin typeface="Calibri" pitchFamily="34" charset="0"/>
                <a:ea typeface="Calibri" pitchFamily="34" charset="-122"/>
                <a:cs typeface="Calibri" pitchFamily="34" charset="-120"/>
              </a:rPr>
              <a:t>0–90 Days</a:t>
            </a:r>
            <a:endParaRPr lang="en-US" sz="850" dirty="0"/>
          </a:p>
        </p:txBody>
      </p:sp>
      <p:sp>
        <p:nvSpPr>
          <p:cNvPr id="9" name="Shape 7"/>
          <p:cNvSpPr/>
          <p:nvPr/>
        </p:nvSpPr>
        <p:spPr>
          <a:xfrm>
            <a:off x="256032" y="1847088"/>
            <a:ext cx="1920240" cy="2999232"/>
          </a:xfrm>
          <a:prstGeom prst="rect">
            <a:avLst/>
          </a:prstGeom>
          <a:solidFill>
            <a:srgbClr val="FFFFFF"/>
          </a:solidFill>
          <a:ln w="9525">
            <a:solidFill>
              <a:srgbClr val="C0392B"/>
            </a:solidFill>
            <a:prstDash val="solid"/>
          </a:ln>
          <a:effectLst>
            <a:outerShdw sx="100000" sy="100000" kx="0" ky="0" algn="bl" rotWithShape="0" blurRad="101600" dist="25400" dir="8100000">
              <a:srgbClr val="000000">
                <a:alpha val="6000"/>
              </a:srgbClr>
            </a:outerShdw>
          </a:effectLst>
        </p:spPr>
      </p:sp>
      <p:sp>
        <p:nvSpPr>
          <p:cNvPr id="10" name="Shape 8"/>
          <p:cNvSpPr/>
          <p:nvPr/>
        </p:nvSpPr>
        <p:spPr>
          <a:xfrm>
            <a:off x="256032" y="1847088"/>
            <a:ext cx="1920240" cy="36576"/>
          </a:xfrm>
          <a:prstGeom prst="rect">
            <a:avLst/>
          </a:prstGeom>
          <a:solidFill>
            <a:srgbClr val="C0392B"/>
          </a:solidFill>
          <a:ln w="12700">
            <a:solidFill>
              <a:srgbClr val="C0392B"/>
            </a:solidFill>
            <a:prstDash val="solid"/>
          </a:ln>
        </p:spPr>
      </p:sp>
      <p:sp>
        <p:nvSpPr>
          <p:cNvPr id="11" name="Shape 9"/>
          <p:cNvSpPr/>
          <p:nvPr/>
        </p:nvSpPr>
        <p:spPr>
          <a:xfrm>
            <a:off x="384048" y="2011680"/>
            <a:ext cx="128016" cy="128016"/>
          </a:xfrm>
          <a:prstGeom prst="ellipse">
            <a:avLst/>
          </a:prstGeom>
          <a:solidFill>
            <a:srgbClr val="C0392B"/>
          </a:solidFill>
          <a:ln w="12700">
            <a:solidFill>
              <a:srgbClr val="C0392B"/>
            </a:solidFill>
            <a:prstDash val="solid"/>
          </a:ln>
        </p:spPr>
      </p:sp>
      <p:sp>
        <p:nvSpPr>
          <p:cNvPr id="12" name="Text 10"/>
          <p:cNvSpPr/>
          <p:nvPr/>
        </p:nvSpPr>
        <p:spPr>
          <a:xfrm>
            <a:off x="566928" y="1975104"/>
            <a:ext cx="1481328" cy="548640"/>
          </a:xfrm>
          <a:prstGeom prst="rect">
            <a:avLst/>
          </a:prstGeom>
          <a:noFill/>
          <a:ln/>
        </p:spPr>
        <p:txBody>
          <a:bodyPr wrap="square" lIns="0" tIns="0" rIns="0" bIns="0" rtlCol="0" anchor="ctr"/>
          <a:lstStyle/>
          <a:p>
            <a:pPr indent="0" marL="0">
              <a:buNone/>
            </a:pPr>
            <a:r>
              <a:rPr lang="en-US" sz="950" dirty="0">
                <a:solidFill>
                  <a:srgbClr val="4A5568"/>
                </a:solidFill>
                <a:latin typeface="Calibri" pitchFamily="34" charset="0"/>
                <a:ea typeface="Calibri" pitchFamily="34" charset="-122"/>
                <a:cs typeface="Calibri" pitchFamily="34" charset="-120"/>
              </a:rPr>
              <a:t>Establish CRUT ($15M NVDA)</a:t>
            </a:r>
            <a:endParaRPr lang="en-US" sz="950" dirty="0"/>
          </a:p>
        </p:txBody>
      </p:sp>
      <p:sp>
        <p:nvSpPr>
          <p:cNvPr id="13" name="Shape 11"/>
          <p:cNvSpPr/>
          <p:nvPr/>
        </p:nvSpPr>
        <p:spPr>
          <a:xfrm>
            <a:off x="384048" y="2670048"/>
            <a:ext cx="128016" cy="128016"/>
          </a:xfrm>
          <a:prstGeom prst="ellipse">
            <a:avLst/>
          </a:prstGeom>
          <a:solidFill>
            <a:srgbClr val="C0392B"/>
          </a:solidFill>
          <a:ln w="12700">
            <a:solidFill>
              <a:srgbClr val="C0392B"/>
            </a:solidFill>
            <a:prstDash val="solid"/>
          </a:ln>
        </p:spPr>
      </p:sp>
      <p:sp>
        <p:nvSpPr>
          <p:cNvPr id="14" name="Text 12"/>
          <p:cNvSpPr/>
          <p:nvPr/>
        </p:nvSpPr>
        <p:spPr>
          <a:xfrm>
            <a:off x="566928" y="2633472"/>
            <a:ext cx="1481328" cy="548640"/>
          </a:xfrm>
          <a:prstGeom prst="rect">
            <a:avLst/>
          </a:prstGeom>
          <a:noFill/>
          <a:ln/>
        </p:spPr>
        <p:txBody>
          <a:bodyPr wrap="square" lIns="0" tIns="0" rIns="0" bIns="0" rtlCol="0" anchor="ctr"/>
          <a:lstStyle/>
          <a:p>
            <a:pPr indent="0" marL="0">
              <a:buNone/>
            </a:pPr>
            <a:r>
              <a:rPr lang="en-US" sz="950" dirty="0">
                <a:solidFill>
                  <a:srgbClr val="4A5568"/>
                </a:solidFill>
                <a:latin typeface="Calibri" pitchFamily="34" charset="0"/>
                <a:ea typeface="Calibri" pitchFamily="34" charset="-122"/>
                <a:cs typeface="Calibri" pitchFamily="34" charset="-120"/>
              </a:rPr>
              <a:t>Implement options collar</a:t>
            </a:r>
            <a:endParaRPr lang="en-US" sz="950" dirty="0"/>
          </a:p>
        </p:txBody>
      </p:sp>
      <p:sp>
        <p:nvSpPr>
          <p:cNvPr id="15" name="Shape 13"/>
          <p:cNvSpPr/>
          <p:nvPr/>
        </p:nvSpPr>
        <p:spPr>
          <a:xfrm>
            <a:off x="384048" y="3328416"/>
            <a:ext cx="128016" cy="128016"/>
          </a:xfrm>
          <a:prstGeom prst="ellipse">
            <a:avLst/>
          </a:prstGeom>
          <a:solidFill>
            <a:srgbClr val="C0392B"/>
          </a:solidFill>
          <a:ln w="12700">
            <a:solidFill>
              <a:srgbClr val="C0392B"/>
            </a:solidFill>
            <a:prstDash val="solid"/>
          </a:ln>
        </p:spPr>
      </p:sp>
      <p:sp>
        <p:nvSpPr>
          <p:cNvPr id="16" name="Text 14"/>
          <p:cNvSpPr/>
          <p:nvPr/>
        </p:nvSpPr>
        <p:spPr>
          <a:xfrm>
            <a:off x="566928" y="3291840"/>
            <a:ext cx="1481328" cy="548640"/>
          </a:xfrm>
          <a:prstGeom prst="rect">
            <a:avLst/>
          </a:prstGeom>
          <a:noFill/>
          <a:ln/>
        </p:spPr>
        <p:txBody>
          <a:bodyPr wrap="square" lIns="0" tIns="0" rIns="0" bIns="0" rtlCol="0" anchor="ctr"/>
          <a:lstStyle/>
          <a:p>
            <a:pPr indent="0" marL="0">
              <a:buNone/>
            </a:pPr>
            <a:r>
              <a:rPr lang="en-US" sz="950" dirty="0">
                <a:solidFill>
                  <a:srgbClr val="4A5568"/>
                </a:solidFill>
                <a:latin typeface="Calibri" pitchFamily="34" charset="0"/>
                <a:ea typeface="Calibri" pitchFamily="34" charset="-122"/>
                <a:cs typeface="Calibri" pitchFamily="34" charset="-120"/>
              </a:rPr>
              <a:t>Launch 130/30 TLH sleeve</a:t>
            </a:r>
            <a:endParaRPr lang="en-US" sz="950" dirty="0"/>
          </a:p>
        </p:txBody>
      </p:sp>
      <p:sp>
        <p:nvSpPr>
          <p:cNvPr id="17" name="Shape 15"/>
          <p:cNvSpPr/>
          <p:nvPr/>
        </p:nvSpPr>
        <p:spPr>
          <a:xfrm>
            <a:off x="384048" y="3986784"/>
            <a:ext cx="128016" cy="128016"/>
          </a:xfrm>
          <a:prstGeom prst="ellipse">
            <a:avLst/>
          </a:prstGeom>
          <a:solidFill>
            <a:srgbClr val="C0392B"/>
          </a:solidFill>
          <a:ln w="12700">
            <a:solidFill>
              <a:srgbClr val="C0392B"/>
            </a:solidFill>
            <a:prstDash val="solid"/>
          </a:ln>
        </p:spPr>
      </p:sp>
      <p:sp>
        <p:nvSpPr>
          <p:cNvPr id="18" name="Text 16"/>
          <p:cNvSpPr/>
          <p:nvPr/>
        </p:nvSpPr>
        <p:spPr>
          <a:xfrm>
            <a:off x="566928" y="3950208"/>
            <a:ext cx="1481328" cy="548640"/>
          </a:xfrm>
          <a:prstGeom prst="rect">
            <a:avLst/>
          </a:prstGeom>
          <a:noFill/>
          <a:ln/>
        </p:spPr>
        <p:txBody>
          <a:bodyPr wrap="square" lIns="0" tIns="0" rIns="0" bIns="0" rtlCol="0" anchor="ctr"/>
          <a:lstStyle/>
          <a:p>
            <a:pPr indent="0" marL="0">
              <a:buNone/>
            </a:pPr>
            <a:r>
              <a:rPr lang="en-US" sz="950" dirty="0">
                <a:solidFill>
                  <a:srgbClr val="4A5568"/>
                </a:solidFill>
                <a:latin typeface="Calibri" pitchFamily="34" charset="0"/>
                <a:ea typeface="Calibri" pitchFamily="34" charset="-122"/>
                <a:cs typeface="Calibri" pitchFamily="34" charset="-120"/>
              </a:rPr>
              <a:t>Review estate documents</a:t>
            </a:r>
            <a:endParaRPr lang="en-US" sz="950" dirty="0"/>
          </a:p>
        </p:txBody>
      </p:sp>
      <p:sp>
        <p:nvSpPr>
          <p:cNvPr id="19" name="Shape 17"/>
          <p:cNvSpPr/>
          <p:nvPr/>
        </p:nvSpPr>
        <p:spPr>
          <a:xfrm>
            <a:off x="3273552" y="1481328"/>
            <a:ext cx="237744" cy="237744"/>
          </a:xfrm>
          <a:prstGeom prst="ellipse">
            <a:avLst/>
          </a:prstGeom>
          <a:solidFill>
            <a:srgbClr val="E8892A"/>
          </a:solidFill>
          <a:ln w="12700">
            <a:solidFill>
              <a:srgbClr val="E8892A"/>
            </a:solidFill>
            <a:prstDash val="solid"/>
          </a:ln>
        </p:spPr>
      </p:sp>
      <p:sp>
        <p:nvSpPr>
          <p:cNvPr id="20" name="Text 18"/>
          <p:cNvSpPr/>
          <p:nvPr/>
        </p:nvSpPr>
        <p:spPr>
          <a:xfrm>
            <a:off x="2468880" y="1133856"/>
            <a:ext cx="1920240" cy="201168"/>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Near-Term</a:t>
            </a:r>
            <a:endParaRPr lang="en-US" sz="1000" dirty="0"/>
          </a:p>
        </p:txBody>
      </p:sp>
      <p:sp>
        <p:nvSpPr>
          <p:cNvPr id="21" name="Text 19"/>
          <p:cNvSpPr/>
          <p:nvPr/>
        </p:nvSpPr>
        <p:spPr>
          <a:xfrm>
            <a:off x="2468880" y="1335024"/>
            <a:ext cx="1920240" cy="164592"/>
          </a:xfrm>
          <a:prstGeom prst="rect">
            <a:avLst/>
          </a:prstGeom>
          <a:noFill/>
          <a:ln/>
        </p:spPr>
        <p:txBody>
          <a:bodyPr wrap="square" lIns="0" tIns="0" rIns="0" bIns="0" rtlCol="0" anchor="ctr"/>
          <a:lstStyle/>
          <a:p>
            <a:pPr algn="ctr" indent="0" marL="0">
              <a:buNone/>
            </a:pPr>
            <a:r>
              <a:rPr lang="en-US" sz="850" dirty="0">
                <a:solidFill>
                  <a:srgbClr val="718096"/>
                </a:solidFill>
                <a:latin typeface="Calibri" pitchFamily="34" charset="0"/>
                <a:ea typeface="Calibri" pitchFamily="34" charset="-122"/>
                <a:cs typeface="Calibri" pitchFamily="34" charset="-120"/>
              </a:rPr>
              <a:t>90–180 Days</a:t>
            </a:r>
            <a:endParaRPr lang="en-US" sz="850" dirty="0"/>
          </a:p>
        </p:txBody>
      </p:sp>
      <p:sp>
        <p:nvSpPr>
          <p:cNvPr id="22" name="Shape 20"/>
          <p:cNvSpPr/>
          <p:nvPr/>
        </p:nvSpPr>
        <p:spPr>
          <a:xfrm>
            <a:off x="2468880" y="1847088"/>
            <a:ext cx="1920240" cy="2999232"/>
          </a:xfrm>
          <a:prstGeom prst="rect">
            <a:avLst/>
          </a:prstGeom>
          <a:solidFill>
            <a:srgbClr val="FFFFFF"/>
          </a:solidFill>
          <a:ln w="9525">
            <a:solidFill>
              <a:srgbClr val="E8892A"/>
            </a:solidFill>
            <a:prstDash val="solid"/>
          </a:ln>
          <a:effectLst>
            <a:outerShdw sx="100000" sy="100000" kx="0" ky="0" algn="bl" rotWithShape="0" blurRad="101600" dist="25400" dir="8100000">
              <a:srgbClr val="000000">
                <a:alpha val="6000"/>
              </a:srgbClr>
            </a:outerShdw>
          </a:effectLst>
        </p:spPr>
      </p:sp>
      <p:sp>
        <p:nvSpPr>
          <p:cNvPr id="23" name="Shape 21"/>
          <p:cNvSpPr/>
          <p:nvPr/>
        </p:nvSpPr>
        <p:spPr>
          <a:xfrm>
            <a:off x="2468880" y="1847088"/>
            <a:ext cx="1920240" cy="36576"/>
          </a:xfrm>
          <a:prstGeom prst="rect">
            <a:avLst/>
          </a:prstGeom>
          <a:solidFill>
            <a:srgbClr val="E8892A"/>
          </a:solidFill>
          <a:ln w="12700">
            <a:solidFill>
              <a:srgbClr val="E8892A"/>
            </a:solidFill>
            <a:prstDash val="solid"/>
          </a:ln>
        </p:spPr>
      </p:sp>
      <p:sp>
        <p:nvSpPr>
          <p:cNvPr id="24" name="Shape 22"/>
          <p:cNvSpPr/>
          <p:nvPr/>
        </p:nvSpPr>
        <p:spPr>
          <a:xfrm>
            <a:off x="2596896" y="2011680"/>
            <a:ext cx="128016" cy="128016"/>
          </a:xfrm>
          <a:prstGeom prst="ellipse">
            <a:avLst/>
          </a:prstGeom>
          <a:solidFill>
            <a:srgbClr val="E8892A"/>
          </a:solidFill>
          <a:ln w="12700">
            <a:solidFill>
              <a:srgbClr val="E8892A"/>
            </a:solidFill>
            <a:prstDash val="solid"/>
          </a:ln>
        </p:spPr>
      </p:sp>
      <p:sp>
        <p:nvSpPr>
          <p:cNvPr id="25" name="Text 23"/>
          <p:cNvSpPr/>
          <p:nvPr/>
        </p:nvSpPr>
        <p:spPr>
          <a:xfrm>
            <a:off x="2779776" y="1975104"/>
            <a:ext cx="1481328" cy="548640"/>
          </a:xfrm>
          <a:prstGeom prst="rect">
            <a:avLst/>
          </a:prstGeom>
          <a:noFill/>
          <a:ln/>
        </p:spPr>
        <p:txBody>
          <a:bodyPr wrap="square" lIns="0" tIns="0" rIns="0" bIns="0" rtlCol="0" anchor="ctr"/>
          <a:lstStyle/>
          <a:p>
            <a:pPr indent="0" marL="0">
              <a:buNone/>
            </a:pPr>
            <a:r>
              <a:rPr lang="en-US" sz="950" dirty="0">
                <a:solidFill>
                  <a:srgbClr val="4A5568"/>
                </a:solidFill>
                <a:latin typeface="Calibri" pitchFamily="34" charset="0"/>
                <a:ea typeface="Calibri" pitchFamily="34" charset="-122"/>
                <a:cs typeface="Calibri" pitchFamily="34" charset="-120"/>
              </a:rPr>
              <a:t>Begin staged NVDA sales</a:t>
            </a:r>
            <a:endParaRPr lang="en-US" sz="950" dirty="0"/>
          </a:p>
        </p:txBody>
      </p:sp>
      <p:sp>
        <p:nvSpPr>
          <p:cNvPr id="26" name="Shape 24"/>
          <p:cNvSpPr/>
          <p:nvPr/>
        </p:nvSpPr>
        <p:spPr>
          <a:xfrm>
            <a:off x="2596896" y="2670048"/>
            <a:ext cx="128016" cy="128016"/>
          </a:xfrm>
          <a:prstGeom prst="ellipse">
            <a:avLst/>
          </a:prstGeom>
          <a:solidFill>
            <a:srgbClr val="E8892A"/>
          </a:solidFill>
          <a:ln w="12700">
            <a:solidFill>
              <a:srgbClr val="E8892A"/>
            </a:solidFill>
            <a:prstDash val="solid"/>
          </a:ln>
        </p:spPr>
      </p:sp>
      <p:sp>
        <p:nvSpPr>
          <p:cNvPr id="27" name="Text 25"/>
          <p:cNvSpPr/>
          <p:nvPr/>
        </p:nvSpPr>
        <p:spPr>
          <a:xfrm>
            <a:off x="2779776" y="2633472"/>
            <a:ext cx="1481328" cy="548640"/>
          </a:xfrm>
          <a:prstGeom prst="rect">
            <a:avLst/>
          </a:prstGeom>
          <a:noFill/>
          <a:ln/>
        </p:spPr>
        <p:txBody>
          <a:bodyPr wrap="square" lIns="0" tIns="0" rIns="0" bIns="0" rtlCol="0" anchor="ctr"/>
          <a:lstStyle/>
          <a:p>
            <a:pPr indent="0" marL="0">
              <a:buNone/>
            </a:pPr>
            <a:r>
              <a:rPr lang="en-US" sz="950" dirty="0">
                <a:solidFill>
                  <a:srgbClr val="4A5568"/>
                </a:solidFill>
                <a:latin typeface="Calibri" pitchFamily="34" charset="0"/>
                <a:ea typeface="Calibri" pitchFamily="34" charset="-122"/>
                <a:cs typeface="Calibri" pitchFamily="34" charset="-120"/>
              </a:rPr>
              <a:t>Reposition 0007B &amp; 0007C</a:t>
            </a:r>
            <a:endParaRPr lang="en-US" sz="950" dirty="0"/>
          </a:p>
        </p:txBody>
      </p:sp>
      <p:sp>
        <p:nvSpPr>
          <p:cNvPr id="28" name="Shape 26"/>
          <p:cNvSpPr/>
          <p:nvPr/>
        </p:nvSpPr>
        <p:spPr>
          <a:xfrm>
            <a:off x="2596896" y="3328416"/>
            <a:ext cx="128016" cy="128016"/>
          </a:xfrm>
          <a:prstGeom prst="ellipse">
            <a:avLst/>
          </a:prstGeom>
          <a:solidFill>
            <a:srgbClr val="E8892A"/>
          </a:solidFill>
          <a:ln w="12700">
            <a:solidFill>
              <a:srgbClr val="E8892A"/>
            </a:solidFill>
            <a:prstDash val="solid"/>
          </a:ln>
        </p:spPr>
      </p:sp>
      <p:sp>
        <p:nvSpPr>
          <p:cNvPr id="29" name="Text 27"/>
          <p:cNvSpPr/>
          <p:nvPr/>
        </p:nvSpPr>
        <p:spPr>
          <a:xfrm>
            <a:off x="2779776" y="3291840"/>
            <a:ext cx="1481328" cy="548640"/>
          </a:xfrm>
          <a:prstGeom prst="rect">
            <a:avLst/>
          </a:prstGeom>
          <a:noFill/>
          <a:ln/>
        </p:spPr>
        <p:txBody>
          <a:bodyPr wrap="square" lIns="0" tIns="0" rIns="0" bIns="0" rtlCol="0" anchor="ctr"/>
          <a:lstStyle/>
          <a:p>
            <a:pPr indent="0" marL="0">
              <a:buNone/>
            </a:pPr>
            <a:r>
              <a:rPr lang="en-US" sz="950" dirty="0">
                <a:solidFill>
                  <a:srgbClr val="4A5568"/>
                </a:solidFill>
                <a:latin typeface="Calibri" pitchFamily="34" charset="0"/>
                <a:ea typeface="Calibri" pitchFamily="34" charset="-122"/>
                <a:cs typeface="Calibri" pitchFamily="34" charset="-120"/>
              </a:rPr>
              <a:t>Fund alternatives sleeve</a:t>
            </a:r>
            <a:endParaRPr lang="en-US" sz="950" dirty="0"/>
          </a:p>
        </p:txBody>
      </p:sp>
      <p:sp>
        <p:nvSpPr>
          <p:cNvPr id="30" name="Shape 28"/>
          <p:cNvSpPr/>
          <p:nvPr/>
        </p:nvSpPr>
        <p:spPr>
          <a:xfrm>
            <a:off x="2596896" y="3986784"/>
            <a:ext cx="128016" cy="128016"/>
          </a:xfrm>
          <a:prstGeom prst="ellipse">
            <a:avLst/>
          </a:prstGeom>
          <a:solidFill>
            <a:srgbClr val="E8892A"/>
          </a:solidFill>
          <a:ln w="12700">
            <a:solidFill>
              <a:srgbClr val="E8892A"/>
            </a:solidFill>
            <a:prstDash val="solid"/>
          </a:ln>
        </p:spPr>
      </p:sp>
      <p:sp>
        <p:nvSpPr>
          <p:cNvPr id="31" name="Text 29"/>
          <p:cNvSpPr/>
          <p:nvPr/>
        </p:nvSpPr>
        <p:spPr>
          <a:xfrm>
            <a:off x="2779776" y="3950208"/>
            <a:ext cx="1481328" cy="548640"/>
          </a:xfrm>
          <a:prstGeom prst="rect">
            <a:avLst/>
          </a:prstGeom>
          <a:noFill/>
          <a:ln/>
        </p:spPr>
        <p:txBody>
          <a:bodyPr wrap="square" lIns="0" tIns="0" rIns="0" bIns="0" rtlCol="0" anchor="ctr"/>
          <a:lstStyle/>
          <a:p>
            <a:pPr indent="0" marL="0">
              <a:buNone/>
            </a:pPr>
            <a:r>
              <a:rPr lang="en-US" sz="950" dirty="0">
                <a:solidFill>
                  <a:srgbClr val="4A5568"/>
                </a:solidFill>
                <a:latin typeface="Calibri" pitchFamily="34" charset="0"/>
                <a:ea typeface="Calibri" pitchFamily="34" charset="-122"/>
                <a:cs typeface="Calibri" pitchFamily="34" charset="-120"/>
              </a:rPr>
              <a:t>Update beneficiaries</a:t>
            </a:r>
            <a:endParaRPr lang="en-US" sz="950" dirty="0"/>
          </a:p>
        </p:txBody>
      </p:sp>
      <p:sp>
        <p:nvSpPr>
          <p:cNvPr id="32" name="Shape 30"/>
          <p:cNvSpPr/>
          <p:nvPr/>
        </p:nvSpPr>
        <p:spPr>
          <a:xfrm>
            <a:off x="5486400" y="1481328"/>
            <a:ext cx="237744" cy="237744"/>
          </a:xfrm>
          <a:prstGeom prst="ellipse">
            <a:avLst/>
          </a:prstGeom>
          <a:solidFill>
            <a:srgbClr val="B5922E"/>
          </a:solidFill>
          <a:ln w="12700">
            <a:solidFill>
              <a:srgbClr val="B5922E"/>
            </a:solidFill>
            <a:prstDash val="solid"/>
          </a:ln>
        </p:spPr>
      </p:sp>
      <p:sp>
        <p:nvSpPr>
          <p:cNvPr id="33" name="Text 31"/>
          <p:cNvSpPr/>
          <p:nvPr/>
        </p:nvSpPr>
        <p:spPr>
          <a:xfrm>
            <a:off x="4681728" y="1133856"/>
            <a:ext cx="1920240" cy="201168"/>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Medium-Term</a:t>
            </a:r>
            <a:endParaRPr lang="en-US" sz="1000" dirty="0"/>
          </a:p>
        </p:txBody>
      </p:sp>
      <p:sp>
        <p:nvSpPr>
          <p:cNvPr id="34" name="Text 32"/>
          <p:cNvSpPr/>
          <p:nvPr/>
        </p:nvSpPr>
        <p:spPr>
          <a:xfrm>
            <a:off x="4681728" y="1335024"/>
            <a:ext cx="1920240" cy="164592"/>
          </a:xfrm>
          <a:prstGeom prst="rect">
            <a:avLst/>
          </a:prstGeom>
          <a:noFill/>
          <a:ln/>
        </p:spPr>
        <p:txBody>
          <a:bodyPr wrap="square" lIns="0" tIns="0" rIns="0" bIns="0" rtlCol="0" anchor="ctr"/>
          <a:lstStyle/>
          <a:p>
            <a:pPr algn="ctr" indent="0" marL="0">
              <a:buNone/>
            </a:pPr>
            <a:r>
              <a:rPr lang="en-US" sz="850" dirty="0">
                <a:solidFill>
                  <a:srgbClr val="718096"/>
                </a:solidFill>
                <a:latin typeface="Calibri" pitchFamily="34" charset="0"/>
                <a:ea typeface="Calibri" pitchFamily="34" charset="-122"/>
                <a:cs typeface="Calibri" pitchFamily="34" charset="-120"/>
              </a:rPr>
              <a:t>1–3 Years</a:t>
            </a:r>
            <a:endParaRPr lang="en-US" sz="850" dirty="0"/>
          </a:p>
        </p:txBody>
      </p:sp>
      <p:sp>
        <p:nvSpPr>
          <p:cNvPr id="35" name="Shape 33"/>
          <p:cNvSpPr/>
          <p:nvPr/>
        </p:nvSpPr>
        <p:spPr>
          <a:xfrm>
            <a:off x="4681728" y="1847088"/>
            <a:ext cx="1920240" cy="2999232"/>
          </a:xfrm>
          <a:prstGeom prst="rect">
            <a:avLst/>
          </a:prstGeom>
          <a:solidFill>
            <a:srgbClr val="FFFFFF"/>
          </a:solidFill>
          <a:ln w="9525">
            <a:solidFill>
              <a:srgbClr val="B5922E"/>
            </a:solidFill>
            <a:prstDash val="solid"/>
          </a:ln>
          <a:effectLst>
            <a:outerShdw sx="100000" sy="100000" kx="0" ky="0" algn="bl" rotWithShape="0" blurRad="101600" dist="25400" dir="8100000">
              <a:srgbClr val="000000">
                <a:alpha val="6000"/>
              </a:srgbClr>
            </a:outerShdw>
          </a:effectLst>
        </p:spPr>
      </p:sp>
      <p:sp>
        <p:nvSpPr>
          <p:cNvPr id="36" name="Shape 34"/>
          <p:cNvSpPr/>
          <p:nvPr/>
        </p:nvSpPr>
        <p:spPr>
          <a:xfrm>
            <a:off x="4681728" y="1847088"/>
            <a:ext cx="1920240" cy="36576"/>
          </a:xfrm>
          <a:prstGeom prst="rect">
            <a:avLst/>
          </a:prstGeom>
          <a:solidFill>
            <a:srgbClr val="B5922E"/>
          </a:solidFill>
          <a:ln w="12700">
            <a:solidFill>
              <a:srgbClr val="B5922E"/>
            </a:solidFill>
            <a:prstDash val="solid"/>
          </a:ln>
        </p:spPr>
      </p:sp>
      <p:sp>
        <p:nvSpPr>
          <p:cNvPr id="37" name="Shape 35"/>
          <p:cNvSpPr/>
          <p:nvPr/>
        </p:nvSpPr>
        <p:spPr>
          <a:xfrm>
            <a:off x="4809744" y="2011680"/>
            <a:ext cx="128016" cy="128016"/>
          </a:xfrm>
          <a:prstGeom prst="ellipse">
            <a:avLst/>
          </a:prstGeom>
          <a:solidFill>
            <a:srgbClr val="B5922E"/>
          </a:solidFill>
          <a:ln w="12700">
            <a:solidFill>
              <a:srgbClr val="B5922E"/>
            </a:solidFill>
            <a:prstDash val="solid"/>
          </a:ln>
        </p:spPr>
      </p:sp>
      <p:sp>
        <p:nvSpPr>
          <p:cNvPr id="38" name="Text 36"/>
          <p:cNvSpPr/>
          <p:nvPr/>
        </p:nvSpPr>
        <p:spPr>
          <a:xfrm>
            <a:off x="4992624" y="1975104"/>
            <a:ext cx="1481328" cy="548640"/>
          </a:xfrm>
          <a:prstGeom prst="rect">
            <a:avLst/>
          </a:prstGeom>
          <a:noFill/>
          <a:ln/>
        </p:spPr>
        <p:txBody>
          <a:bodyPr wrap="square" lIns="0" tIns="0" rIns="0" bIns="0" rtlCol="0" anchor="ctr"/>
          <a:lstStyle/>
          <a:p>
            <a:pPr indent="0" marL="0">
              <a:buNone/>
            </a:pPr>
            <a:r>
              <a:rPr lang="en-US" sz="950" dirty="0">
                <a:solidFill>
                  <a:srgbClr val="4A5568"/>
                </a:solidFill>
                <a:latin typeface="Calibri" pitchFamily="34" charset="0"/>
                <a:ea typeface="Calibri" pitchFamily="34" charset="-122"/>
                <a:cs typeface="Calibri" pitchFamily="34" charset="-120"/>
              </a:rPr>
              <a:t>NVDA to ~40% of portfolio</a:t>
            </a:r>
            <a:endParaRPr lang="en-US" sz="950" dirty="0"/>
          </a:p>
        </p:txBody>
      </p:sp>
      <p:sp>
        <p:nvSpPr>
          <p:cNvPr id="39" name="Shape 37"/>
          <p:cNvSpPr/>
          <p:nvPr/>
        </p:nvSpPr>
        <p:spPr>
          <a:xfrm>
            <a:off x="4809744" y="2670048"/>
            <a:ext cx="128016" cy="128016"/>
          </a:xfrm>
          <a:prstGeom prst="ellipse">
            <a:avLst/>
          </a:prstGeom>
          <a:solidFill>
            <a:srgbClr val="B5922E"/>
          </a:solidFill>
          <a:ln w="12700">
            <a:solidFill>
              <a:srgbClr val="B5922E"/>
            </a:solidFill>
            <a:prstDash val="solid"/>
          </a:ln>
        </p:spPr>
      </p:sp>
      <p:sp>
        <p:nvSpPr>
          <p:cNvPr id="40" name="Text 38"/>
          <p:cNvSpPr/>
          <p:nvPr/>
        </p:nvSpPr>
        <p:spPr>
          <a:xfrm>
            <a:off x="4992624" y="2633472"/>
            <a:ext cx="1481328" cy="548640"/>
          </a:xfrm>
          <a:prstGeom prst="rect">
            <a:avLst/>
          </a:prstGeom>
          <a:noFill/>
          <a:ln/>
        </p:spPr>
        <p:txBody>
          <a:bodyPr wrap="square" lIns="0" tIns="0" rIns="0" bIns="0" rtlCol="0" anchor="ctr"/>
          <a:lstStyle/>
          <a:p>
            <a:pPr indent="0" marL="0">
              <a:buNone/>
            </a:pPr>
            <a:r>
              <a:rPr lang="en-US" sz="950" dirty="0">
                <a:solidFill>
                  <a:srgbClr val="4A5568"/>
                </a:solidFill>
                <a:latin typeface="Calibri" pitchFamily="34" charset="0"/>
                <a:ea typeface="Calibri" pitchFamily="34" charset="-122"/>
                <a:cs typeface="Calibri" pitchFamily="34" charset="-120"/>
              </a:rPr>
              <a:t>DAF grow to $3M+</a:t>
            </a:r>
            <a:endParaRPr lang="en-US" sz="950" dirty="0"/>
          </a:p>
        </p:txBody>
      </p:sp>
      <p:sp>
        <p:nvSpPr>
          <p:cNvPr id="41" name="Shape 39"/>
          <p:cNvSpPr/>
          <p:nvPr/>
        </p:nvSpPr>
        <p:spPr>
          <a:xfrm>
            <a:off x="4809744" y="3328416"/>
            <a:ext cx="128016" cy="128016"/>
          </a:xfrm>
          <a:prstGeom prst="ellipse">
            <a:avLst/>
          </a:prstGeom>
          <a:solidFill>
            <a:srgbClr val="B5922E"/>
          </a:solidFill>
          <a:ln w="12700">
            <a:solidFill>
              <a:srgbClr val="B5922E"/>
            </a:solidFill>
            <a:prstDash val="solid"/>
          </a:ln>
        </p:spPr>
      </p:sp>
      <p:sp>
        <p:nvSpPr>
          <p:cNvPr id="42" name="Text 40"/>
          <p:cNvSpPr/>
          <p:nvPr/>
        </p:nvSpPr>
        <p:spPr>
          <a:xfrm>
            <a:off x="4992624" y="3291840"/>
            <a:ext cx="1481328" cy="548640"/>
          </a:xfrm>
          <a:prstGeom prst="rect">
            <a:avLst/>
          </a:prstGeom>
          <a:noFill/>
          <a:ln/>
        </p:spPr>
        <p:txBody>
          <a:bodyPr wrap="square" lIns="0" tIns="0" rIns="0" bIns="0" rtlCol="0" anchor="ctr"/>
          <a:lstStyle/>
          <a:p>
            <a:pPr indent="0" marL="0">
              <a:buNone/>
            </a:pPr>
            <a:r>
              <a:rPr lang="en-US" sz="950" dirty="0">
                <a:solidFill>
                  <a:srgbClr val="4A5568"/>
                </a:solidFill>
                <a:latin typeface="Calibri" pitchFamily="34" charset="0"/>
                <a:ea typeface="Calibri" pitchFamily="34" charset="-122"/>
                <a:cs typeface="Calibri" pitchFamily="34" charset="-120"/>
              </a:rPr>
              <a:t>Olivia &amp; Ethan governance roles</a:t>
            </a:r>
            <a:endParaRPr lang="en-US" sz="950" dirty="0"/>
          </a:p>
        </p:txBody>
      </p:sp>
      <p:sp>
        <p:nvSpPr>
          <p:cNvPr id="43" name="Shape 41"/>
          <p:cNvSpPr/>
          <p:nvPr/>
        </p:nvSpPr>
        <p:spPr>
          <a:xfrm>
            <a:off x="4809744" y="3986784"/>
            <a:ext cx="128016" cy="128016"/>
          </a:xfrm>
          <a:prstGeom prst="ellipse">
            <a:avLst/>
          </a:prstGeom>
          <a:solidFill>
            <a:srgbClr val="B5922E"/>
          </a:solidFill>
          <a:ln w="12700">
            <a:solidFill>
              <a:srgbClr val="B5922E"/>
            </a:solidFill>
            <a:prstDash val="solid"/>
          </a:ln>
        </p:spPr>
      </p:sp>
      <p:sp>
        <p:nvSpPr>
          <p:cNvPr id="44" name="Text 42"/>
          <p:cNvSpPr/>
          <p:nvPr/>
        </p:nvSpPr>
        <p:spPr>
          <a:xfrm>
            <a:off x="4992624" y="3950208"/>
            <a:ext cx="1481328" cy="548640"/>
          </a:xfrm>
          <a:prstGeom prst="rect">
            <a:avLst/>
          </a:prstGeom>
          <a:noFill/>
          <a:ln/>
        </p:spPr>
        <p:txBody>
          <a:bodyPr wrap="square" lIns="0" tIns="0" rIns="0" bIns="0" rtlCol="0" anchor="ctr"/>
          <a:lstStyle/>
          <a:p>
            <a:pPr indent="0" marL="0">
              <a:buNone/>
            </a:pPr>
            <a:r>
              <a:rPr lang="en-US" sz="950" dirty="0">
                <a:solidFill>
                  <a:srgbClr val="4A5568"/>
                </a:solidFill>
                <a:latin typeface="Calibri" pitchFamily="34" charset="0"/>
                <a:ea typeface="Calibri" pitchFamily="34" charset="-122"/>
                <a:cs typeface="Calibri" pitchFamily="34" charset="-120"/>
              </a:rPr>
              <a:t>Annual TLH review with CPA</a:t>
            </a:r>
            <a:endParaRPr lang="en-US" sz="950" dirty="0"/>
          </a:p>
        </p:txBody>
      </p:sp>
      <p:sp>
        <p:nvSpPr>
          <p:cNvPr id="45" name="Shape 43"/>
          <p:cNvSpPr/>
          <p:nvPr/>
        </p:nvSpPr>
        <p:spPr>
          <a:xfrm>
            <a:off x="7699248" y="1481328"/>
            <a:ext cx="237744" cy="237744"/>
          </a:xfrm>
          <a:prstGeom prst="ellipse">
            <a:avLst/>
          </a:prstGeom>
          <a:solidFill>
            <a:srgbClr val="1A6B45"/>
          </a:solidFill>
          <a:ln w="12700">
            <a:solidFill>
              <a:srgbClr val="1A6B45"/>
            </a:solidFill>
            <a:prstDash val="solid"/>
          </a:ln>
        </p:spPr>
      </p:sp>
      <p:sp>
        <p:nvSpPr>
          <p:cNvPr id="46" name="Text 44"/>
          <p:cNvSpPr/>
          <p:nvPr/>
        </p:nvSpPr>
        <p:spPr>
          <a:xfrm>
            <a:off x="6894576" y="1133856"/>
            <a:ext cx="1920240" cy="201168"/>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Long-Term</a:t>
            </a:r>
            <a:endParaRPr lang="en-US" sz="1000" dirty="0"/>
          </a:p>
        </p:txBody>
      </p:sp>
      <p:sp>
        <p:nvSpPr>
          <p:cNvPr id="47" name="Text 45"/>
          <p:cNvSpPr/>
          <p:nvPr/>
        </p:nvSpPr>
        <p:spPr>
          <a:xfrm>
            <a:off x="6894576" y="1335024"/>
            <a:ext cx="1920240" cy="164592"/>
          </a:xfrm>
          <a:prstGeom prst="rect">
            <a:avLst/>
          </a:prstGeom>
          <a:noFill/>
          <a:ln/>
        </p:spPr>
        <p:txBody>
          <a:bodyPr wrap="square" lIns="0" tIns="0" rIns="0" bIns="0" rtlCol="0" anchor="ctr"/>
          <a:lstStyle/>
          <a:p>
            <a:pPr algn="ctr" indent="0" marL="0">
              <a:buNone/>
            </a:pPr>
            <a:r>
              <a:rPr lang="en-US" sz="850" dirty="0">
                <a:solidFill>
                  <a:srgbClr val="718096"/>
                </a:solidFill>
                <a:latin typeface="Calibri" pitchFamily="34" charset="0"/>
                <a:ea typeface="Calibri" pitchFamily="34" charset="-122"/>
                <a:cs typeface="Calibri" pitchFamily="34" charset="-120"/>
              </a:rPr>
              <a:t>3–10 Years</a:t>
            </a:r>
            <a:endParaRPr lang="en-US" sz="850" dirty="0"/>
          </a:p>
        </p:txBody>
      </p:sp>
      <p:sp>
        <p:nvSpPr>
          <p:cNvPr id="48" name="Shape 46"/>
          <p:cNvSpPr/>
          <p:nvPr/>
        </p:nvSpPr>
        <p:spPr>
          <a:xfrm>
            <a:off x="6894576" y="1847088"/>
            <a:ext cx="1920240" cy="2999232"/>
          </a:xfrm>
          <a:prstGeom prst="rect">
            <a:avLst/>
          </a:prstGeom>
          <a:solidFill>
            <a:srgbClr val="FFFFFF"/>
          </a:solidFill>
          <a:ln w="9525">
            <a:solidFill>
              <a:srgbClr val="1A6B45"/>
            </a:solidFill>
            <a:prstDash val="solid"/>
          </a:ln>
          <a:effectLst>
            <a:outerShdw sx="100000" sy="100000" kx="0" ky="0" algn="bl" rotWithShape="0" blurRad="101600" dist="25400" dir="8100000">
              <a:srgbClr val="000000">
                <a:alpha val="6000"/>
              </a:srgbClr>
            </a:outerShdw>
          </a:effectLst>
        </p:spPr>
      </p:sp>
      <p:sp>
        <p:nvSpPr>
          <p:cNvPr id="49" name="Shape 47"/>
          <p:cNvSpPr/>
          <p:nvPr/>
        </p:nvSpPr>
        <p:spPr>
          <a:xfrm>
            <a:off x="6894576" y="1847088"/>
            <a:ext cx="1920240" cy="36576"/>
          </a:xfrm>
          <a:prstGeom prst="rect">
            <a:avLst/>
          </a:prstGeom>
          <a:solidFill>
            <a:srgbClr val="1A6B45"/>
          </a:solidFill>
          <a:ln w="12700">
            <a:solidFill>
              <a:srgbClr val="1A6B45"/>
            </a:solidFill>
            <a:prstDash val="solid"/>
          </a:ln>
        </p:spPr>
      </p:sp>
      <p:sp>
        <p:nvSpPr>
          <p:cNvPr id="50" name="Shape 48"/>
          <p:cNvSpPr/>
          <p:nvPr/>
        </p:nvSpPr>
        <p:spPr>
          <a:xfrm>
            <a:off x="7022592" y="2011680"/>
            <a:ext cx="128016" cy="128016"/>
          </a:xfrm>
          <a:prstGeom prst="ellipse">
            <a:avLst/>
          </a:prstGeom>
          <a:solidFill>
            <a:srgbClr val="1A6B45"/>
          </a:solidFill>
          <a:ln w="12700">
            <a:solidFill>
              <a:srgbClr val="1A6B45"/>
            </a:solidFill>
            <a:prstDash val="solid"/>
          </a:ln>
        </p:spPr>
      </p:sp>
      <p:sp>
        <p:nvSpPr>
          <p:cNvPr id="51" name="Text 49"/>
          <p:cNvSpPr/>
          <p:nvPr/>
        </p:nvSpPr>
        <p:spPr>
          <a:xfrm>
            <a:off x="7205472" y="1975104"/>
            <a:ext cx="1481328" cy="548640"/>
          </a:xfrm>
          <a:prstGeom prst="rect">
            <a:avLst/>
          </a:prstGeom>
          <a:noFill/>
          <a:ln/>
        </p:spPr>
        <p:txBody>
          <a:bodyPr wrap="square" lIns="0" tIns="0" rIns="0" bIns="0" rtlCol="0" anchor="ctr"/>
          <a:lstStyle/>
          <a:p>
            <a:pPr indent="0" marL="0">
              <a:buNone/>
            </a:pPr>
            <a:r>
              <a:rPr lang="en-US" sz="950" dirty="0">
                <a:solidFill>
                  <a:srgbClr val="4A5568"/>
                </a:solidFill>
                <a:latin typeface="Calibri" pitchFamily="34" charset="0"/>
                <a:ea typeface="Calibri" pitchFamily="34" charset="-122"/>
                <a:cs typeface="Calibri" pitchFamily="34" charset="-120"/>
              </a:rPr>
              <a:t>NVDA to $20–25M target</a:t>
            </a:r>
            <a:endParaRPr lang="en-US" sz="950" dirty="0"/>
          </a:p>
        </p:txBody>
      </p:sp>
      <p:sp>
        <p:nvSpPr>
          <p:cNvPr id="52" name="Shape 50"/>
          <p:cNvSpPr/>
          <p:nvPr/>
        </p:nvSpPr>
        <p:spPr>
          <a:xfrm>
            <a:off x="7022592" y="2670048"/>
            <a:ext cx="128016" cy="128016"/>
          </a:xfrm>
          <a:prstGeom prst="ellipse">
            <a:avLst/>
          </a:prstGeom>
          <a:solidFill>
            <a:srgbClr val="1A6B45"/>
          </a:solidFill>
          <a:ln w="12700">
            <a:solidFill>
              <a:srgbClr val="1A6B45"/>
            </a:solidFill>
            <a:prstDash val="solid"/>
          </a:ln>
        </p:spPr>
      </p:sp>
      <p:sp>
        <p:nvSpPr>
          <p:cNvPr id="53" name="Text 51"/>
          <p:cNvSpPr/>
          <p:nvPr/>
        </p:nvSpPr>
        <p:spPr>
          <a:xfrm>
            <a:off x="7205472" y="2633472"/>
            <a:ext cx="1481328" cy="548640"/>
          </a:xfrm>
          <a:prstGeom prst="rect">
            <a:avLst/>
          </a:prstGeom>
          <a:noFill/>
          <a:ln/>
        </p:spPr>
        <p:txBody>
          <a:bodyPr wrap="square" lIns="0" tIns="0" rIns="0" bIns="0" rtlCol="0" anchor="ctr"/>
          <a:lstStyle/>
          <a:p>
            <a:pPr indent="0" marL="0">
              <a:buNone/>
            </a:pPr>
            <a:r>
              <a:rPr lang="en-US" sz="950" dirty="0">
                <a:solidFill>
                  <a:srgbClr val="4A5568"/>
                </a:solidFill>
                <a:latin typeface="Calibri" pitchFamily="34" charset="0"/>
                <a:ea typeface="Calibri" pitchFamily="34" charset="-122"/>
                <a:cs typeface="Calibri" pitchFamily="34" charset="-120"/>
              </a:rPr>
              <a:t>Foundation assets $5M+</a:t>
            </a:r>
            <a:endParaRPr lang="en-US" sz="950" dirty="0"/>
          </a:p>
        </p:txBody>
      </p:sp>
      <p:sp>
        <p:nvSpPr>
          <p:cNvPr id="54" name="Shape 52"/>
          <p:cNvSpPr/>
          <p:nvPr/>
        </p:nvSpPr>
        <p:spPr>
          <a:xfrm>
            <a:off x="7022592" y="3328416"/>
            <a:ext cx="128016" cy="128016"/>
          </a:xfrm>
          <a:prstGeom prst="ellipse">
            <a:avLst/>
          </a:prstGeom>
          <a:solidFill>
            <a:srgbClr val="1A6B45"/>
          </a:solidFill>
          <a:ln w="12700">
            <a:solidFill>
              <a:srgbClr val="1A6B45"/>
            </a:solidFill>
            <a:prstDash val="solid"/>
          </a:ln>
        </p:spPr>
      </p:sp>
      <p:sp>
        <p:nvSpPr>
          <p:cNvPr id="55" name="Text 53"/>
          <p:cNvSpPr/>
          <p:nvPr/>
        </p:nvSpPr>
        <p:spPr>
          <a:xfrm>
            <a:off x="7205472" y="3291840"/>
            <a:ext cx="1481328" cy="548640"/>
          </a:xfrm>
          <a:prstGeom prst="rect">
            <a:avLst/>
          </a:prstGeom>
          <a:noFill/>
          <a:ln/>
        </p:spPr>
        <p:txBody>
          <a:bodyPr wrap="square" lIns="0" tIns="0" rIns="0" bIns="0" rtlCol="0" anchor="ctr"/>
          <a:lstStyle/>
          <a:p>
            <a:pPr indent="0" marL="0">
              <a:buNone/>
            </a:pPr>
            <a:r>
              <a:rPr lang="en-US" sz="950" dirty="0">
                <a:solidFill>
                  <a:srgbClr val="4A5568"/>
                </a:solidFill>
                <a:latin typeface="Calibri" pitchFamily="34" charset="0"/>
                <a:ea typeface="Calibri" pitchFamily="34" charset="-122"/>
                <a:cs typeface="Calibri" pitchFamily="34" charset="-120"/>
              </a:rPr>
              <a:t>Full generational transfer plan</a:t>
            </a:r>
            <a:endParaRPr lang="en-US" sz="950" dirty="0"/>
          </a:p>
        </p:txBody>
      </p:sp>
      <p:sp>
        <p:nvSpPr>
          <p:cNvPr id="56" name="Shape 54"/>
          <p:cNvSpPr/>
          <p:nvPr/>
        </p:nvSpPr>
        <p:spPr>
          <a:xfrm>
            <a:off x="7022592" y="3986784"/>
            <a:ext cx="128016" cy="128016"/>
          </a:xfrm>
          <a:prstGeom prst="ellipse">
            <a:avLst/>
          </a:prstGeom>
          <a:solidFill>
            <a:srgbClr val="1A6B45"/>
          </a:solidFill>
          <a:ln w="12700">
            <a:solidFill>
              <a:srgbClr val="1A6B45"/>
            </a:solidFill>
            <a:prstDash val="solid"/>
          </a:ln>
        </p:spPr>
      </p:sp>
      <p:sp>
        <p:nvSpPr>
          <p:cNvPr id="57" name="Text 55"/>
          <p:cNvSpPr/>
          <p:nvPr/>
        </p:nvSpPr>
        <p:spPr>
          <a:xfrm>
            <a:off x="7205472" y="3950208"/>
            <a:ext cx="1481328" cy="548640"/>
          </a:xfrm>
          <a:prstGeom prst="rect">
            <a:avLst/>
          </a:prstGeom>
          <a:noFill/>
          <a:ln/>
        </p:spPr>
        <p:txBody>
          <a:bodyPr wrap="square" lIns="0" tIns="0" rIns="0" bIns="0" rtlCol="0" anchor="ctr"/>
          <a:lstStyle/>
          <a:p>
            <a:pPr indent="0" marL="0">
              <a:buNone/>
            </a:pPr>
            <a:r>
              <a:rPr lang="en-US" sz="950" dirty="0">
                <a:solidFill>
                  <a:srgbClr val="4A5568"/>
                </a:solidFill>
                <a:latin typeface="Calibri" pitchFamily="34" charset="0"/>
                <a:ea typeface="Calibri" pitchFamily="34" charset="-122"/>
                <a:cs typeface="Calibri" pitchFamily="34" charset="-120"/>
              </a:rPr>
              <a:t>Estate tax mitigation active</a:t>
            </a:r>
            <a:endParaRPr lang="en-US" sz="950" dirty="0"/>
          </a:p>
        </p:txBody>
      </p:sp>
      <p:sp>
        <p:nvSpPr>
          <p:cNvPr id="58" name="Text 56"/>
          <p:cNvSpPr/>
          <p:nvPr/>
        </p:nvSpPr>
        <p:spPr>
          <a:xfrm>
            <a:off x="256032" y="4882896"/>
            <a:ext cx="8686800" cy="164592"/>
          </a:xfrm>
          <a:prstGeom prst="rect">
            <a:avLst/>
          </a:prstGeom>
          <a:noFill/>
          <a:ln/>
        </p:spPr>
        <p:txBody>
          <a:bodyPr wrap="square" lIns="0" tIns="0" rIns="0" bIns="0" rtlCol="0" anchor="ctr"/>
          <a:lstStyle/>
          <a:p>
            <a:pPr indent="0" marL="0">
              <a:buNone/>
            </a:pPr>
            <a:r>
              <a:rPr lang="en-US" sz="850" i="1" dirty="0">
                <a:solidFill>
                  <a:srgbClr val="718096"/>
                </a:solidFill>
                <a:latin typeface="Calibri" pitchFamily="34" charset="0"/>
                <a:ea typeface="Calibri" pitchFamily="34" charset="-122"/>
                <a:cs typeface="Calibri" pitchFamily="34" charset="-120"/>
              </a:rPr>
              <a:t>Daniel (58) and Claire (55) have a multi-decade planning horizon. Goals sequenced for maximum tax efficiency and minimum disruption to Daniel's NVIDIA conviction.</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1B2A"/>
          </a:solidFill>
          <a:ln w="12700">
            <a:solidFill>
              <a:srgbClr val="0D1B2A"/>
            </a:solidFill>
            <a:prstDash val="solid"/>
          </a:ln>
        </p:spPr>
      </p:sp>
      <p:sp>
        <p:nvSpPr>
          <p:cNvPr id="3" name="Text 1"/>
          <p:cNvSpPr/>
          <p:nvPr/>
        </p:nvSpPr>
        <p:spPr>
          <a:xfrm>
            <a:off x="256032" y="274320"/>
            <a:ext cx="7315200" cy="201168"/>
          </a:xfrm>
          <a:prstGeom prst="rect">
            <a:avLst/>
          </a:prstGeom>
          <a:noFill/>
          <a:ln/>
        </p:spPr>
        <p:txBody>
          <a:bodyPr wrap="square" lIns="0" tIns="0" rIns="0" bIns="0" rtlCol="0" anchor="ctr"/>
          <a:lstStyle/>
          <a:p>
            <a:pPr indent="0" marL="0">
              <a:buNone/>
            </a:pPr>
            <a:r>
              <a:rPr lang="en-US" sz="900" b="1" spc="300" kern="0" dirty="0">
                <a:solidFill>
                  <a:srgbClr val="B5922E"/>
                </a:solidFill>
                <a:latin typeface="Calibri" pitchFamily="34" charset="0"/>
                <a:ea typeface="Calibri" pitchFamily="34" charset="-122"/>
                <a:cs typeface="Calibri" pitchFamily="34" charset="-120"/>
              </a:rPr>
              <a:t>PLANNING MODULE · LIQUIDITY</a:t>
            </a:r>
            <a:endParaRPr lang="en-US" sz="900" dirty="0"/>
          </a:p>
        </p:txBody>
      </p:sp>
      <p:sp>
        <p:nvSpPr>
          <p:cNvPr id="4" name="Text 2"/>
          <p:cNvSpPr/>
          <p:nvPr/>
        </p:nvSpPr>
        <p:spPr>
          <a:xfrm>
            <a:off x="256032" y="493776"/>
            <a:ext cx="8686800" cy="502920"/>
          </a:xfrm>
          <a:prstGeom prst="rect">
            <a:avLst/>
          </a:prstGeom>
          <a:noFill/>
          <a:ln/>
        </p:spPr>
        <p:txBody>
          <a:bodyPr wrap="square" lIns="0" tIns="0" rIns="0" bIns="0" rtlCol="0" anchor="ctr"/>
          <a:lstStyle/>
          <a:p>
            <a:pPr indent="0" marL="0">
              <a:buNone/>
            </a:pPr>
            <a:r>
              <a:rPr lang="en-US" sz="2400" b="1" dirty="0">
                <a:solidFill>
                  <a:srgbClr val="0D1B2A"/>
                </a:solidFill>
                <a:latin typeface="Garamond" pitchFamily="34" charset="0"/>
                <a:ea typeface="Garamond" pitchFamily="34" charset="-122"/>
                <a:cs typeface="Garamond" pitchFamily="34" charset="-120"/>
              </a:rPr>
              <a:t>Liquidity Needs Review</a:t>
            </a:r>
            <a:endParaRPr lang="en-US" sz="2400" dirty="0"/>
          </a:p>
        </p:txBody>
      </p:sp>
      <p:sp>
        <p:nvSpPr>
          <p:cNvPr id="5" name="Shape 3"/>
          <p:cNvSpPr/>
          <p:nvPr/>
        </p:nvSpPr>
        <p:spPr>
          <a:xfrm>
            <a:off x="256032" y="1024128"/>
            <a:ext cx="8686800" cy="566928"/>
          </a:xfrm>
          <a:prstGeom prst="rect">
            <a:avLst/>
          </a:prstGeom>
          <a:solidFill>
            <a:srgbClr val="FFFFFF"/>
          </a:solidFill>
          <a:ln w="6350">
            <a:solidFill>
              <a:srgbClr val="DEDEDE"/>
            </a:solidFill>
            <a:prstDash val="solid"/>
          </a:ln>
        </p:spPr>
      </p:sp>
      <p:sp>
        <p:nvSpPr>
          <p:cNvPr id="6" name="Shape 4"/>
          <p:cNvSpPr/>
          <p:nvPr/>
        </p:nvSpPr>
        <p:spPr>
          <a:xfrm>
            <a:off x="256032" y="1024128"/>
            <a:ext cx="54864" cy="566928"/>
          </a:xfrm>
          <a:prstGeom prst="rect">
            <a:avLst/>
          </a:prstGeom>
          <a:solidFill>
            <a:srgbClr val="1A6B45"/>
          </a:solidFill>
          <a:ln w="12700">
            <a:solidFill>
              <a:srgbClr val="1A6B45"/>
            </a:solidFill>
            <a:prstDash val="solid"/>
          </a:ln>
        </p:spPr>
      </p:sp>
      <p:sp>
        <p:nvSpPr>
          <p:cNvPr id="7" name="Text 5"/>
          <p:cNvSpPr/>
          <p:nvPr/>
        </p:nvSpPr>
        <p:spPr>
          <a:xfrm>
            <a:off x="402336" y="1115568"/>
            <a:ext cx="2011680" cy="201168"/>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Cash / T-Bills</a:t>
            </a:r>
            <a:endParaRPr lang="en-US" sz="1050" dirty="0"/>
          </a:p>
        </p:txBody>
      </p:sp>
      <p:sp>
        <p:nvSpPr>
          <p:cNvPr id="8" name="Text 6"/>
          <p:cNvSpPr/>
          <p:nvPr/>
        </p:nvSpPr>
        <p:spPr>
          <a:xfrm>
            <a:off x="402336" y="1335024"/>
            <a:ext cx="2011680" cy="182880"/>
          </a:xfrm>
          <a:prstGeom prst="rect">
            <a:avLst/>
          </a:prstGeom>
          <a:noFill/>
          <a:ln/>
        </p:spPr>
        <p:txBody>
          <a:bodyPr wrap="square" lIns="0" tIns="0" rIns="0" bIns="0" rtlCol="0" anchor="ctr"/>
          <a:lstStyle/>
          <a:p>
            <a:pPr indent="0" marL="0">
              <a:buNone/>
            </a:pPr>
            <a:r>
              <a:rPr lang="en-US" sz="850" dirty="0">
                <a:solidFill>
                  <a:srgbClr val="718096"/>
                </a:solidFill>
                <a:latin typeface="Calibri" pitchFamily="34" charset="0"/>
                <a:ea typeface="Calibri" pitchFamily="34" charset="-122"/>
                <a:cs typeface="Calibri" pitchFamily="34" charset="-120"/>
              </a:rPr>
              <a:t>Immediately available</a:t>
            </a:r>
            <a:endParaRPr lang="en-US" sz="850" dirty="0"/>
          </a:p>
        </p:txBody>
      </p:sp>
      <p:sp>
        <p:nvSpPr>
          <p:cNvPr id="9" name="Text 7"/>
          <p:cNvSpPr/>
          <p:nvPr/>
        </p:nvSpPr>
        <p:spPr>
          <a:xfrm>
            <a:off x="2468880" y="1152144"/>
            <a:ext cx="2011680" cy="274320"/>
          </a:xfrm>
          <a:prstGeom prst="rect">
            <a:avLst/>
          </a:prstGeom>
          <a:noFill/>
          <a:ln/>
        </p:spPr>
        <p:txBody>
          <a:bodyPr wrap="square" lIns="0" tIns="0" rIns="0" bIns="0" rtlCol="0" anchor="ctr"/>
          <a:lstStyle/>
          <a:p>
            <a:pPr indent="0" marL="0">
              <a:buNone/>
            </a:pPr>
            <a:r>
              <a:rPr lang="en-US" sz="1400" b="1" dirty="0">
                <a:solidFill>
                  <a:srgbClr val="0D1B2A"/>
                </a:solidFill>
                <a:latin typeface="Garamond" pitchFamily="34" charset="0"/>
                <a:ea typeface="Garamond" pitchFamily="34" charset="-122"/>
                <a:cs typeface="Garamond" pitchFamily="34" charset="-120"/>
              </a:rPr>
              <a:t>$3,000,000</a:t>
            </a:r>
            <a:endParaRPr lang="en-US" sz="1400" dirty="0"/>
          </a:p>
        </p:txBody>
      </p:sp>
      <p:sp>
        <p:nvSpPr>
          <p:cNvPr id="10" name="Shape 8"/>
          <p:cNvSpPr/>
          <p:nvPr/>
        </p:nvSpPr>
        <p:spPr>
          <a:xfrm>
            <a:off x="4572000" y="1207008"/>
            <a:ext cx="4389120" cy="201168"/>
          </a:xfrm>
          <a:prstGeom prst="rect">
            <a:avLst/>
          </a:prstGeom>
          <a:solidFill>
            <a:srgbClr val="F6F6F4"/>
          </a:solidFill>
          <a:ln w="6350">
            <a:solidFill>
              <a:srgbClr val="DEDEDE"/>
            </a:solidFill>
            <a:prstDash val="solid"/>
          </a:ln>
        </p:spPr>
      </p:sp>
      <p:sp>
        <p:nvSpPr>
          <p:cNvPr id="11" name="Shape 9"/>
          <p:cNvSpPr/>
          <p:nvPr/>
        </p:nvSpPr>
        <p:spPr>
          <a:xfrm>
            <a:off x="4572000" y="1207008"/>
            <a:ext cx="263347" cy="201168"/>
          </a:xfrm>
          <a:prstGeom prst="rect">
            <a:avLst/>
          </a:prstGeom>
          <a:solidFill>
            <a:srgbClr val="1A6B45"/>
          </a:solidFill>
          <a:ln w="12700">
            <a:solidFill>
              <a:srgbClr val="1A6B45"/>
            </a:solidFill>
            <a:prstDash val="solid"/>
          </a:ln>
        </p:spPr>
      </p:sp>
      <p:sp>
        <p:nvSpPr>
          <p:cNvPr id="12" name="Shape 10"/>
          <p:cNvSpPr/>
          <p:nvPr/>
        </p:nvSpPr>
        <p:spPr>
          <a:xfrm>
            <a:off x="256032" y="1700784"/>
            <a:ext cx="8686800" cy="566928"/>
          </a:xfrm>
          <a:prstGeom prst="rect">
            <a:avLst/>
          </a:prstGeom>
          <a:solidFill>
            <a:srgbClr val="FFFFFF"/>
          </a:solidFill>
          <a:ln w="6350">
            <a:solidFill>
              <a:srgbClr val="DEDEDE"/>
            </a:solidFill>
            <a:prstDash val="solid"/>
          </a:ln>
        </p:spPr>
      </p:sp>
      <p:sp>
        <p:nvSpPr>
          <p:cNvPr id="13" name="Shape 11"/>
          <p:cNvSpPr/>
          <p:nvPr/>
        </p:nvSpPr>
        <p:spPr>
          <a:xfrm>
            <a:off x="256032" y="1700784"/>
            <a:ext cx="54864" cy="566928"/>
          </a:xfrm>
          <a:prstGeom prst="rect">
            <a:avLst/>
          </a:prstGeom>
          <a:solidFill>
            <a:srgbClr val="185FA5"/>
          </a:solidFill>
          <a:ln w="12700">
            <a:solidFill>
              <a:srgbClr val="185FA5"/>
            </a:solidFill>
            <a:prstDash val="solid"/>
          </a:ln>
        </p:spPr>
      </p:sp>
      <p:sp>
        <p:nvSpPr>
          <p:cNvPr id="14" name="Text 12"/>
          <p:cNvSpPr/>
          <p:nvPr/>
        </p:nvSpPr>
        <p:spPr>
          <a:xfrm>
            <a:off x="402336" y="1792224"/>
            <a:ext cx="2011680" cy="201168"/>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Muni Bonds</a:t>
            </a:r>
            <a:endParaRPr lang="en-US" sz="1050" dirty="0"/>
          </a:p>
        </p:txBody>
      </p:sp>
      <p:sp>
        <p:nvSpPr>
          <p:cNvPr id="15" name="Text 13"/>
          <p:cNvSpPr/>
          <p:nvPr/>
        </p:nvSpPr>
        <p:spPr>
          <a:xfrm>
            <a:off x="402336" y="2011680"/>
            <a:ext cx="2011680" cy="182880"/>
          </a:xfrm>
          <a:prstGeom prst="rect">
            <a:avLst/>
          </a:prstGeom>
          <a:noFill/>
          <a:ln/>
        </p:spPr>
        <p:txBody>
          <a:bodyPr wrap="square" lIns="0" tIns="0" rIns="0" bIns="0" rtlCol="0" anchor="ctr"/>
          <a:lstStyle/>
          <a:p>
            <a:pPr indent="0" marL="0">
              <a:buNone/>
            </a:pPr>
            <a:r>
              <a:rPr lang="en-US" sz="850" dirty="0">
                <a:solidFill>
                  <a:srgbClr val="718096"/>
                </a:solidFill>
                <a:latin typeface="Calibri" pitchFamily="34" charset="0"/>
                <a:ea typeface="Calibri" pitchFamily="34" charset="-122"/>
                <a:cs typeface="Calibri" pitchFamily="34" charset="-120"/>
              </a:rPr>
              <a:t>Highly liquid, 1–3 day settlement</a:t>
            </a:r>
            <a:endParaRPr lang="en-US" sz="850" dirty="0"/>
          </a:p>
        </p:txBody>
      </p:sp>
      <p:sp>
        <p:nvSpPr>
          <p:cNvPr id="16" name="Text 14"/>
          <p:cNvSpPr/>
          <p:nvPr/>
        </p:nvSpPr>
        <p:spPr>
          <a:xfrm>
            <a:off x="2468880" y="1828800"/>
            <a:ext cx="2011680" cy="274320"/>
          </a:xfrm>
          <a:prstGeom prst="rect">
            <a:avLst/>
          </a:prstGeom>
          <a:noFill/>
          <a:ln/>
        </p:spPr>
        <p:txBody>
          <a:bodyPr wrap="square" lIns="0" tIns="0" rIns="0" bIns="0" rtlCol="0" anchor="ctr"/>
          <a:lstStyle/>
          <a:p>
            <a:pPr indent="0" marL="0">
              <a:buNone/>
            </a:pPr>
            <a:r>
              <a:rPr lang="en-US" sz="1400" b="1" dirty="0">
                <a:solidFill>
                  <a:srgbClr val="0D1B2A"/>
                </a:solidFill>
                <a:latin typeface="Garamond" pitchFamily="34" charset="0"/>
                <a:ea typeface="Garamond" pitchFamily="34" charset="-122"/>
                <a:cs typeface="Garamond" pitchFamily="34" charset="-120"/>
              </a:rPr>
              <a:t>$5,500,000</a:t>
            </a:r>
            <a:endParaRPr lang="en-US" sz="1400" dirty="0"/>
          </a:p>
        </p:txBody>
      </p:sp>
      <p:sp>
        <p:nvSpPr>
          <p:cNvPr id="17" name="Shape 15"/>
          <p:cNvSpPr/>
          <p:nvPr/>
        </p:nvSpPr>
        <p:spPr>
          <a:xfrm>
            <a:off x="4572000" y="1883664"/>
            <a:ext cx="4389120" cy="201168"/>
          </a:xfrm>
          <a:prstGeom prst="rect">
            <a:avLst/>
          </a:prstGeom>
          <a:solidFill>
            <a:srgbClr val="F6F6F4"/>
          </a:solidFill>
          <a:ln w="6350">
            <a:solidFill>
              <a:srgbClr val="DEDEDE"/>
            </a:solidFill>
            <a:prstDash val="solid"/>
          </a:ln>
        </p:spPr>
      </p:sp>
      <p:sp>
        <p:nvSpPr>
          <p:cNvPr id="18" name="Shape 16"/>
          <p:cNvSpPr/>
          <p:nvPr/>
        </p:nvSpPr>
        <p:spPr>
          <a:xfrm>
            <a:off x="4572000" y="1883664"/>
            <a:ext cx="482803" cy="201168"/>
          </a:xfrm>
          <a:prstGeom prst="rect">
            <a:avLst/>
          </a:prstGeom>
          <a:solidFill>
            <a:srgbClr val="185FA5"/>
          </a:solidFill>
          <a:ln w="12700">
            <a:solidFill>
              <a:srgbClr val="185FA5"/>
            </a:solidFill>
            <a:prstDash val="solid"/>
          </a:ln>
        </p:spPr>
      </p:sp>
      <p:sp>
        <p:nvSpPr>
          <p:cNvPr id="19" name="Shape 17"/>
          <p:cNvSpPr/>
          <p:nvPr/>
        </p:nvSpPr>
        <p:spPr>
          <a:xfrm>
            <a:off x="256032" y="2377440"/>
            <a:ext cx="8686800" cy="566928"/>
          </a:xfrm>
          <a:prstGeom prst="rect">
            <a:avLst/>
          </a:prstGeom>
          <a:solidFill>
            <a:srgbClr val="FFFFFF"/>
          </a:solidFill>
          <a:ln w="6350">
            <a:solidFill>
              <a:srgbClr val="DEDEDE"/>
            </a:solidFill>
            <a:prstDash val="solid"/>
          </a:ln>
        </p:spPr>
      </p:sp>
      <p:sp>
        <p:nvSpPr>
          <p:cNvPr id="20" name="Shape 18"/>
          <p:cNvSpPr/>
          <p:nvPr/>
        </p:nvSpPr>
        <p:spPr>
          <a:xfrm>
            <a:off x="256032" y="2377440"/>
            <a:ext cx="54864" cy="566928"/>
          </a:xfrm>
          <a:prstGeom prst="rect">
            <a:avLst/>
          </a:prstGeom>
          <a:solidFill>
            <a:srgbClr val="B5922E"/>
          </a:solidFill>
          <a:ln w="12700">
            <a:solidFill>
              <a:srgbClr val="B5922E"/>
            </a:solidFill>
            <a:prstDash val="solid"/>
          </a:ln>
        </p:spPr>
      </p:sp>
      <p:sp>
        <p:nvSpPr>
          <p:cNvPr id="21" name="Text 19"/>
          <p:cNvSpPr/>
          <p:nvPr/>
        </p:nvSpPr>
        <p:spPr>
          <a:xfrm>
            <a:off x="402336" y="2468880"/>
            <a:ext cx="2011680" cy="201168"/>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Diversified Equities</a:t>
            </a:r>
            <a:endParaRPr lang="en-US" sz="1050" dirty="0"/>
          </a:p>
        </p:txBody>
      </p:sp>
      <p:sp>
        <p:nvSpPr>
          <p:cNvPr id="22" name="Text 20"/>
          <p:cNvSpPr/>
          <p:nvPr/>
        </p:nvSpPr>
        <p:spPr>
          <a:xfrm>
            <a:off x="402336" y="2688336"/>
            <a:ext cx="2011680" cy="182880"/>
          </a:xfrm>
          <a:prstGeom prst="rect">
            <a:avLst/>
          </a:prstGeom>
          <a:noFill/>
          <a:ln/>
        </p:spPr>
        <p:txBody>
          <a:bodyPr wrap="square" lIns="0" tIns="0" rIns="0" bIns="0" rtlCol="0" anchor="ctr"/>
          <a:lstStyle/>
          <a:p>
            <a:pPr indent="0" marL="0">
              <a:buNone/>
            </a:pPr>
            <a:r>
              <a:rPr lang="en-US" sz="850" dirty="0">
                <a:solidFill>
                  <a:srgbClr val="718096"/>
                </a:solidFill>
                <a:latin typeface="Calibri" pitchFamily="34" charset="0"/>
                <a:ea typeface="Calibri" pitchFamily="34" charset="-122"/>
                <a:cs typeface="Calibri" pitchFamily="34" charset="-120"/>
              </a:rPr>
              <a:t>Liquid, subject to trading windows</a:t>
            </a:r>
            <a:endParaRPr lang="en-US" sz="850" dirty="0"/>
          </a:p>
        </p:txBody>
      </p:sp>
      <p:sp>
        <p:nvSpPr>
          <p:cNvPr id="23" name="Text 21"/>
          <p:cNvSpPr/>
          <p:nvPr/>
        </p:nvSpPr>
        <p:spPr>
          <a:xfrm>
            <a:off x="2468880" y="2505456"/>
            <a:ext cx="2011680" cy="274320"/>
          </a:xfrm>
          <a:prstGeom prst="rect">
            <a:avLst/>
          </a:prstGeom>
          <a:noFill/>
          <a:ln/>
        </p:spPr>
        <p:txBody>
          <a:bodyPr wrap="square" lIns="0" tIns="0" rIns="0" bIns="0" rtlCol="0" anchor="ctr"/>
          <a:lstStyle/>
          <a:p>
            <a:pPr indent="0" marL="0">
              <a:buNone/>
            </a:pPr>
            <a:r>
              <a:rPr lang="en-US" sz="1400" b="1" dirty="0">
                <a:solidFill>
                  <a:srgbClr val="0D1B2A"/>
                </a:solidFill>
                <a:latin typeface="Garamond" pitchFamily="34" charset="0"/>
                <a:ea typeface="Garamond" pitchFamily="34" charset="-122"/>
                <a:cs typeface="Garamond" pitchFamily="34" charset="-120"/>
              </a:rPr>
              <a:t>$17,000,000</a:t>
            </a:r>
            <a:endParaRPr lang="en-US" sz="1400" dirty="0"/>
          </a:p>
        </p:txBody>
      </p:sp>
      <p:sp>
        <p:nvSpPr>
          <p:cNvPr id="24" name="Shape 22"/>
          <p:cNvSpPr/>
          <p:nvPr/>
        </p:nvSpPr>
        <p:spPr>
          <a:xfrm>
            <a:off x="4572000" y="2560320"/>
            <a:ext cx="4389120" cy="201168"/>
          </a:xfrm>
          <a:prstGeom prst="rect">
            <a:avLst/>
          </a:prstGeom>
          <a:solidFill>
            <a:srgbClr val="F6F6F4"/>
          </a:solidFill>
          <a:ln w="6350">
            <a:solidFill>
              <a:srgbClr val="DEDEDE"/>
            </a:solidFill>
            <a:prstDash val="solid"/>
          </a:ln>
        </p:spPr>
      </p:sp>
      <p:sp>
        <p:nvSpPr>
          <p:cNvPr id="25" name="Shape 23"/>
          <p:cNvSpPr/>
          <p:nvPr/>
        </p:nvSpPr>
        <p:spPr>
          <a:xfrm>
            <a:off x="4572000" y="2560320"/>
            <a:ext cx="1492301" cy="201168"/>
          </a:xfrm>
          <a:prstGeom prst="rect">
            <a:avLst/>
          </a:prstGeom>
          <a:solidFill>
            <a:srgbClr val="B5922E"/>
          </a:solidFill>
          <a:ln w="12700">
            <a:solidFill>
              <a:srgbClr val="B5922E"/>
            </a:solidFill>
            <a:prstDash val="solid"/>
          </a:ln>
        </p:spPr>
      </p:sp>
      <p:sp>
        <p:nvSpPr>
          <p:cNvPr id="26" name="Shape 24"/>
          <p:cNvSpPr/>
          <p:nvPr/>
        </p:nvSpPr>
        <p:spPr>
          <a:xfrm>
            <a:off x="256032" y="3054096"/>
            <a:ext cx="8686800" cy="566928"/>
          </a:xfrm>
          <a:prstGeom prst="rect">
            <a:avLst/>
          </a:prstGeom>
          <a:solidFill>
            <a:srgbClr val="FFFFFF"/>
          </a:solidFill>
          <a:ln w="6350">
            <a:solidFill>
              <a:srgbClr val="DEDEDE"/>
            </a:solidFill>
            <a:prstDash val="solid"/>
          </a:ln>
        </p:spPr>
      </p:sp>
      <p:sp>
        <p:nvSpPr>
          <p:cNvPr id="27" name="Shape 25"/>
          <p:cNvSpPr/>
          <p:nvPr/>
        </p:nvSpPr>
        <p:spPr>
          <a:xfrm>
            <a:off x="256032" y="3054096"/>
            <a:ext cx="54864" cy="566928"/>
          </a:xfrm>
          <a:prstGeom prst="rect">
            <a:avLst/>
          </a:prstGeom>
          <a:solidFill>
            <a:srgbClr val="E8892A"/>
          </a:solidFill>
          <a:ln w="12700">
            <a:solidFill>
              <a:srgbClr val="E8892A"/>
            </a:solidFill>
            <a:prstDash val="solid"/>
          </a:ln>
        </p:spPr>
      </p:sp>
      <p:sp>
        <p:nvSpPr>
          <p:cNvPr id="28" name="Text 26"/>
          <p:cNvSpPr/>
          <p:nvPr/>
        </p:nvSpPr>
        <p:spPr>
          <a:xfrm>
            <a:off x="402336" y="3145536"/>
            <a:ext cx="2011680" cy="201168"/>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NVDA Position</a:t>
            </a:r>
            <a:endParaRPr lang="en-US" sz="1050" dirty="0"/>
          </a:p>
        </p:txBody>
      </p:sp>
      <p:sp>
        <p:nvSpPr>
          <p:cNvPr id="29" name="Text 27"/>
          <p:cNvSpPr/>
          <p:nvPr/>
        </p:nvSpPr>
        <p:spPr>
          <a:xfrm>
            <a:off x="402336" y="3364992"/>
            <a:ext cx="2011680" cy="182880"/>
          </a:xfrm>
          <a:prstGeom prst="rect">
            <a:avLst/>
          </a:prstGeom>
          <a:noFill/>
          <a:ln/>
        </p:spPr>
        <p:txBody>
          <a:bodyPr wrap="square" lIns="0" tIns="0" rIns="0" bIns="0" rtlCol="0" anchor="ctr"/>
          <a:lstStyle/>
          <a:p>
            <a:pPr indent="0" marL="0">
              <a:buNone/>
            </a:pPr>
            <a:r>
              <a:rPr lang="en-US" sz="850" dirty="0">
                <a:solidFill>
                  <a:srgbClr val="718096"/>
                </a:solidFill>
                <a:latin typeface="Calibri" pitchFamily="34" charset="0"/>
                <a:ea typeface="Calibri" pitchFamily="34" charset="-122"/>
                <a:cs typeface="Calibri" pitchFamily="34" charset="-120"/>
              </a:rPr>
              <a:t>Semi-liquid — blackout periods apply</a:t>
            </a:r>
            <a:endParaRPr lang="en-US" sz="850" dirty="0"/>
          </a:p>
        </p:txBody>
      </p:sp>
      <p:sp>
        <p:nvSpPr>
          <p:cNvPr id="30" name="Text 28"/>
          <p:cNvSpPr/>
          <p:nvPr/>
        </p:nvSpPr>
        <p:spPr>
          <a:xfrm>
            <a:off x="2468880" y="3182112"/>
            <a:ext cx="2011680" cy="274320"/>
          </a:xfrm>
          <a:prstGeom prst="rect">
            <a:avLst/>
          </a:prstGeom>
          <a:noFill/>
          <a:ln/>
        </p:spPr>
        <p:txBody>
          <a:bodyPr wrap="square" lIns="0" tIns="0" rIns="0" bIns="0" rtlCol="0" anchor="ctr"/>
          <a:lstStyle/>
          <a:p>
            <a:pPr indent="0" marL="0">
              <a:buNone/>
            </a:pPr>
            <a:r>
              <a:rPr lang="en-US" sz="1400" b="1" dirty="0">
                <a:solidFill>
                  <a:srgbClr val="0D1B2A"/>
                </a:solidFill>
                <a:latin typeface="Garamond" pitchFamily="34" charset="0"/>
                <a:ea typeface="Garamond" pitchFamily="34" charset="-122"/>
                <a:cs typeface="Garamond" pitchFamily="34" charset="-120"/>
              </a:rPr>
              <a:t>$46,500,000</a:t>
            </a:r>
            <a:endParaRPr lang="en-US" sz="1400" dirty="0"/>
          </a:p>
        </p:txBody>
      </p:sp>
      <p:sp>
        <p:nvSpPr>
          <p:cNvPr id="31" name="Shape 29"/>
          <p:cNvSpPr/>
          <p:nvPr/>
        </p:nvSpPr>
        <p:spPr>
          <a:xfrm>
            <a:off x="4572000" y="3236976"/>
            <a:ext cx="4389120" cy="201168"/>
          </a:xfrm>
          <a:prstGeom prst="rect">
            <a:avLst/>
          </a:prstGeom>
          <a:solidFill>
            <a:srgbClr val="F6F6F4"/>
          </a:solidFill>
          <a:ln w="6350">
            <a:solidFill>
              <a:srgbClr val="DEDEDE"/>
            </a:solidFill>
            <a:prstDash val="solid"/>
          </a:ln>
        </p:spPr>
      </p:sp>
      <p:sp>
        <p:nvSpPr>
          <p:cNvPr id="32" name="Shape 30"/>
          <p:cNvSpPr/>
          <p:nvPr/>
        </p:nvSpPr>
        <p:spPr>
          <a:xfrm>
            <a:off x="4572000" y="3236976"/>
            <a:ext cx="4081882" cy="201168"/>
          </a:xfrm>
          <a:prstGeom prst="rect">
            <a:avLst/>
          </a:prstGeom>
          <a:solidFill>
            <a:srgbClr val="E8892A"/>
          </a:solidFill>
          <a:ln w="12700">
            <a:solidFill>
              <a:srgbClr val="E8892A"/>
            </a:solidFill>
            <a:prstDash val="solid"/>
          </a:ln>
        </p:spPr>
      </p:sp>
      <p:sp>
        <p:nvSpPr>
          <p:cNvPr id="33" name="Shape 31"/>
          <p:cNvSpPr/>
          <p:nvPr/>
        </p:nvSpPr>
        <p:spPr>
          <a:xfrm>
            <a:off x="256032" y="3730752"/>
            <a:ext cx="8686800" cy="566928"/>
          </a:xfrm>
          <a:prstGeom prst="rect">
            <a:avLst/>
          </a:prstGeom>
          <a:solidFill>
            <a:srgbClr val="FFFFFF"/>
          </a:solidFill>
          <a:ln w="6350">
            <a:solidFill>
              <a:srgbClr val="DEDEDE"/>
            </a:solidFill>
            <a:prstDash val="solid"/>
          </a:ln>
        </p:spPr>
      </p:sp>
      <p:sp>
        <p:nvSpPr>
          <p:cNvPr id="34" name="Shape 32"/>
          <p:cNvSpPr/>
          <p:nvPr/>
        </p:nvSpPr>
        <p:spPr>
          <a:xfrm>
            <a:off x="256032" y="3730752"/>
            <a:ext cx="54864" cy="566928"/>
          </a:xfrm>
          <a:prstGeom prst="rect">
            <a:avLst/>
          </a:prstGeom>
          <a:solidFill>
            <a:srgbClr val="C0392B"/>
          </a:solidFill>
          <a:ln w="12700">
            <a:solidFill>
              <a:srgbClr val="C0392B"/>
            </a:solidFill>
            <a:prstDash val="solid"/>
          </a:ln>
        </p:spPr>
      </p:sp>
      <p:sp>
        <p:nvSpPr>
          <p:cNvPr id="35" name="Text 33"/>
          <p:cNvSpPr/>
          <p:nvPr/>
        </p:nvSpPr>
        <p:spPr>
          <a:xfrm>
            <a:off x="402336" y="3822192"/>
            <a:ext cx="2011680" cy="201168"/>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Real Estate</a:t>
            </a:r>
            <a:endParaRPr lang="en-US" sz="1050" dirty="0"/>
          </a:p>
        </p:txBody>
      </p:sp>
      <p:sp>
        <p:nvSpPr>
          <p:cNvPr id="36" name="Text 34"/>
          <p:cNvSpPr/>
          <p:nvPr/>
        </p:nvSpPr>
        <p:spPr>
          <a:xfrm>
            <a:off x="402336" y="4041648"/>
            <a:ext cx="2011680" cy="182880"/>
          </a:xfrm>
          <a:prstGeom prst="rect">
            <a:avLst/>
          </a:prstGeom>
          <a:noFill/>
          <a:ln/>
        </p:spPr>
        <p:txBody>
          <a:bodyPr wrap="square" lIns="0" tIns="0" rIns="0" bIns="0" rtlCol="0" anchor="ctr"/>
          <a:lstStyle/>
          <a:p>
            <a:pPr indent="0" marL="0">
              <a:buNone/>
            </a:pPr>
            <a:r>
              <a:rPr lang="en-US" sz="850" dirty="0">
                <a:solidFill>
                  <a:srgbClr val="718096"/>
                </a:solidFill>
                <a:latin typeface="Calibri" pitchFamily="34" charset="0"/>
                <a:ea typeface="Calibri" pitchFamily="34" charset="-122"/>
                <a:cs typeface="Calibri" pitchFamily="34" charset="-120"/>
              </a:rPr>
              <a:t>Illiquid — 3–12 month sale horizon</a:t>
            </a:r>
            <a:endParaRPr lang="en-US" sz="850" dirty="0"/>
          </a:p>
        </p:txBody>
      </p:sp>
      <p:sp>
        <p:nvSpPr>
          <p:cNvPr id="37" name="Text 35"/>
          <p:cNvSpPr/>
          <p:nvPr/>
        </p:nvSpPr>
        <p:spPr>
          <a:xfrm>
            <a:off x="2468880" y="3858768"/>
            <a:ext cx="2011680" cy="274320"/>
          </a:xfrm>
          <a:prstGeom prst="rect">
            <a:avLst/>
          </a:prstGeom>
          <a:noFill/>
          <a:ln/>
        </p:spPr>
        <p:txBody>
          <a:bodyPr wrap="square" lIns="0" tIns="0" rIns="0" bIns="0" rtlCol="0" anchor="ctr"/>
          <a:lstStyle/>
          <a:p>
            <a:pPr indent="0" marL="0">
              <a:buNone/>
            </a:pPr>
            <a:r>
              <a:rPr lang="en-US" sz="1400" b="1" dirty="0">
                <a:solidFill>
                  <a:srgbClr val="0D1B2A"/>
                </a:solidFill>
                <a:latin typeface="Garamond" pitchFamily="34" charset="0"/>
                <a:ea typeface="Garamond" pitchFamily="34" charset="-122"/>
                <a:cs typeface="Garamond" pitchFamily="34" charset="-120"/>
              </a:rPr>
              <a:t>$28,000,000</a:t>
            </a:r>
            <a:endParaRPr lang="en-US" sz="1400" dirty="0"/>
          </a:p>
        </p:txBody>
      </p:sp>
      <p:sp>
        <p:nvSpPr>
          <p:cNvPr id="38" name="Shape 36"/>
          <p:cNvSpPr/>
          <p:nvPr/>
        </p:nvSpPr>
        <p:spPr>
          <a:xfrm>
            <a:off x="4572000" y="3913632"/>
            <a:ext cx="4389120" cy="201168"/>
          </a:xfrm>
          <a:prstGeom prst="rect">
            <a:avLst/>
          </a:prstGeom>
          <a:solidFill>
            <a:srgbClr val="F6F6F4"/>
          </a:solidFill>
          <a:ln w="6350">
            <a:solidFill>
              <a:srgbClr val="DEDEDE"/>
            </a:solidFill>
            <a:prstDash val="solid"/>
          </a:ln>
        </p:spPr>
      </p:sp>
      <p:sp>
        <p:nvSpPr>
          <p:cNvPr id="39" name="Shape 37"/>
          <p:cNvSpPr/>
          <p:nvPr/>
        </p:nvSpPr>
        <p:spPr>
          <a:xfrm>
            <a:off x="4572000" y="3913632"/>
            <a:ext cx="2457907" cy="201168"/>
          </a:xfrm>
          <a:prstGeom prst="rect">
            <a:avLst/>
          </a:prstGeom>
          <a:solidFill>
            <a:srgbClr val="C0392B"/>
          </a:solidFill>
          <a:ln w="12700">
            <a:solidFill>
              <a:srgbClr val="C0392B"/>
            </a:solidFill>
            <a:prstDash val="solid"/>
          </a:ln>
        </p:spPr>
      </p:sp>
      <p:sp>
        <p:nvSpPr>
          <p:cNvPr id="40" name="Shape 38"/>
          <p:cNvSpPr/>
          <p:nvPr/>
        </p:nvSpPr>
        <p:spPr>
          <a:xfrm>
            <a:off x="256032" y="4425696"/>
            <a:ext cx="8686800" cy="457200"/>
          </a:xfrm>
          <a:prstGeom prst="rect">
            <a:avLst/>
          </a:prstGeom>
          <a:solidFill>
            <a:srgbClr val="0D1B2A"/>
          </a:solidFill>
          <a:ln w="12700">
            <a:solidFill>
              <a:srgbClr val="0D1B2A"/>
            </a:solidFill>
            <a:prstDash val="solid"/>
          </a:ln>
        </p:spPr>
      </p:sp>
      <p:sp>
        <p:nvSpPr>
          <p:cNvPr id="41" name="Text 39"/>
          <p:cNvSpPr/>
          <p:nvPr/>
        </p:nvSpPr>
        <p:spPr>
          <a:xfrm>
            <a:off x="420624" y="4535424"/>
            <a:ext cx="1463040" cy="201168"/>
          </a:xfrm>
          <a:prstGeom prst="rect">
            <a:avLst/>
          </a:prstGeom>
          <a:noFill/>
          <a:ln/>
        </p:spPr>
        <p:txBody>
          <a:bodyPr wrap="square" lIns="0" tIns="0" rIns="0" bIns="0" rtlCol="0" anchor="ctr"/>
          <a:lstStyle/>
          <a:p>
            <a:pPr indent="0" marL="0">
              <a:buNone/>
            </a:pPr>
            <a:r>
              <a:rPr lang="en-US" sz="950" b="1" dirty="0">
                <a:solidFill>
                  <a:srgbClr val="B5922E"/>
                </a:solidFill>
                <a:latin typeface="Calibri" pitchFamily="34" charset="0"/>
                <a:ea typeface="Calibri" pitchFamily="34" charset="-122"/>
                <a:cs typeface="Calibri" pitchFamily="34" charset="-120"/>
              </a:rPr>
              <a:t>Immediately Liquid:</a:t>
            </a:r>
            <a:endParaRPr lang="en-US" sz="950" dirty="0"/>
          </a:p>
        </p:txBody>
      </p:sp>
      <p:sp>
        <p:nvSpPr>
          <p:cNvPr id="42" name="Text 40"/>
          <p:cNvSpPr/>
          <p:nvPr/>
        </p:nvSpPr>
        <p:spPr>
          <a:xfrm>
            <a:off x="1920240" y="4535424"/>
            <a:ext cx="2286000" cy="20116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$8,500,000 (cash + munis)</a:t>
            </a:r>
            <a:endParaRPr lang="en-US" sz="950" dirty="0"/>
          </a:p>
        </p:txBody>
      </p:sp>
      <p:sp>
        <p:nvSpPr>
          <p:cNvPr id="43" name="Text 41"/>
          <p:cNvSpPr/>
          <p:nvPr/>
        </p:nvSpPr>
        <p:spPr>
          <a:xfrm>
            <a:off x="4572000" y="4535424"/>
            <a:ext cx="1371600" cy="201168"/>
          </a:xfrm>
          <a:prstGeom prst="rect">
            <a:avLst/>
          </a:prstGeom>
          <a:noFill/>
          <a:ln/>
        </p:spPr>
        <p:txBody>
          <a:bodyPr wrap="square" lIns="0" tIns="0" rIns="0" bIns="0" rtlCol="0" anchor="ctr"/>
          <a:lstStyle/>
          <a:p>
            <a:pPr indent="0" marL="0">
              <a:buNone/>
            </a:pPr>
            <a:r>
              <a:rPr lang="en-US" sz="950" b="1" dirty="0">
                <a:solidFill>
                  <a:srgbClr val="B5922E"/>
                </a:solidFill>
                <a:latin typeface="Calibri" pitchFamily="34" charset="0"/>
                <a:ea typeface="Calibri" pitchFamily="34" charset="-122"/>
                <a:cs typeface="Calibri" pitchFamily="34" charset="-120"/>
              </a:rPr>
              <a:t>Recommendation:</a:t>
            </a:r>
            <a:endParaRPr lang="en-US" sz="950" dirty="0"/>
          </a:p>
        </p:txBody>
      </p:sp>
      <p:sp>
        <p:nvSpPr>
          <p:cNvPr id="44" name="Text 42"/>
          <p:cNvSpPr/>
          <p:nvPr/>
        </p:nvSpPr>
        <p:spPr>
          <a:xfrm>
            <a:off x="6035040" y="4535424"/>
            <a:ext cx="2743200" cy="201168"/>
          </a:xfrm>
          <a:prstGeom prst="rect">
            <a:avLst/>
          </a:prstGeom>
          <a:noFill/>
          <a:ln/>
        </p:spPr>
        <p:txBody>
          <a:bodyPr wrap="square" lIns="0" tIns="0" rIns="0" bIns="0" rtlCol="0" anchor="ctr"/>
          <a:lstStyle/>
          <a:p>
            <a:pPr indent="0" marL="0">
              <a:buNone/>
            </a:pPr>
            <a:r>
              <a:rPr lang="en-US" sz="900" dirty="0">
                <a:solidFill>
                  <a:srgbClr val="A0B4C8"/>
                </a:solidFill>
                <a:latin typeface="Calibri" pitchFamily="34" charset="0"/>
                <a:ea typeface="Calibri" pitchFamily="34" charset="-122"/>
                <a:cs typeface="Calibri" pitchFamily="34" charset="-120"/>
              </a:rPr>
              <a:t>Maintain $3–5M cash minimum. Do not over-liquidate NVDA to fund lifestyle.</a:t>
            </a:r>
            <a:endParaRPr lang="en-US" sz="900" dirty="0"/>
          </a:p>
        </p:txBody>
      </p:sp>
      <p:sp>
        <p:nvSpPr>
          <p:cNvPr id="45" name="Text 43"/>
          <p:cNvSpPr/>
          <p:nvPr/>
        </p:nvSpPr>
        <p:spPr>
          <a:xfrm>
            <a:off x="256032" y="4919472"/>
            <a:ext cx="8686800" cy="164592"/>
          </a:xfrm>
          <a:prstGeom prst="rect">
            <a:avLst/>
          </a:prstGeom>
          <a:noFill/>
          <a:ln/>
        </p:spPr>
        <p:txBody>
          <a:bodyPr wrap="square" lIns="0" tIns="0" rIns="0" bIns="0" rtlCol="0" anchor="ctr"/>
          <a:lstStyle/>
          <a:p>
            <a:pPr indent="0" marL="0">
              <a:buNone/>
            </a:pPr>
            <a:r>
              <a:rPr lang="en-US" sz="800" i="1" dirty="0">
                <a:solidFill>
                  <a:srgbClr val="718096"/>
                </a:solidFill>
                <a:latin typeface="Calibri" pitchFamily="34" charset="0"/>
                <a:ea typeface="Calibri" pitchFamily="34" charset="-122"/>
                <a:cs typeface="Calibri" pitchFamily="34" charset="-120"/>
              </a:rPr>
              <a:t>Real estate holdings ($28M) are illiquid and should not be relied upon for short- or medium-term liquidity planning.</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1B2A"/>
          </a:solidFill>
          <a:ln w="12700">
            <a:solidFill>
              <a:srgbClr val="0D1B2A"/>
            </a:solidFill>
            <a:prstDash val="solid"/>
          </a:ln>
        </p:spPr>
      </p:sp>
      <p:sp>
        <p:nvSpPr>
          <p:cNvPr id="3" name="Text 1"/>
          <p:cNvSpPr/>
          <p:nvPr/>
        </p:nvSpPr>
        <p:spPr>
          <a:xfrm>
            <a:off x="256032" y="274320"/>
            <a:ext cx="7315200" cy="201168"/>
          </a:xfrm>
          <a:prstGeom prst="rect">
            <a:avLst/>
          </a:prstGeom>
          <a:noFill/>
          <a:ln/>
        </p:spPr>
        <p:txBody>
          <a:bodyPr wrap="square" lIns="0" tIns="0" rIns="0" bIns="0" rtlCol="0" anchor="ctr"/>
          <a:lstStyle/>
          <a:p>
            <a:pPr indent="0" marL="0">
              <a:buNone/>
            </a:pPr>
            <a:r>
              <a:rPr lang="en-US" sz="900" b="1" spc="300" kern="0" dirty="0">
                <a:solidFill>
                  <a:srgbClr val="B5922E"/>
                </a:solidFill>
                <a:latin typeface="Calibri" pitchFamily="34" charset="0"/>
                <a:ea typeface="Calibri" pitchFamily="34" charset="-122"/>
                <a:cs typeface="Calibri" pitchFamily="34" charset="-120"/>
              </a:rPr>
              <a:t>PLANNING MODULE · TAX PLANNING</a:t>
            </a:r>
            <a:endParaRPr lang="en-US" sz="900" dirty="0"/>
          </a:p>
        </p:txBody>
      </p:sp>
      <p:sp>
        <p:nvSpPr>
          <p:cNvPr id="4" name="Text 2"/>
          <p:cNvSpPr/>
          <p:nvPr/>
        </p:nvSpPr>
        <p:spPr>
          <a:xfrm>
            <a:off x="256032" y="493776"/>
            <a:ext cx="8686800" cy="502920"/>
          </a:xfrm>
          <a:prstGeom prst="rect">
            <a:avLst/>
          </a:prstGeom>
          <a:noFill/>
          <a:ln/>
        </p:spPr>
        <p:txBody>
          <a:bodyPr wrap="square" lIns="0" tIns="0" rIns="0" bIns="0" rtlCol="0" anchor="ctr"/>
          <a:lstStyle/>
          <a:p>
            <a:pPr indent="0" marL="0">
              <a:buNone/>
            </a:pPr>
            <a:r>
              <a:rPr lang="en-US" sz="2400" b="1" dirty="0">
                <a:solidFill>
                  <a:srgbClr val="0D1B2A"/>
                </a:solidFill>
                <a:latin typeface="Garamond" pitchFamily="34" charset="0"/>
                <a:ea typeface="Garamond" pitchFamily="34" charset="-122"/>
                <a:cs typeface="Garamond" pitchFamily="34" charset="-120"/>
              </a:rPr>
              <a:t>Tax Planning Overview</a:t>
            </a:r>
            <a:endParaRPr lang="en-US" sz="2400" dirty="0"/>
          </a:p>
        </p:txBody>
      </p:sp>
      <p:sp>
        <p:nvSpPr>
          <p:cNvPr id="5" name="Shape 3"/>
          <p:cNvSpPr/>
          <p:nvPr/>
        </p:nvSpPr>
        <p:spPr>
          <a:xfrm>
            <a:off x="256032" y="1024128"/>
            <a:ext cx="4187952" cy="1847088"/>
          </a:xfrm>
          <a:prstGeom prst="rect">
            <a:avLst/>
          </a:prstGeom>
          <a:solidFill>
            <a:srgbClr val="F5F0E6"/>
          </a:solidFill>
          <a:ln w="9525">
            <a:solidFill>
              <a:srgbClr val="B5922E"/>
            </a:solidFill>
            <a:prstDash val="solid"/>
          </a:ln>
        </p:spPr>
      </p:sp>
      <p:sp>
        <p:nvSpPr>
          <p:cNvPr id="6" name="Shape 4"/>
          <p:cNvSpPr/>
          <p:nvPr/>
        </p:nvSpPr>
        <p:spPr>
          <a:xfrm>
            <a:off x="256032" y="1024128"/>
            <a:ext cx="4187952" cy="36576"/>
          </a:xfrm>
          <a:prstGeom prst="rect">
            <a:avLst/>
          </a:prstGeom>
          <a:solidFill>
            <a:srgbClr val="B5922E"/>
          </a:solidFill>
          <a:ln w="12700">
            <a:solidFill>
              <a:srgbClr val="B5922E"/>
            </a:solidFill>
            <a:prstDash val="solid"/>
          </a:ln>
        </p:spPr>
      </p:sp>
      <p:sp>
        <p:nvSpPr>
          <p:cNvPr id="7" name="Text 5"/>
          <p:cNvSpPr/>
          <p:nvPr/>
        </p:nvSpPr>
        <p:spPr>
          <a:xfrm>
            <a:off x="402336" y="1115568"/>
            <a:ext cx="3840480" cy="237744"/>
          </a:xfrm>
          <a:prstGeom prst="rect">
            <a:avLst/>
          </a:prstGeom>
          <a:noFill/>
          <a:ln/>
        </p:spPr>
        <p:txBody>
          <a:bodyPr wrap="square" lIns="0" tIns="0" rIns="0" bIns="0" rtlCol="0" anchor="ctr"/>
          <a:lstStyle/>
          <a:p>
            <a:pPr indent="0" marL="0">
              <a:buNone/>
            </a:pPr>
            <a:r>
              <a:rPr lang="en-US" sz="1100" b="1" dirty="0">
                <a:solidFill>
                  <a:srgbClr val="5C4000"/>
                </a:solidFill>
                <a:latin typeface="Calibri" pitchFamily="34" charset="0"/>
                <a:ea typeface="Calibri" pitchFamily="34" charset="-122"/>
                <a:cs typeface="Calibri" pitchFamily="34" charset="-120"/>
              </a:rPr>
              <a:t>Capital Gains Management</a:t>
            </a:r>
            <a:endParaRPr lang="en-US" sz="1100" dirty="0"/>
          </a:p>
        </p:txBody>
      </p:sp>
      <p:sp>
        <p:nvSpPr>
          <p:cNvPr id="8" name="Shape 6"/>
          <p:cNvSpPr/>
          <p:nvPr/>
        </p:nvSpPr>
        <p:spPr>
          <a:xfrm>
            <a:off x="402336" y="1389888"/>
            <a:ext cx="3840480" cy="10973"/>
          </a:xfrm>
          <a:prstGeom prst="rect">
            <a:avLst/>
          </a:prstGeom>
          <a:solidFill>
            <a:srgbClr val="B5922E"/>
          </a:solidFill>
          <a:ln w="12700">
            <a:solidFill>
              <a:srgbClr val="B5922E"/>
            </a:solidFill>
            <a:prstDash val="solid"/>
          </a:ln>
        </p:spPr>
      </p:sp>
      <p:sp>
        <p:nvSpPr>
          <p:cNvPr id="9" name="Shape 7"/>
          <p:cNvSpPr/>
          <p:nvPr/>
        </p:nvSpPr>
        <p:spPr>
          <a:xfrm>
            <a:off x="402336" y="1536192"/>
            <a:ext cx="109728" cy="109728"/>
          </a:xfrm>
          <a:prstGeom prst="ellipse">
            <a:avLst/>
          </a:prstGeom>
          <a:solidFill>
            <a:srgbClr val="B5922E"/>
          </a:solidFill>
          <a:ln w="12700">
            <a:solidFill>
              <a:srgbClr val="B5922E"/>
            </a:solidFill>
            <a:prstDash val="solid"/>
          </a:ln>
        </p:spPr>
      </p:sp>
      <p:sp>
        <p:nvSpPr>
          <p:cNvPr id="10" name="Text 8"/>
          <p:cNvSpPr/>
          <p:nvPr/>
        </p:nvSpPr>
        <p:spPr>
          <a:xfrm>
            <a:off x="585216" y="1499616"/>
            <a:ext cx="3639312" cy="256032"/>
          </a:xfrm>
          <a:prstGeom prst="rect">
            <a:avLst/>
          </a:prstGeom>
          <a:noFill/>
          <a:ln/>
        </p:spPr>
        <p:txBody>
          <a:bodyPr wrap="square" lIns="0" tIns="0" rIns="0" bIns="0" rtlCol="0" anchor="ctr"/>
          <a:lstStyle/>
          <a:p>
            <a:pPr indent="0" marL="0">
              <a:buNone/>
            </a:pPr>
            <a:r>
              <a:rPr lang="en-US" sz="950" dirty="0">
                <a:solidFill>
                  <a:srgbClr val="5C4000"/>
                </a:solidFill>
                <a:latin typeface="Calibri" pitchFamily="34" charset="0"/>
                <a:ea typeface="Calibri" pitchFamily="34" charset="-122"/>
                <a:cs typeface="Calibri" pitchFamily="34" charset="-120"/>
              </a:rPr>
              <a:t>Staged NVDA sales: $3–5M/yr in trading windows</a:t>
            </a:r>
            <a:endParaRPr lang="en-US" sz="950" dirty="0"/>
          </a:p>
        </p:txBody>
      </p:sp>
      <p:sp>
        <p:nvSpPr>
          <p:cNvPr id="11" name="Shape 9"/>
          <p:cNvSpPr/>
          <p:nvPr/>
        </p:nvSpPr>
        <p:spPr>
          <a:xfrm>
            <a:off x="402336" y="1847088"/>
            <a:ext cx="109728" cy="109728"/>
          </a:xfrm>
          <a:prstGeom prst="ellipse">
            <a:avLst/>
          </a:prstGeom>
          <a:solidFill>
            <a:srgbClr val="B5922E"/>
          </a:solidFill>
          <a:ln w="12700">
            <a:solidFill>
              <a:srgbClr val="B5922E"/>
            </a:solidFill>
            <a:prstDash val="solid"/>
          </a:ln>
        </p:spPr>
      </p:sp>
      <p:sp>
        <p:nvSpPr>
          <p:cNvPr id="12" name="Text 10"/>
          <p:cNvSpPr/>
          <p:nvPr/>
        </p:nvSpPr>
        <p:spPr>
          <a:xfrm>
            <a:off x="585216" y="1810512"/>
            <a:ext cx="3639312" cy="256032"/>
          </a:xfrm>
          <a:prstGeom prst="rect">
            <a:avLst/>
          </a:prstGeom>
          <a:noFill/>
          <a:ln/>
        </p:spPr>
        <p:txBody>
          <a:bodyPr wrap="square" lIns="0" tIns="0" rIns="0" bIns="0" rtlCol="0" anchor="ctr"/>
          <a:lstStyle/>
          <a:p>
            <a:pPr indent="0" marL="0">
              <a:buNone/>
            </a:pPr>
            <a:r>
              <a:rPr lang="en-US" sz="950" dirty="0">
                <a:solidFill>
                  <a:srgbClr val="5C4000"/>
                </a:solidFill>
                <a:latin typeface="Calibri" pitchFamily="34" charset="0"/>
                <a:ea typeface="Calibri" pitchFamily="34" charset="-122"/>
                <a:cs typeface="Calibri" pitchFamily="34" charset="-120"/>
              </a:rPr>
              <a:t>23.8% LTCG rate + 3.8% NIIT = 27.6% combined</a:t>
            </a:r>
            <a:endParaRPr lang="en-US" sz="950" dirty="0"/>
          </a:p>
        </p:txBody>
      </p:sp>
      <p:sp>
        <p:nvSpPr>
          <p:cNvPr id="13" name="Shape 11"/>
          <p:cNvSpPr/>
          <p:nvPr/>
        </p:nvSpPr>
        <p:spPr>
          <a:xfrm>
            <a:off x="402336" y="2157984"/>
            <a:ext cx="109728" cy="109728"/>
          </a:xfrm>
          <a:prstGeom prst="ellipse">
            <a:avLst/>
          </a:prstGeom>
          <a:solidFill>
            <a:srgbClr val="B5922E"/>
          </a:solidFill>
          <a:ln w="12700">
            <a:solidFill>
              <a:srgbClr val="B5922E"/>
            </a:solidFill>
            <a:prstDash val="solid"/>
          </a:ln>
        </p:spPr>
      </p:sp>
      <p:sp>
        <p:nvSpPr>
          <p:cNvPr id="14" name="Text 12"/>
          <p:cNvSpPr/>
          <p:nvPr/>
        </p:nvSpPr>
        <p:spPr>
          <a:xfrm>
            <a:off x="585216" y="2121408"/>
            <a:ext cx="3639312" cy="256032"/>
          </a:xfrm>
          <a:prstGeom prst="rect">
            <a:avLst/>
          </a:prstGeom>
          <a:noFill/>
          <a:ln/>
        </p:spPr>
        <p:txBody>
          <a:bodyPr wrap="square" lIns="0" tIns="0" rIns="0" bIns="0" rtlCol="0" anchor="ctr"/>
          <a:lstStyle/>
          <a:p>
            <a:pPr indent="0" marL="0">
              <a:buNone/>
            </a:pPr>
            <a:r>
              <a:rPr lang="en-US" sz="950" dirty="0">
                <a:solidFill>
                  <a:srgbClr val="5C4000"/>
                </a:solidFill>
                <a:latin typeface="Calibri" pitchFamily="34" charset="0"/>
                <a:ea typeface="Calibri" pitchFamily="34" charset="-122"/>
                <a:cs typeface="Calibri" pitchFamily="34" charset="-120"/>
              </a:rPr>
              <a:t>130/30 TLH generates losses to offset gains</a:t>
            </a:r>
            <a:endParaRPr lang="en-US" sz="950" dirty="0"/>
          </a:p>
        </p:txBody>
      </p:sp>
      <p:sp>
        <p:nvSpPr>
          <p:cNvPr id="15" name="Shape 13"/>
          <p:cNvSpPr/>
          <p:nvPr/>
        </p:nvSpPr>
        <p:spPr>
          <a:xfrm>
            <a:off x="402336" y="2468880"/>
            <a:ext cx="109728" cy="109728"/>
          </a:xfrm>
          <a:prstGeom prst="ellipse">
            <a:avLst/>
          </a:prstGeom>
          <a:solidFill>
            <a:srgbClr val="B5922E"/>
          </a:solidFill>
          <a:ln w="12700">
            <a:solidFill>
              <a:srgbClr val="B5922E"/>
            </a:solidFill>
            <a:prstDash val="solid"/>
          </a:ln>
        </p:spPr>
      </p:sp>
      <p:sp>
        <p:nvSpPr>
          <p:cNvPr id="16" name="Text 14"/>
          <p:cNvSpPr/>
          <p:nvPr/>
        </p:nvSpPr>
        <p:spPr>
          <a:xfrm>
            <a:off x="585216" y="2432304"/>
            <a:ext cx="3639312" cy="256032"/>
          </a:xfrm>
          <a:prstGeom prst="rect">
            <a:avLst/>
          </a:prstGeom>
          <a:noFill/>
          <a:ln/>
        </p:spPr>
        <p:txBody>
          <a:bodyPr wrap="square" lIns="0" tIns="0" rIns="0" bIns="0" rtlCol="0" anchor="ctr"/>
          <a:lstStyle/>
          <a:p>
            <a:pPr indent="0" marL="0">
              <a:buNone/>
            </a:pPr>
            <a:r>
              <a:rPr lang="en-US" sz="950" dirty="0">
                <a:solidFill>
                  <a:srgbClr val="5C4000"/>
                </a:solidFill>
                <a:latin typeface="Calibri" pitchFamily="34" charset="0"/>
                <a:ea typeface="Calibri" pitchFamily="34" charset="-122"/>
                <a:cs typeface="Calibri" pitchFamily="34" charset="-120"/>
              </a:rPr>
              <a:t>CRT eliminates gains on $15M contribution entirely</a:t>
            </a:r>
            <a:endParaRPr lang="en-US" sz="950" dirty="0"/>
          </a:p>
        </p:txBody>
      </p:sp>
      <p:sp>
        <p:nvSpPr>
          <p:cNvPr id="17" name="Shape 15"/>
          <p:cNvSpPr/>
          <p:nvPr/>
        </p:nvSpPr>
        <p:spPr>
          <a:xfrm>
            <a:off x="4718304" y="1024128"/>
            <a:ext cx="4187952" cy="1847088"/>
          </a:xfrm>
          <a:prstGeom prst="rect">
            <a:avLst/>
          </a:prstGeom>
          <a:solidFill>
            <a:srgbClr val="FDF4F3"/>
          </a:solidFill>
          <a:ln w="9525">
            <a:solidFill>
              <a:srgbClr val="C0392B"/>
            </a:solidFill>
            <a:prstDash val="solid"/>
          </a:ln>
        </p:spPr>
      </p:sp>
      <p:sp>
        <p:nvSpPr>
          <p:cNvPr id="18" name="Shape 16"/>
          <p:cNvSpPr/>
          <p:nvPr/>
        </p:nvSpPr>
        <p:spPr>
          <a:xfrm>
            <a:off x="4718304" y="1024128"/>
            <a:ext cx="4187952" cy="36576"/>
          </a:xfrm>
          <a:prstGeom prst="rect">
            <a:avLst/>
          </a:prstGeom>
          <a:solidFill>
            <a:srgbClr val="C0392B"/>
          </a:solidFill>
          <a:ln w="12700">
            <a:solidFill>
              <a:srgbClr val="C0392B"/>
            </a:solidFill>
            <a:prstDash val="solid"/>
          </a:ln>
        </p:spPr>
      </p:sp>
      <p:sp>
        <p:nvSpPr>
          <p:cNvPr id="19" name="Text 17"/>
          <p:cNvSpPr/>
          <p:nvPr/>
        </p:nvSpPr>
        <p:spPr>
          <a:xfrm>
            <a:off x="4864608" y="1115568"/>
            <a:ext cx="3840480" cy="237744"/>
          </a:xfrm>
          <a:prstGeom prst="rect">
            <a:avLst/>
          </a:prstGeom>
          <a:noFill/>
          <a:ln/>
        </p:spPr>
        <p:txBody>
          <a:bodyPr wrap="square" lIns="0" tIns="0" rIns="0" bIns="0" rtlCol="0" anchor="ctr"/>
          <a:lstStyle/>
          <a:p>
            <a:pPr indent="0" marL="0">
              <a:buNone/>
            </a:pPr>
            <a:r>
              <a:rPr lang="en-US" sz="1100" b="1" dirty="0">
                <a:solidFill>
                  <a:srgbClr val="7B2D26"/>
                </a:solidFill>
                <a:latin typeface="Calibri" pitchFamily="34" charset="0"/>
                <a:ea typeface="Calibri" pitchFamily="34" charset="-122"/>
                <a:cs typeface="Calibri" pitchFamily="34" charset="-120"/>
              </a:rPr>
              <a:t>Estate &amp; Gift Tax</a:t>
            </a:r>
            <a:endParaRPr lang="en-US" sz="1100" dirty="0"/>
          </a:p>
        </p:txBody>
      </p:sp>
      <p:sp>
        <p:nvSpPr>
          <p:cNvPr id="20" name="Shape 18"/>
          <p:cNvSpPr/>
          <p:nvPr/>
        </p:nvSpPr>
        <p:spPr>
          <a:xfrm>
            <a:off x="4864608" y="1389888"/>
            <a:ext cx="3840480" cy="10973"/>
          </a:xfrm>
          <a:prstGeom prst="rect">
            <a:avLst/>
          </a:prstGeom>
          <a:solidFill>
            <a:srgbClr val="C0392B"/>
          </a:solidFill>
          <a:ln w="12700">
            <a:solidFill>
              <a:srgbClr val="C0392B"/>
            </a:solidFill>
            <a:prstDash val="solid"/>
          </a:ln>
        </p:spPr>
      </p:sp>
      <p:sp>
        <p:nvSpPr>
          <p:cNvPr id="21" name="Shape 19"/>
          <p:cNvSpPr/>
          <p:nvPr/>
        </p:nvSpPr>
        <p:spPr>
          <a:xfrm>
            <a:off x="4864608" y="1536192"/>
            <a:ext cx="109728" cy="109728"/>
          </a:xfrm>
          <a:prstGeom prst="ellipse">
            <a:avLst/>
          </a:prstGeom>
          <a:solidFill>
            <a:srgbClr val="C0392B"/>
          </a:solidFill>
          <a:ln w="12700">
            <a:solidFill>
              <a:srgbClr val="C0392B"/>
            </a:solidFill>
            <a:prstDash val="solid"/>
          </a:ln>
        </p:spPr>
      </p:sp>
      <p:sp>
        <p:nvSpPr>
          <p:cNvPr id="22" name="Text 20"/>
          <p:cNvSpPr/>
          <p:nvPr/>
        </p:nvSpPr>
        <p:spPr>
          <a:xfrm>
            <a:off x="5047488" y="1499616"/>
            <a:ext cx="3639312" cy="256032"/>
          </a:xfrm>
          <a:prstGeom prst="rect">
            <a:avLst/>
          </a:prstGeom>
          <a:noFill/>
          <a:ln/>
        </p:spPr>
        <p:txBody>
          <a:bodyPr wrap="square" lIns="0" tIns="0" rIns="0" bIns="0" rtlCol="0" anchor="ctr"/>
          <a:lstStyle/>
          <a:p>
            <a:pPr indent="0" marL="0">
              <a:buNone/>
            </a:pPr>
            <a:r>
              <a:rPr lang="en-US" sz="950" dirty="0">
                <a:solidFill>
                  <a:srgbClr val="7B2D26"/>
                </a:solidFill>
                <a:latin typeface="Calibri" pitchFamily="34" charset="0"/>
                <a:ea typeface="Calibri" pitchFamily="34" charset="-122"/>
                <a:cs typeface="Calibri" pitchFamily="34" charset="-120"/>
              </a:rPr>
              <a:t>$88M taxable today above $30M exemption</a:t>
            </a:r>
            <a:endParaRPr lang="en-US" sz="950" dirty="0"/>
          </a:p>
        </p:txBody>
      </p:sp>
      <p:sp>
        <p:nvSpPr>
          <p:cNvPr id="23" name="Shape 21"/>
          <p:cNvSpPr/>
          <p:nvPr/>
        </p:nvSpPr>
        <p:spPr>
          <a:xfrm>
            <a:off x="4864608" y="1847088"/>
            <a:ext cx="109728" cy="109728"/>
          </a:xfrm>
          <a:prstGeom prst="ellipse">
            <a:avLst/>
          </a:prstGeom>
          <a:solidFill>
            <a:srgbClr val="C0392B"/>
          </a:solidFill>
          <a:ln w="12700">
            <a:solidFill>
              <a:srgbClr val="C0392B"/>
            </a:solidFill>
            <a:prstDash val="solid"/>
          </a:ln>
        </p:spPr>
      </p:sp>
      <p:sp>
        <p:nvSpPr>
          <p:cNvPr id="24" name="Text 22"/>
          <p:cNvSpPr/>
          <p:nvPr/>
        </p:nvSpPr>
        <p:spPr>
          <a:xfrm>
            <a:off x="5047488" y="1810512"/>
            <a:ext cx="3639312" cy="256032"/>
          </a:xfrm>
          <a:prstGeom prst="rect">
            <a:avLst/>
          </a:prstGeom>
          <a:noFill/>
          <a:ln/>
        </p:spPr>
        <p:txBody>
          <a:bodyPr wrap="square" lIns="0" tIns="0" rIns="0" bIns="0" rtlCol="0" anchor="ctr"/>
          <a:lstStyle/>
          <a:p>
            <a:pPr indent="0" marL="0">
              <a:buNone/>
            </a:pPr>
            <a:r>
              <a:rPr lang="en-US" sz="950" dirty="0">
                <a:solidFill>
                  <a:srgbClr val="7B2D26"/>
                </a:solidFill>
                <a:latin typeface="Calibri" pitchFamily="34" charset="0"/>
                <a:ea typeface="Calibri" pitchFamily="34" charset="-122"/>
                <a:cs typeface="Calibri" pitchFamily="34" charset="-120"/>
              </a:rPr>
              <a:t>40% rate on excess = $35.2M tax if no action</a:t>
            </a:r>
            <a:endParaRPr lang="en-US" sz="950" dirty="0"/>
          </a:p>
        </p:txBody>
      </p:sp>
      <p:sp>
        <p:nvSpPr>
          <p:cNvPr id="25" name="Shape 23"/>
          <p:cNvSpPr/>
          <p:nvPr/>
        </p:nvSpPr>
        <p:spPr>
          <a:xfrm>
            <a:off x="4864608" y="2157984"/>
            <a:ext cx="109728" cy="109728"/>
          </a:xfrm>
          <a:prstGeom prst="ellipse">
            <a:avLst/>
          </a:prstGeom>
          <a:solidFill>
            <a:srgbClr val="C0392B"/>
          </a:solidFill>
          <a:ln w="12700">
            <a:solidFill>
              <a:srgbClr val="C0392B"/>
            </a:solidFill>
            <a:prstDash val="solid"/>
          </a:ln>
        </p:spPr>
      </p:sp>
      <p:sp>
        <p:nvSpPr>
          <p:cNvPr id="26" name="Text 24"/>
          <p:cNvSpPr/>
          <p:nvPr/>
        </p:nvSpPr>
        <p:spPr>
          <a:xfrm>
            <a:off x="5047488" y="2121408"/>
            <a:ext cx="3639312" cy="256032"/>
          </a:xfrm>
          <a:prstGeom prst="rect">
            <a:avLst/>
          </a:prstGeom>
          <a:noFill/>
          <a:ln/>
        </p:spPr>
        <p:txBody>
          <a:bodyPr wrap="square" lIns="0" tIns="0" rIns="0" bIns="0" rtlCol="0" anchor="ctr"/>
          <a:lstStyle/>
          <a:p>
            <a:pPr indent="0" marL="0">
              <a:buNone/>
            </a:pPr>
            <a:r>
              <a:rPr lang="en-US" sz="950" dirty="0">
                <a:solidFill>
                  <a:srgbClr val="7B2D26"/>
                </a:solidFill>
                <a:latin typeface="Calibri" pitchFamily="34" charset="0"/>
                <a:ea typeface="Calibri" pitchFamily="34" charset="-122"/>
                <a:cs typeface="Calibri" pitchFamily="34" charset="-120"/>
              </a:rPr>
              <a:t>GRATs and irrevocable trusts remove growth assets now</a:t>
            </a:r>
            <a:endParaRPr lang="en-US" sz="950" dirty="0"/>
          </a:p>
        </p:txBody>
      </p:sp>
      <p:sp>
        <p:nvSpPr>
          <p:cNvPr id="27" name="Shape 25"/>
          <p:cNvSpPr/>
          <p:nvPr/>
        </p:nvSpPr>
        <p:spPr>
          <a:xfrm>
            <a:off x="4864608" y="2468880"/>
            <a:ext cx="109728" cy="109728"/>
          </a:xfrm>
          <a:prstGeom prst="ellipse">
            <a:avLst/>
          </a:prstGeom>
          <a:solidFill>
            <a:srgbClr val="C0392B"/>
          </a:solidFill>
          <a:ln w="12700">
            <a:solidFill>
              <a:srgbClr val="C0392B"/>
            </a:solidFill>
            <a:prstDash val="solid"/>
          </a:ln>
        </p:spPr>
      </p:sp>
      <p:sp>
        <p:nvSpPr>
          <p:cNvPr id="28" name="Text 26"/>
          <p:cNvSpPr/>
          <p:nvPr/>
        </p:nvSpPr>
        <p:spPr>
          <a:xfrm>
            <a:off x="5047488" y="2432304"/>
            <a:ext cx="3639312" cy="256032"/>
          </a:xfrm>
          <a:prstGeom prst="rect">
            <a:avLst/>
          </a:prstGeom>
          <a:noFill/>
          <a:ln/>
        </p:spPr>
        <p:txBody>
          <a:bodyPr wrap="square" lIns="0" tIns="0" rIns="0" bIns="0" rtlCol="0" anchor="ctr"/>
          <a:lstStyle/>
          <a:p>
            <a:pPr indent="0" marL="0">
              <a:buNone/>
            </a:pPr>
            <a:r>
              <a:rPr lang="en-US" sz="950" dirty="0">
                <a:solidFill>
                  <a:srgbClr val="7B2D26"/>
                </a:solidFill>
                <a:latin typeface="Calibri" pitchFamily="34" charset="0"/>
                <a:ea typeface="Calibri" pitchFamily="34" charset="-122"/>
                <a:cs typeface="Calibri" pitchFamily="34" charset="-120"/>
              </a:rPr>
              <a:t>Annual gifting: $36,000/yr combined to each heir</a:t>
            </a:r>
            <a:endParaRPr lang="en-US" sz="950" dirty="0"/>
          </a:p>
        </p:txBody>
      </p:sp>
      <p:sp>
        <p:nvSpPr>
          <p:cNvPr id="29" name="Shape 27"/>
          <p:cNvSpPr/>
          <p:nvPr/>
        </p:nvSpPr>
        <p:spPr>
          <a:xfrm>
            <a:off x="256032" y="2980944"/>
            <a:ext cx="4187952" cy="1847088"/>
          </a:xfrm>
          <a:prstGeom prst="rect">
            <a:avLst/>
          </a:prstGeom>
          <a:solidFill>
            <a:srgbClr val="F0F4FB"/>
          </a:solidFill>
          <a:ln w="9525">
            <a:solidFill>
              <a:srgbClr val="185FA5"/>
            </a:solidFill>
            <a:prstDash val="solid"/>
          </a:ln>
        </p:spPr>
      </p:sp>
      <p:sp>
        <p:nvSpPr>
          <p:cNvPr id="30" name="Shape 28"/>
          <p:cNvSpPr/>
          <p:nvPr/>
        </p:nvSpPr>
        <p:spPr>
          <a:xfrm>
            <a:off x="256032" y="2980944"/>
            <a:ext cx="4187952" cy="36576"/>
          </a:xfrm>
          <a:prstGeom prst="rect">
            <a:avLst/>
          </a:prstGeom>
          <a:solidFill>
            <a:srgbClr val="185FA5"/>
          </a:solidFill>
          <a:ln w="12700">
            <a:solidFill>
              <a:srgbClr val="185FA5"/>
            </a:solidFill>
            <a:prstDash val="solid"/>
          </a:ln>
        </p:spPr>
      </p:sp>
      <p:sp>
        <p:nvSpPr>
          <p:cNvPr id="31" name="Text 29"/>
          <p:cNvSpPr/>
          <p:nvPr/>
        </p:nvSpPr>
        <p:spPr>
          <a:xfrm>
            <a:off x="402336" y="3072384"/>
            <a:ext cx="3840480" cy="237744"/>
          </a:xfrm>
          <a:prstGeom prst="rect">
            <a:avLst/>
          </a:prstGeom>
          <a:noFill/>
          <a:ln/>
        </p:spPr>
        <p:txBody>
          <a:bodyPr wrap="square" lIns="0" tIns="0" rIns="0" bIns="0" rtlCol="0" anchor="ctr"/>
          <a:lstStyle/>
          <a:p>
            <a:pPr indent="0" marL="0">
              <a:buNone/>
            </a:pPr>
            <a:r>
              <a:rPr lang="en-US" sz="1100" b="1" dirty="0">
                <a:solidFill>
                  <a:srgbClr val="0C447C"/>
                </a:solidFill>
                <a:latin typeface="Calibri" pitchFamily="34" charset="0"/>
                <a:ea typeface="Calibri" pitchFamily="34" charset="-122"/>
                <a:cs typeface="Calibri" pitchFamily="34" charset="-120"/>
              </a:rPr>
              <a:t>Income Tax Efficiency</a:t>
            </a:r>
            <a:endParaRPr lang="en-US" sz="1100" dirty="0"/>
          </a:p>
        </p:txBody>
      </p:sp>
      <p:sp>
        <p:nvSpPr>
          <p:cNvPr id="32" name="Shape 30"/>
          <p:cNvSpPr/>
          <p:nvPr/>
        </p:nvSpPr>
        <p:spPr>
          <a:xfrm>
            <a:off x="402336" y="3346704"/>
            <a:ext cx="3840480" cy="10973"/>
          </a:xfrm>
          <a:prstGeom prst="rect">
            <a:avLst/>
          </a:prstGeom>
          <a:solidFill>
            <a:srgbClr val="185FA5"/>
          </a:solidFill>
          <a:ln w="12700">
            <a:solidFill>
              <a:srgbClr val="185FA5"/>
            </a:solidFill>
            <a:prstDash val="solid"/>
          </a:ln>
        </p:spPr>
      </p:sp>
      <p:sp>
        <p:nvSpPr>
          <p:cNvPr id="33" name="Shape 31"/>
          <p:cNvSpPr/>
          <p:nvPr/>
        </p:nvSpPr>
        <p:spPr>
          <a:xfrm>
            <a:off x="402336" y="3493008"/>
            <a:ext cx="109728" cy="109728"/>
          </a:xfrm>
          <a:prstGeom prst="ellipse">
            <a:avLst/>
          </a:prstGeom>
          <a:solidFill>
            <a:srgbClr val="185FA5"/>
          </a:solidFill>
          <a:ln w="12700">
            <a:solidFill>
              <a:srgbClr val="185FA5"/>
            </a:solidFill>
            <a:prstDash val="solid"/>
          </a:ln>
        </p:spPr>
      </p:sp>
      <p:sp>
        <p:nvSpPr>
          <p:cNvPr id="34" name="Text 32"/>
          <p:cNvSpPr/>
          <p:nvPr/>
        </p:nvSpPr>
        <p:spPr>
          <a:xfrm>
            <a:off x="585216" y="3456432"/>
            <a:ext cx="3639312" cy="256032"/>
          </a:xfrm>
          <a:prstGeom prst="rect">
            <a:avLst/>
          </a:prstGeom>
          <a:noFill/>
          <a:ln/>
        </p:spPr>
        <p:txBody>
          <a:bodyPr wrap="square" lIns="0" tIns="0" rIns="0" bIns="0" rtlCol="0" anchor="ctr"/>
          <a:lstStyle/>
          <a:p>
            <a:pPr indent="0" marL="0">
              <a:buNone/>
            </a:pPr>
            <a:r>
              <a:rPr lang="en-US" sz="950" dirty="0">
                <a:solidFill>
                  <a:srgbClr val="0C447C"/>
                </a:solidFill>
                <a:latin typeface="Calibri" pitchFamily="34" charset="0"/>
                <a:ea typeface="Calibri" pitchFamily="34" charset="-122"/>
                <a:cs typeface="Calibri" pitchFamily="34" charset="-120"/>
              </a:rPr>
              <a:t>$5.5M in muni bonds generates tax-exempt income</a:t>
            </a:r>
            <a:endParaRPr lang="en-US" sz="950" dirty="0"/>
          </a:p>
        </p:txBody>
      </p:sp>
      <p:sp>
        <p:nvSpPr>
          <p:cNvPr id="35" name="Shape 33"/>
          <p:cNvSpPr/>
          <p:nvPr/>
        </p:nvSpPr>
        <p:spPr>
          <a:xfrm>
            <a:off x="402336" y="3803904"/>
            <a:ext cx="109728" cy="109728"/>
          </a:xfrm>
          <a:prstGeom prst="ellipse">
            <a:avLst/>
          </a:prstGeom>
          <a:solidFill>
            <a:srgbClr val="185FA5"/>
          </a:solidFill>
          <a:ln w="12700">
            <a:solidFill>
              <a:srgbClr val="185FA5"/>
            </a:solidFill>
            <a:prstDash val="solid"/>
          </a:ln>
        </p:spPr>
      </p:sp>
      <p:sp>
        <p:nvSpPr>
          <p:cNvPr id="36" name="Text 34"/>
          <p:cNvSpPr/>
          <p:nvPr/>
        </p:nvSpPr>
        <p:spPr>
          <a:xfrm>
            <a:off x="585216" y="3767328"/>
            <a:ext cx="3639312" cy="256032"/>
          </a:xfrm>
          <a:prstGeom prst="rect">
            <a:avLst/>
          </a:prstGeom>
          <a:noFill/>
          <a:ln/>
        </p:spPr>
        <p:txBody>
          <a:bodyPr wrap="square" lIns="0" tIns="0" rIns="0" bIns="0" rtlCol="0" anchor="ctr"/>
          <a:lstStyle/>
          <a:p>
            <a:pPr indent="0" marL="0">
              <a:buNone/>
            </a:pPr>
            <a:r>
              <a:rPr lang="en-US" sz="950" dirty="0">
                <a:solidFill>
                  <a:srgbClr val="0C447C"/>
                </a:solidFill>
                <a:latin typeface="Calibri" pitchFamily="34" charset="0"/>
                <a:ea typeface="Calibri" pitchFamily="34" charset="-122"/>
                <a:cs typeface="Calibri" pitchFamily="34" charset="-120"/>
              </a:rPr>
              <a:t>CRT distributions taxed as ordinary/capital income</a:t>
            </a:r>
            <a:endParaRPr lang="en-US" sz="950" dirty="0"/>
          </a:p>
        </p:txBody>
      </p:sp>
      <p:sp>
        <p:nvSpPr>
          <p:cNvPr id="37" name="Shape 35"/>
          <p:cNvSpPr/>
          <p:nvPr/>
        </p:nvSpPr>
        <p:spPr>
          <a:xfrm>
            <a:off x="402336" y="4114800"/>
            <a:ext cx="109728" cy="109728"/>
          </a:xfrm>
          <a:prstGeom prst="ellipse">
            <a:avLst/>
          </a:prstGeom>
          <a:solidFill>
            <a:srgbClr val="185FA5"/>
          </a:solidFill>
          <a:ln w="12700">
            <a:solidFill>
              <a:srgbClr val="185FA5"/>
            </a:solidFill>
            <a:prstDash val="solid"/>
          </a:ln>
        </p:spPr>
      </p:sp>
      <p:sp>
        <p:nvSpPr>
          <p:cNvPr id="38" name="Text 36"/>
          <p:cNvSpPr/>
          <p:nvPr/>
        </p:nvSpPr>
        <p:spPr>
          <a:xfrm>
            <a:off x="585216" y="4078224"/>
            <a:ext cx="3639312" cy="256032"/>
          </a:xfrm>
          <a:prstGeom prst="rect">
            <a:avLst/>
          </a:prstGeom>
          <a:noFill/>
          <a:ln/>
        </p:spPr>
        <p:txBody>
          <a:bodyPr wrap="square" lIns="0" tIns="0" rIns="0" bIns="0" rtlCol="0" anchor="ctr"/>
          <a:lstStyle/>
          <a:p>
            <a:pPr indent="0" marL="0">
              <a:buNone/>
            </a:pPr>
            <a:r>
              <a:rPr lang="en-US" sz="950" dirty="0">
                <a:solidFill>
                  <a:srgbClr val="0C447C"/>
                </a:solidFill>
                <a:latin typeface="Calibri" pitchFamily="34" charset="0"/>
                <a:ea typeface="Calibri" pitchFamily="34" charset="-122"/>
                <a:cs typeface="Calibri" pitchFamily="34" charset="-120"/>
              </a:rPr>
              <a:t>DAF contributions provide immediate deductions</a:t>
            </a:r>
            <a:endParaRPr lang="en-US" sz="950" dirty="0"/>
          </a:p>
        </p:txBody>
      </p:sp>
      <p:sp>
        <p:nvSpPr>
          <p:cNvPr id="39" name="Shape 37"/>
          <p:cNvSpPr/>
          <p:nvPr/>
        </p:nvSpPr>
        <p:spPr>
          <a:xfrm>
            <a:off x="402336" y="4425696"/>
            <a:ext cx="109728" cy="109728"/>
          </a:xfrm>
          <a:prstGeom prst="ellipse">
            <a:avLst/>
          </a:prstGeom>
          <a:solidFill>
            <a:srgbClr val="185FA5"/>
          </a:solidFill>
          <a:ln w="12700">
            <a:solidFill>
              <a:srgbClr val="185FA5"/>
            </a:solidFill>
            <a:prstDash val="solid"/>
          </a:ln>
        </p:spPr>
      </p:sp>
      <p:sp>
        <p:nvSpPr>
          <p:cNvPr id="40" name="Text 38"/>
          <p:cNvSpPr/>
          <p:nvPr/>
        </p:nvSpPr>
        <p:spPr>
          <a:xfrm>
            <a:off x="585216" y="4389120"/>
            <a:ext cx="3639312" cy="256032"/>
          </a:xfrm>
          <a:prstGeom prst="rect">
            <a:avLst/>
          </a:prstGeom>
          <a:noFill/>
          <a:ln/>
        </p:spPr>
        <p:txBody>
          <a:bodyPr wrap="square" lIns="0" tIns="0" rIns="0" bIns="0" rtlCol="0" anchor="ctr"/>
          <a:lstStyle/>
          <a:p>
            <a:pPr indent="0" marL="0">
              <a:buNone/>
            </a:pPr>
            <a:r>
              <a:rPr lang="en-US" sz="950" dirty="0">
                <a:solidFill>
                  <a:srgbClr val="0C447C"/>
                </a:solidFill>
                <a:latin typeface="Calibri" pitchFamily="34" charset="0"/>
                <a:ea typeface="Calibri" pitchFamily="34" charset="-122"/>
                <a:cs typeface="Calibri" pitchFamily="34" charset="-120"/>
              </a:rPr>
              <a:t>Retirement accounts ($3M): tax-deferred compounding</a:t>
            </a:r>
            <a:endParaRPr lang="en-US" sz="950" dirty="0"/>
          </a:p>
        </p:txBody>
      </p:sp>
      <p:sp>
        <p:nvSpPr>
          <p:cNvPr id="41" name="Shape 39"/>
          <p:cNvSpPr/>
          <p:nvPr/>
        </p:nvSpPr>
        <p:spPr>
          <a:xfrm>
            <a:off x="4718304" y="2980944"/>
            <a:ext cx="4187952" cy="1847088"/>
          </a:xfrm>
          <a:prstGeom prst="rect">
            <a:avLst/>
          </a:prstGeom>
          <a:solidFill>
            <a:srgbClr val="FFF0F0"/>
          </a:solidFill>
          <a:ln w="9525">
            <a:solidFill>
              <a:srgbClr val="8B1A1A"/>
            </a:solidFill>
            <a:prstDash val="solid"/>
          </a:ln>
        </p:spPr>
      </p:sp>
      <p:sp>
        <p:nvSpPr>
          <p:cNvPr id="42" name="Shape 40"/>
          <p:cNvSpPr/>
          <p:nvPr/>
        </p:nvSpPr>
        <p:spPr>
          <a:xfrm>
            <a:off x="4718304" y="2980944"/>
            <a:ext cx="4187952" cy="36576"/>
          </a:xfrm>
          <a:prstGeom prst="rect">
            <a:avLst/>
          </a:prstGeom>
          <a:solidFill>
            <a:srgbClr val="8B1A1A"/>
          </a:solidFill>
          <a:ln w="12700">
            <a:solidFill>
              <a:srgbClr val="8B1A1A"/>
            </a:solidFill>
            <a:prstDash val="solid"/>
          </a:ln>
        </p:spPr>
      </p:sp>
      <p:sp>
        <p:nvSpPr>
          <p:cNvPr id="43" name="Text 41"/>
          <p:cNvSpPr/>
          <p:nvPr/>
        </p:nvSpPr>
        <p:spPr>
          <a:xfrm>
            <a:off x="4864608" y="3072384"/>
            <a:ext cx="3840480" cy="237744"/>
          </a:xfrm>
          <a:prstGeom prst="rect">
            <a:avLst/>
          </a:prstGeom>
          <a:noFill/>
          <a:ln/>
        </p:spPr>
        <p:txBody>
          <a:bodyPr wrap="square" lIns="0" tIns="0" rIns="0" bIns="0" rtlCol="0" anchor="ctr"/>
          <a:lstStyle/>
          <a:p>
            <a:pPr indent="0" marL="0">
              <a:buNone/>
            </a:pPr>
            <a:r>
              <a:rPr lang="en-US" sz="1100" b="1" dirty="0">
                <a:solidFill>
                  <a:srgbClr val="8B1A1A"/>
                </a:solidFill>
                <a:latin typeface="Calibri" pitchFamily="34" charset="0"/>
                <a:ea typeface="Calibri" pitchFamily="34" charset="-122"/>
                <a:cs typeface="Calibri" pitchFamily="34" charset="-120"/>
              </a:rPr>
              <a:t>California State Tax</a:t>
            </a:r>
            <a:endParaRPr lang="en-US" sz="1100" dirty="0"/>
          </a:p>
        </p:txBody>
      </p:sp>
      <p:sp>
        <p:nvSpPr>
          <p:cNvPr id="44" name="Shape 42"/>
          <p:cNvSpPr/>
          <p:nvPr/>
        </p:nvSpPr>
        <p:spPr>
          <a:xfrm>
            <a:off x="4864608" y="3346704"/>
            <a:ext cx="3840480" cy="10973"/>
          </a:xfrm>
          <a:prstGeom prst="rect">
            <a:avLst/>
          </a:prstGeom>
          <a:solidFill>
            <a:srgbClr val="8B1A1A"/>
          </a:solidFill>
          <a:ln w="12700">
            <a:solidFill>
              <a:srgbClr val="8B1A1A"/>
            </a:solidFill>
            <a:prstDash val="solid"/>
          </a:ln>
        </p:spPr>
      </p:sp>
      <p:sp>
        <p:nvSpPr>
          <p:cNvPr id="45" name="Shape 43"/>
          <p:cNvSpPr/>
          <p:nvPr/>
        </p:nvSpPr>
        <p:spPr>
          <a:xfrm>
            <a:off x="4864608" y="3493008"/>
            <a:ext cx="109728" cy="109728"/>
          </a:xfrm>
          <a:prstGeom prst="ellipse">
            <a:avLst/>
          </a:prstGeom>
          <a:solidFill>
            <a:srgbClr val="8B1A1A"/>
          </a:solidFill>
          <a:ln w="12700">
            <a:solidFill>
              <a:srgbClr val="8B1A1A"/>
            </a:solidFill>
            <a:prstDash val="solid"/>
          </a:ln>
        </p:spPr>
      </p:sp>
      <p:sp>
        <p:nvSpPr>
          <p:cNvPr id="46" name="Text 44"/>
          <p:cNvSpPr/>
          <p:nvPr/>
        </p:nvSpPr>
        <p:spPr>
          <a:xfrm>
            <a:off x="5047488" y="3456432"/>
            <a:ext cx="3639312" cy="256032"/>
          </a:xfrm>
          <a:prstGeom prst="rect">
            <a:avLst/>
          </a:prstGeom>
          <a:noFill/>
          <a:ln/>
        </p:spPr>
        <p:txBody>
          <a:bodyPr wrap="square" lIns="0" tIns="0" rIns="0" bIns="0" rtlCol="0" anchor="ctr"/>
          <a:lstStyle/>
          <a:p>
            <a:pPr indent="0" marL="0">
              <a:buNone/>
            </a:pPr>
            <a:r>
              <a:rPr lang="en-US" sz="950" dirty="0">
                <a:solidFill>
                  <a:srgbClr val="8B1A1A"/>
                </a:solidFill>
                <a:latin typeface="Calibri" pitchFamily="34" charset="0"/>
                <a:ea typeface="Calibri" pitchFamily="34" charset="-122"/>
                <a:cs typeface="Calibri" pitchFamily="34" charset="-120"/>
              </a:rPr>
              <a:t>CA taxes all capital gains as ordinary income (13.3%)</a:t>
            </a:r>
            <a:endParaRPr lang="en-US" sz="950" dirty="0"/>
          </a:p>
        </p:txBody>
      </p:sp>
      <p:sp>
        <p:nvSpPr>
          <p:cNvPr id="47" name="Shape 45"/>
          <p:cNvSpPr/>
          <p:nvPr/>
        </p:nvSpPr>
        <p:spPr>
          <a:xfrm>
            <a:off x="4864608" y="3803904"/>
            <a:ext cx="109728" cy="109728"/>
          </a:xfrm>
          <a:prstGeom prst="ellipse">
            <a:avLst/>
          </a:prstGeom>
          <a:solidFill>
            <a:srgbClr val="8B1A1A"/>
          </a:solidFill>
          <a:ln w="12700">
            <a:solidFill>
              <a:srgbClr val="8B1A1A"/>
            </a:solidFill>
            <a:prstDash val="solid"/>
          </a:ln>
        </p:spPr>
      </p:sp>
      <p:sp>
        <p:nvSpPr>
          <p:cNvPr id="48" name="Text 46"/>
          <p:cNvSpPr/>
          <p:nvPr/>
        </p:nvSpPr>
        <p:spPr>
          <a:xfrm>
            <a:off x="5047488" y="3767328"/>
            <a:ext cx="3639312" cy="256032"/>
          </a:xfrm>
          <a:prstGeom prst="rect">
            <a:avLst/>
          </a:prstGeom>
          <a:noFill/>
          <a:ln/>
        </p:spPr>
        <p:txBody>
          <a:bodyPr wrap="square" lIns="0" tIns="0" rIns="0" bIns="0" rtlCol="0" anchor="ctr"/>
          <a:lstStyle/>
          <a:p>
            <a:pPr indent="0" marL="0">
              <a:buNone/>
            </a:pPr>
            <a:r>
              <a:rPr lang="en-US" sz="950" dirty="0">
                <a:solidFill>
                  <a:srgbClr val="8B1A1A"/>
                </a:solidFill>
                <a:latin typeface="Calibri" pitchFamily="34" charset="0"/>
                <a:ea typeface="Calibri" pitchFamily="34" charset="-122"/>
                <a:cs typeface="Calibri" pitchFamily="34" charset="-120"/>
              </a:rPr>
              <a:t>No CA estate or inheritance tax — federal only</a:t>
            </a:r>
            <a:endParaRPr lang="en-US" sz="950" dirty="0"/>
          </a:p>
        </p:txBody>
      </p:sp>
      <p:sp>
        <p:nvSpPr>
          <p:cNvPr id="49" name="Shape 47"/>
          <p:cNvSpPr/>
          <p:nvPr/>
        </p:nvSpPr>
        <p:spPr>
          <a:xfrm>
            <a:off x="4864608" y="4114800"/>
            <a:ext cx="109728" cy="109728"/>
          </a:xfrm>
          <a:prstGeom prst="ellipse">
            <a:avLst/>
          </a:prstGeom>
          <a:solidFill>
            <a:srgbClr val="8B1A1A"/>
          </a:solidFill>
          <a:ln w="12700">
            <a:solidFill>
              <a:srgbClr val="8B1A1A"/>
            </a:solidFill>
            <a:prstDash val="solid"/>
          </a:ln>
        </p:spPr>
      </p:sp>
      <p:sp>
        <p:nvSpPr>
          <p:cNvPr id="50" name="Text 48"/>
          <p:cNvSpPr/>
          <p:nvPr/>
        </p:nvSpPr>
        <p:spPr>
          <a:xfrm>
            <a:off x="5047488" y="4078224"/>
            <a:ext cx="3639312" cy="256032"/>
          </a:xfrm>
          <a:prstGeom prst="rect">
            <a:avLst/>
          </a:prstGeom>
          <a:noFill/>
          <a:ln/>
        </p:spPr>
        <p:txBody>
          <a:bodyPr wrap="square" lIns="0" tIns="0" rIns="0" bIns="0" rtlCol="0" anchor="ctr"/>
          <a:lstStyle/>
          <a:p>
            <a:pPr indent="0" marL="0">
              <a:buNone/>
            </a:pPr>
            <a:r>
              <a:rPr lang="en-US" sz="950" dirty="0">
                <a:solidFill>
                  <a:srgbClr val="8B1A1A"/>
                </a:solidFill>
                <a:latin typeface="Calibri" pitchFamily="34" charset="0"/>
                <a:ea typeface="Calibri" pitchFamily="34" charset="-122"/>
                <a:cs typeface="Calibri" pitchFamily="34" charset="-120"/>
              </a:rPr>
              <a:t>Muni bond strategy: CA munis exempt from state tax</a:t>
            </a:r>
            <a:endParaRPr lang="en-US" sz="950" dirty="0"/>
          </a:p>
        </p:txBody>
      </p:sp>
      <p:sp>
        <p:nvSpPr>
          <p:cNvPr id="51" name="Shape 49"/>
          <p:cNvSpPr/>
          <p:nvPr/>
        </p:nvSpPr>
        <p:spPr>
          <a:xfrm>
            <a:off x="4864608" y="4425696"/>
            <a:ext cx="109728" cy="109728"/>
          </a:xfrm>
          <a:prstGeom prst="ellipse">
            <a:avLst/>
          </a:prstGeom>
          <a:solidFill>
            <a:srgbClr val="8B1A1A"/>
          </a:solidFill>
          <a:ln w="12700">
            <a:solidFill>
              <a:srgbClr val="8B1A1A"/>
            </a:solidFill>
            <a:prstDash val="solid"/>
          </a:ln>
        </p:spPr>
      </p:sp>
      <p:sp>
        <p:nvSpPr>
          <p:cNvPr id="52" name="Text 50"/>
          <p:cNvSpPr/>
          <p:nvPr/>
        </p:nvSpPr>
        <p:spPr>
          <a:xfrm>
            <a:off x="5047488" y="4389120"/>
            <a:ext cx="3639312" cy="256032"/>
          </a:xfrm>
          <a:prstGeom prst="rect">
            <a:avLst/>
          </a:prstGeom>
          <a:noFill/>
          <a:ln/>
        </p:spPr>
        <p:txBody>
          <a:bodyPr wrap="square" lIns="0" tIns="0" rIns="0" bIns="0" rtlCol="0" anchor="ctr"/>
          <a:lstStyle/>
          <a:p>
            <a:pPr indent="0" marL="0">
              <a:buNone/>
            </a:pPr>
            <a:r>
              <a:rPr lang="en-US" sz="950" dirty="0">
                <a:solidFill>
                  <a:srgbClr val="8B1A1A"/>
                </a:solidFill>
                <a:latin typeface="Calibri" pitchFamily="34" charset="0"/>
                <a:ea typeface="Calibri" pitchFamily="34" charset="-122"/>
                <a:cs typeface="Calibri" pitchFamily="34" charset="-120"/>
              </a:rPr>
              <a:t>CRT: defers recognition of CA gain until distributions</a:t>
            </a:r>
            <a:endParaRPr lang="en-US" sz="950" dirty="0"/>
          </a:p>
        </p:txBody>
      </p:sp>
      <p:sp>
        <p:nvSpPr>
          <p:cNvPr id="53" name="Text 51"/>
          <p:cNvSpPr/>
          <p:nvPr/>
        </p:nvSpPr>
        <p:spPr>
          <a:xfrm>
            <a:off x="256032" y="4882896"/>
            <a:ext cx="8686800" cy="164592"/>
          </a:xfrm>
          <a:prstGeom prst="rect">
            <a:avLst/>
          </a:prstGeom>
          <a:noFill/>
          <a:ln/>
        </p:spPr>
        <p:txBody>
          <a:bodyPr wrap="square" lIns="0" tIns="0" rIns="0" bIns="0" rtlCol="0" anchor="ctr"/>
          <a:lstStyle/>
          <a:p>
            <a:pPr indent="0" marL="0">
              <a:buNone/>
            </a:pPr>
            <a:r>
              <a:rPr lang="en-US" sz="800" i="1" dirty="0">
                <a:solidFill>
                  <a:srgbClr val="718096"/>
                </a:solidFill>
                <a:latin typeface="Calibri" pitchFamily="34" charset="0"/>
                <a:ea typeface="Calibri" pitchFamily="34" charset="-122"/>
                <a:cs typeface="Calibri" pitchFamily="34" charset="-120"/>
              </a:rPr>
              <a:t>All tax planning should be reviewed annually with the Mercers' CPA and coordinated around NVDA trading windows, estimated tax payments, and AMT exposure.</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1B2A"/>
          </a:solidFill>
          <a:ln w="12700">
            <a:solidFill>
              <a:srgbClr val="0D1B2A"/>
            </a:solidFill>
            <a:prstDash val="solid"/>
          </a:ln>
        </p:spPr>
      </p:sp>
      <p:sp>
        <p:nvSpPr>
          <p:cNvPr id="3" name="Text 1"/>
          <p:cNvSpPr/>
          <p:nvPr/>
        </p:nvSpPr>
        <p:spPr>
          <a:xfrm>
            <a:off x="256032" y="274320"/>
            <a:ext cx="7315200" cy="201168"/>
          </a:xfrm>
          <a:prstGeom prst="rect">
            <a:avLst/>
          </a:prstGeom>
          <a:noFill/>
          <a:ln/>
        </p:spPr>
        <p:txBody>
          <a:bodyPr wrap="square" lIns="0" tIns="0" rIns="0" bIns="0" rtlCol="0" anchor="ctr"/>
          <a:lstStyle/>
          <a:p>
            <a:pPr indent="0" marL="0">
              <a:buNone/>
            </a:pPr>
            <a:r>
              <a:rPr lang="en-US" sz="900" b="1" spc="300" kern="0" dirty="0">
                <a:solidFill>
                  <a:srgbClr val="B5922E"/>
                </a:solidFill>
                <a:latin typeface="Calibri" pitchFamily="34" charset="0"/>
                <a:ea typeface="Calibri" pitchFamily="34" charset="-122"/>
                <a:cs typeface="Calibri" pitchFamily="34" charset="-120"/>
              </a:rPr>
              <a:t>PLANNING MODULE · INCOME &amp; EXPENSES</a:t>
            </a:r>
            <a:endParaRPr lang="en-US" sz="900" dirty="0"/>
          </a:p>
        </p:txBody>
      </p:sp>
      <p:sp>
        <p:nvSpPr>
          <p:cNvPr id="4" name="Text 2"/>
          <p:cNvSpPr/>
          <p:nvPr/>
        </p:nvSpPr>
        <p:spPr>
          <a:xfrm>
            <a:off x="256032" y="493776"/>
            <a:ext cx="8686800" cy="502920"/>
          </a:xfrm>
          <a:prstGeom prst="rect">
            <a:avLst/>
          </a:prstGeom>
          <a:noFill/>
          <a:ln/>
        </p:spPr>
        <p:txBody>
          <a:bodyPr wrap="square" lIns="0" tIns="0" rIns="0" bIns="0" rtlCol="0" anchor="ctr"/>
          <a:lstStyle/>
          <a:p>
            <a:pPr indent="0" marL="0">
              <a:buNone/>
            </a:pPr>
            <a:r>
              <a:rPr lang="en-US" sz="2400" b="1" dirty="0">
                <a:solidFill>
                  <a:srgbClr val="0D1B2A"/>
                </a:solidFill>
                <a:latin typeface="Garamond" pitchFamily="34" charset="0"/>
                <a:ea typeface="Garamond" pitchFamily="34" charset="-122"/>
                <a:cs typeface="Garamond" pitchFamily="34" charset="-120"/>
              </a:rPr>
              <a:t>Income &amp; Expense Snapshot</a:t>
            </a:r>
            <a:endParaRPr lang="en-US" sz="2400" dirty="0"/>
          </a:p>
        </p:txBody>
      </p:sp>
      <p:sp>
        <p:nvSpPr>
          <p:cNvPr id="5" name="Text 3"/>
          <p:cNvSpPr/>
          <p:nvPr/>
        </p:nvSpPr>
        <p:spPr>
          <a:xfrm>
            <a:off x="256032" y="1005840"/>
            <a:ext cx="4187952" cy="182880"/>
          </a:xfrm>
          <a:prstGeom prst="rect">
            <a:avLst/>
          </a:prstGeom>
          <a:noFill/>
          <a:ln/>
        </p:spPr>
        <p:txBody>
          <a:bodyPr wrap="square" lIns="0" tIns="0" rIns="0" bIns="0" rtlCol="0" anchor="ctr"/>
          <a:lstStyle/>
          <a:p>
            <a:pPr indent="0" marL="0">
              <a:buNone/>
            </a:pPr>
            <a:r>
              <a:rPr lang="en-US" sz="850" b="1" spc="200" kern="0" dirty="0">
                <a:solidFill>
                  <a:srgbClr val="B5922E"/>
                </a:solidFill>
                <a:latin typeface="Calibri" pitchFamily="34" charset="0"/>
                <a:ea typeface="Calibri" pitchFamily="34" charset="-122"/>
                <a:cs typeface="Calibri" pitchFamily="34" charset="-120"/>
              </a:rPr>
              <a:t>INCOME SOURCES</a:t>
            </a:r>
            <a:endParaRPr lang="en-US" sz="850" dirty="0"/>
          </a:p>
        </p:txBody>
      </p:sp>
      <p:sp>
        <p:nvSpPr>
          <p:cNvPr id="6" name="Shape 4"/>
          <p:cNvSpPr/>
          <p:nvPr/>
        </p:nvSpPr>
        <p:spPr>
          <a:xfrm>
            <a:off x="256032" y="1243584"/>
            <a:ext cx="4187952" cy="384048"/>
          </a:xfrm>
          <a:prstGeom prst="rect">
            <a:avLst/>
          </a:prstGeom>
          <a:solidFill>
            <a:srgbClr val="FFFFFF"/>
          </a:solidFill>
          <a:ln w="6350">
            <a:solidFill>
              <a:srgbClr val="DEDEDE"/>
            </a:solidFill>
            <a:prstDash val="solid"/>
          </a:ln>
        </p:spPr>
      </p:sp>
      <p:sp>
        <p:nvSpPr>
          <p:cNvPr id="7" name="Shape 5"/>
          <p:cNvSpPr/>
          <p:nvPr/>
        </p:nvSpPr>
        <p:spPr>
          <a:xfrm>
            <a:off x="256032" y="1243584"/>
            <a:ext cx="54864" cy="384048"/>
          </a:xfrm>
          <a:prstGeom prst="rect">
            <a:avLst/>
          </a:prstGeom>
          <a:solidFill>
            <a:srgbClr val="B5922E"/>
          </a:solidFill>
          <a:ln w="12700">
            <a:solidFill>
              <a:srgbClr val="B5922E"/>
            </a:solidFill>
            <a:prstDash val="solid"/>
          </a:ln>
        </p:spPr>
      </p:sp>
      <p:sp>
        <p:nvSpPr>
          <p:cNvPr id="8" name="Text 6"/>
          <p:cNvSpPr/>
          <p:nvPr/>
        </p:nvSpPr>
        <p:spPr>
          <a:xfrm>
            <a:off x="384048" y="1335024"/>
            <a:ext cx="2743200" cy="201168"/>
          </a:xfrm>
          <a:prstGeom prst="rect">
            <a:avLst/>
          </a:prstGeom>
          <a:noFill/>
          <a:ln/>
        </p:spPr>
        <p:txBody>
          <a:bodyPr wrap="square" lIns="0" tIns="0" rIns="0" bIns="0" rtlCol="0" anchor="ctr"/>
          <a:lstStyle/>
          <a:p>
            <a:pPr indent="0" marL="0">
              <a:buNone/>
            </a:pPr>
            <a:r>
              <a:rPr lang="en-US" sz="1000" dirty="0">
                <a:solidFill>
                  <a:srgbClr val="0D1B2A"/>
                </a:solidFill>
                <a:latin typeface="Calibri" pitchFamily="34" charset="0"/>
                <a:ea typeface="Calibri" pitchFamily="34" charset="-122"/>
                <a:cs typeface="Calibri" pitchFamily="34" charset="-120"/>
              </a:rPr>
              <a:t>NVDA Dividends / Compensation</a:t>
            </a:r>
            <a:endParaRPr lang="en-US" sz="1000" dirty="0"/>
          </a:p>
        </p:txBody>
      </p:sp>
      <p:sp>
        <p:nvSpPr>
          <p:cNvPr id="9" name="Text 7"/>
          <p:cNvSpPr/>
          <p:nvPr/>
        </p:nvSpPr>
        <p:spPr>
          <a:xfrm>
            <a:off x="3200400" y="1335024"/>
            <a:ext cx="1115568" cy="201168"/>
          </a:xfrm>
          <a:prstGeom prst="rect">
            <a:avLst/>
          </a:prstGeom>
          <a:noFill/>
          <a:ln/>
        </p:spPr>
        <p:txBody>
          <a:bodyPr wrap="square" lIns="0" tIns="0" rIns="0" bIns="0" rtlCol="0" anchor="ctr"/>
          <a:lstStyle/>
          <a:p>
            <a:pPr algn="r" indent="0" marL="0">
              <a:buNone/>
            </a:pPr>
            <a:r>
              <a:rPr lang="en-US" sz="1000" b="1" dirty="0">
                <a:solidFill>
                  <a:srgbClr val="0D1B2A"/>
                </a:solidFill>
                <a:latin typeface="Garamond" pitchFamily="34" charset="0"/>
                <a:ea typeface="Garamond" pitchFamily="34" charset="-122"/>
                <a:cs typeface="Garamond" pitchFamily="34" charset="-120"/>
              </a:rPr>
              <a:t>~$500,000</a:t>
            </a:r>
            <a:endParaRPr lang="en-US" sz="1000" dirty="0"/>
          </a:p>
        </p:txBody>
      </p:sp>
      <p:sp>
        <p:nvSpPr>
          <p:cNvPr id="10" name="Shape 8"/>
          <p:cNvSpPr/>
          <p:nvPr/>
        </p:nvSpPr>
        <p:spPr>
          <a:xfrm>
            <a:off x="256032" y="1700784"/>
            <a:ext cx="4187952" cy="384048"/>
          </a:xfrm>
          <a:prstGeom prst="rect">
            <a:avLst/>
          </a:prstGeom>
          <a:solidFill>
            <a:srgbClr val="FFFFFF"/>
          </a:solidFill>
          <a:ln w="6350">
            <a:solidFill>
              <a:srgbClr val="DEDEDE"/>
            </a:solidFill>
            <a:prstDash val="solid"/>
          </a:ln>
        </p:spPr>
      </p:sp>
      <p:sp>
        <p:nvSpPr>
          <p:cNvPr id="11" name="Shape 9"/>
          <p:cNvSpPr/>
          <p:nvPr/>
        </p:nvSpPr>
        <p:spPr>
          <a:xfrm>
            <a:off x="256032" y="1700784"/>
            <a:ext cx="54864" cy="384048"/>
          </a:xfrm>
          <a:prstGeom prst="rect">
            <a:avLst/>
          </a:prstGeom>
          <a:solidFill>
            <a:srgbClr val="1A6B45"/>
          </a:solidFill>
          <a:ln w="12700">
            <a:solidFill>
              <a:srgbClr val="1A6B45"/>
            </a:solidFill>
            <a:prstDash val="solid"/>
          </a:ln>
        </p:spPr>
      </p:sp>
      <p:sp>
        <p:nvSpPr>
          <p:cNvPr id="12" name="Text 10"/>
          <p:cNvSpPr/>
          <p:nvPr/>
        </p:nvSpPr>
        <p:spPr>
          <a:xfrm>
            <a:off x="384048" y="1792224"/>
            <a:ext cx="2743200" cy="201168"/>
          </a:xfrm>
          <a:prstGeom prst="rect">
            <a:avLst/>
          </a:prstGeom>
          <a:noFill/>
          <a:ln/>
        </p:spPr>
        <p:txBody>
          <a:bodyPr wrap="square" lIns="0" tIns="0" rIns="0" bIns="0" rtlCol="0" anchor="ctr"/>
          <a:lstStyle/>
          <a:p>
            <a:pPr indent="0" marL="0">
              <a:buNone/>
            </a:pPr>
            <a:r>
              <a:rPr lang="en-US" sz="1000" dirty="0">
                <a:solidFill>
                  <a:srgbClr val="0D1B2A"/>
                </a:solidFill>
                <a:latin typeface="Calibri" pitchFamily="34" charset="0"/>
                <a:ea typeface="Calibri" pitchFamily="34" charset="-122"/>
                <a:cs typeface="Calibri" pitchFamily="34" charset="-120"/>
              </a:rPr>
              <a:t>CRT Annual Payout (5%)</a:t>
            </a:r>
            <a:endParaRPr lang="en-US" sz="1000" dirty="0"/>
          </a:p>
        </p:txBody>
      </p:sp>
      <p:sp>
        <p:nvSpPr>
          <p:cNvPr id="13" name="Text 11"/>
          <p:cNvSpPr/>
          <p:nvPr/>
        </p:nvSpPr>
        <p:spPr>
          <a:xfrm>
            <a:off x="3200400" y="1792224"/>
            <a:ext cx="1115568" cy="201168"/>
          </a:xfrm>
          <a:prstGeom prst="rect">
            <a:avLst/>
          </a:prstGeom>
          <a:noFill/>
          <a:ln/>
        </p:spPr>
        <p:txBody>
          <a:bodyPr wrap="square" lIns="0" tIns="0" rIns="0" bIns="0" rtlCol="0" anchor="ctr"/>
          <a:lstStyle/>
          <a:p>
            <a:pPr algn="r" indent="0" marL="0">
              <a:buNone/>
            </a:pPr>
            <a:r>
              <a:rPr lang="en-US" sz="1000" b="1" dirty="0">
                <a:solidFill>
                  <a:srgbClr val="0D1B2A"/>
                </a:solidFill>
                <a:latin typeface="Garamond" pitchFamily="34" charset="0"/>
                <a:ea typeface="Garamond" pitchFamily="34" charset="-122"/>
                <a:cs typeface="Garamond" pitchFamily="34" charset="-120"/>
              </a:rPr>
              <a:t>~$750,000</a:t>
            </a:r>
            <a:endParaRPr lang="en-US" sz="1000" dirty="0"/>
          </a:p>
        </p:txBody>
      </p:sp>
      <p:sp>
        <p:nvSpPr>
          <p:cNvPr id="14" name="Shape 12"/>
          <p:cNvSpPr/>
          <p:nvPr/>
        </p:nvSpPr>
        <p:spPr>
          <a:xfrm>
            <a:off x="256032" y="2157984"/>
            <a:ext cx="4187952" cy="384048"/>
          </a:xfrm>
          <a:prstGeom prst="rect">
            <a:avLst/>
          </a:prstGeom>
          <a:solidFill>
            <a:srgbClr val="FFFFFF"/>
          </a:solidFill>
          <a:ln w="6350">
            <a:solidFill>
              <a:srgbClr val="DEDEDE"/>
            </a:solidFill>
            <a:prstDash val="solid"/>
          </a:ln>
        </p:spPr>
      </p:sp>
      <p:sp>
        <p:nvSpPr>
          <p:cNvPr id="15" name="Shape 13"/>
          <p:cNvSpPr/>
          <p:nvPr/>
        </p:nvSpPr>
        <p:spPr>
          <a:xfrm>
            <a:off x="256032" y="2157984"/>
            <a:ext cx="54864" cy="384048"/>
          </a:xfrm>
          <a:prstGeom prst="rect">
            <a:avLst/>
          </a:prstGeom>
          <a:solidFill>
            <a:srgbClr val="185FA5"/>
          </a:solidFill>
          <a:ln w="12700">
            <a:solidFill>
              <a:srgbClr val="185FA5"/>
            </a:solidFill>
            <a:prstDash val="solid"/>
          </a:ln>
        </p:spPr>
      </p:sp>
      <p:sp>
        <p:nvSpPr>
          <p:cNvPr id="16" name="Text 14"/>
          <p:cNvSpPr/>
          <p:nvPr/>
        </p:nvSpPr>
        <p:spPr>
          <a:xfrm>
            <a:off x="384048" y="2249424"/>
            <a:ext cx="2743200" cy="201168"/>
          </a:xfrm>
          <a:prstGeom prst="rect">
            <a:avLst/>
          </a:prstGeom>
          <a:noFill/>
          <a:ln/>
        </p:spPr>
        <p:txBody>
          <a:bodyPr wrap="square" lIns="0" tIns="0" rIns="0" bIns="0" rtlCol="0" anchor="ctr"/>
          <a:lstStyle/>
          <a:p>
            <a:pPr indent="0" marL="0">
              <a:buNone/>
            </a:pPr>
            <a:r>
              <a:rPr lang="en-US" sz="1000" dirty="0">
                <a:solidFill>
                  <a:srgbClr val="0D1B2A"/>
                </a:solidFill>
                <a:latin typeface="Calibri" pitchFamily="34" charset="0"/>
                <a:ea typeface="Calibri" pitchFamily="34" charset="-122"/>
                <a:cs typeface="Calibri" pitchFamily="34" charset="-120"/>
              </a:rPr>
              <a:t>Muni Bond Interest (tax-exempt)</a:t>
            </a:r>
            <a:endParaRPr lang="en-US" sz="1000" dirty="0"/>
          </a:p>
        </p:txBody>
      </p:sp>
      <p:sp>
        <p:nvSpPr>
          <p:cNvPr id="17" name="Text 15"/>
          <p:cNvSpPr/>
          <p:nvPr/>
        </p:nvSpPr>
        <p:spPr>
          <a:xfrm>
            <a:off x="3200400" y="2249424"/>
            <a:ext cx="1115568" cy="201168"/>
          </a:xfrm>
          <a:prstGeom prst="rect">
            <a:avLst/>
          </a:prstGeom>
          <a:noFill/>
          <a:ln/>
        </p:spPr>
        <p:txBody>
          <a:bodyPr wrap="square" lIns="0" tIns="0" rIns="0" bIns="0" rtlCol="0" anchor="ctr"/>
          <a:lstStyle/>
          <a:p>
            <a:pPr algn="r" indent="0" marL="0">
              <a:buNone/>
            </a:pPr>
            <a:r>
              <a:rPr lang="en-US" sz="1000" b="1" dirty="0">
                <a:solidFill>
                  <a:srgbClr val="0D1B2A"/>
                </a:solidFill>
                <a:latin typeface="Garamond" pitchFamily="34" charset="0"/>
                <a:ea typeface="Garamond" pitchFamily="34" charset="-122"/>
                <a:cs typeface="Garamond" pitchFamily="34" charset="-120"/>
              </a:rPr>
              <a:t>~$165,000</a:t>
            </a:r>
            <a:endParaRPr lang="en-US" sz="1000" dirty="0"/>
          </a:p>
        </p:txBody>
      </p:sp>
      <p:sp>
        <p:nvSpPr>
          <p:cNvPr id="18" name="Shape 16"/>
          <p:cNvSpPr/>
          <p:nvPr/>
        </p:nvSpPr>
        <p:spPr>
          <a:xfrm>
            <a:off x="256032" y="2615184"/>
            <a:ext cx="4187952" cy="384048"/>
          </a:xfrm>
          <a:prstGeom prst="rect">
            <a:avLst/>
          </a:prstGeom>
          <a:solidFill>
            <a:srgbClr val="FFFFFF"/>
          </a:solidFill>
          <a:ln w="6350">
            <a:solidFill>
              <a:srgbClr val="DEDEDE"/>
            </a:solidFill>
            <a:prstDash val="solid"/>
          </a:ln>
        </p:spPr>
      </p:sp>
      <p:sp>
        <p:nvSpPr>
          <p:cNvPr id="19" name="Shape 17"/>
          <p:cNvSpPr/>
          <p:nvPr/>
        </p:nvSpPr>
        <p:spPr>
          <a:xfrm>
            <a:off x="256032" y="2615184"/>
            <a:ext cx="54864" cy="384048"/>
          </a:xfrm>
          <a:prstGeom prst="rect">
            <a:avLst/>
          </a:prstGeom>
          <a:solidFill>
            <a:srgbClr val="718096"/>
          </a:solidFill>
          <a:ln w="12700">
            <a:solidFill>
              <a:srgbClr val="718096"/>
            </a:solidFill>
            <a:prstDash val="solid"/>
          </a:ln>
        </p:spPr>
      </p:sp>
      <p:sp>
        <p:nvSpPr>
          <p:cNvPr id="20" name="Text 18"/>
          <p:cNvSpPr/>
          <p:nvPr/>
        </p:nvSpPr>
        <p:spPr>
          <a:xfrm>
            <a:off x="384048" y="2706624"/>
            <a:ext cx="2743200" cy="201168"/>
          </a:xfrm>
          <a:prstGeom prst="rect">
            <a:avLst/>
          </a:prstGeom>
          <a:noFill/>
          <a:ln/>
        </p:spPr>
        <p:txBody>
          <a:bodyPr wrap="square" lIns="0" tIns="0" rIns="0" bIns="0" rtlCol="0" anchor="ctr"/>
          <a:lstStyle/>
          <a:p>
            <a:pPr indent="0" marL="0">
              <a:buNone/>
            </a:pPr>
            <a:r>
              <a:rPr lang="en-US" sz="1000" dirty="0">
                <a:solidFill>
                  <a:srgbClr val="0D1B2A"/>
                </a:solidFill>
                <a:latin typeface="Calibri" pitchFamily="34" charset="0"/>
                <a:ea typeface="Calibri" pitchFamily="34" charset="-122"/>
                <a:cs typeface="Calibri" pitchFamily="34" charset="-120"/>
              </a:rPr>
              <a:t>Rental Income (Palo Alto)</a:t>
            </a:r>
            <a:endParaRPr lang="en-US" sz="1000" dirty="0"/>
          </a:p>
        </p:txBody>
      </p:sp>
      <p:sp>
        <p:nvSpPr>
          <p:cNvPr id="21" name="Text 19"/>
          <p:cNvSpPr/>
          <p:nvPr/>
        </p:nvSpPr>
        <p:spPr>
          <a:xfrm>
            <a:off x="3200400" y="2706624"/>
            <a:ext cx="1115568" cy="201168"/>
          </a:xfrm>
          <a:prstGeom prst="rect">
            <a:avLst/>
          </a:prstGeom>
          <a:noFill/>
          <a:ln/>
        </p:spPr>
        <p:txBody>
          <a:bodyPr wrap="square" lIns="0" tIns="0" rIns="0" bIns="0" rtlCol="0" anchor="ctr"/>
          <a:lstStyle/>
          <a:p>
            <a:pPr algn="r" indent="0" marL="0">
              <a:buNone/>
            </a:pPr>
            <a:r>
              <a:rPr lang="en-US" sz="1000" b="1" dirty="0">
                <a:solidFill>
                  <a:srgbClr val="0D1B2A"/>
                </a:solidFill>
                <a:latin typeface="Garamond" pitchFamily="34" charset="0"/>
                <a:ea typeface="Garamond" pitchFamily="34" charset="-122"/>
                <a:cs typeface="Garamond" pitchFamily="34" charset="-120"/>
              </a:rPr>
              <a:t>~$120,000</a:t>
            </a:r>
            <a:endParaRPr lang="en-US" sz="1000" dirty="0"/>
          </a:p>
        </p:txBody>
      </p:sp>
      <p:sp>
        <p:nvSpPr>
          <p:cNvPr id="22" name="Shape 20"/>
          <p:cNvSpPr/>
          <p:nvPr/>
        </p:nvSpPr>
        <p:spPr>
          <a:xfrm>
            <a:off x="256032" y="3072384"/>
            <a:ext cx="4187952" cy="384048"/>
          </a:xfrm>
          <a:prstGeom prst="rect">
            <a:avLst/>
          </a:prstGeom>
          <a:solidFill>
            <a:srgbClr val="FFFFFF"/>
          </a:solidFill>
          <a:ln w="6350">
            <a:solidFill>
              <a:srgbClr val="DEDEDE"/>
            </a:solidFill>
            <a:prstDash val="solid"/>
          </a:ln>
        </p:spPr>
      </p:sp>
      <p:sp>
        <p:nvSpPr>
          <p:cNvPr id="23" name="Shape 21"/>
          <p:cNvSpPr/>
          <p:nvPr/>
        </p:nvSpPr>
        <p:spPr>
          <a:xfrm>
            <a:off x="256032" y="3072384"/>
            <a:ext cx="54864" cy="384048"/>
          </a:xfrm>
          <a:prstGeom prst="rect">
            <a:avLst/>
          </a:prstGeom>
          <a:solidFill>
            <a:srgbClr val="718096"/>
          </a:solidFill>
          <a:ln w="12700">
            <a:solidFill>
              <a:srgbClr val="718096"/>
            </a:solidFill>
            <a:prstDash val="solid"/>
          </a:ln>
        </p:spPr>
      </p:sp>
      <p:sp>
        <p:nvSpPr>
          <p:cNvPr id="24" name="Text 22"/>
          <p:cNvSpPr/>
          <p:nvPr/>
        </p:nvSpPr>
        <p:spPr>
          <a:xfrm>
            <a:off x="384048" y="3163824"/>
            <a:ext cx="2743200" cy="201168"/>
          </a:xfrm>
          <a:prstGeom prst="rect">
            <a:avLst/>
          </a:prstGeom>
          <a:noFill/>
          <a:ln/>
        </p:spPr>
        <p:txBody>
          <a:bodyPr wrap="square" lIns="0" tIns="0" rIns="0" bIns="0" rtlCol="0" anchor="ctr"/>
          <a:lstStyle/>
          <a:p>
            <a:pPr indent="0" marL="0">
              <a:buNone/>
            </a:pPr>
            <a:r>
              <a:rPr lang="en-US" sz="1000" dirty="0">
                <a:solidFill>
                  <a:srgbClr val="0D1B2A"/>
                </a:solidFill>
                <a:latin typeface="Calibri" pitchFamily="34" charset="0"/>
                <a:ea typeface="Calibri" pitchFamily="34" charset="-122"/>
                <a:cs typeface="Calibri" pitchFamily="34" charset="-120"/>
              </a:rPr>
              <a:t>Cash / T-Bill Interest</a:t>
            </a:r>
            <a:endParaRPr lang="en-US" sz="1000" dirty="0"/>
          </a:p>
        </p:txBody>
      </p:sp>
      <p:sp>
        <p:nvSpPr>
          <p:cNvPr id="25" name="Text 23"/>
          <p:cNvSpPr/>
          <p:nvPr/>
        </p:nvSpPr>
        <p:spPr>
          <a:xfrm>
            <a:off x="3200400" y="3163824"/>
            <a:ext cx="1115568" cy="201168"/>
          </a:xfrm>
          <a:prstGeom prst="rect">
            <a:avLst/>
          </a:prstGeom>
          <a:noFill/>
          <a:ln/>
        </p:spPr>
        <p:txBody>
          <a:bodyPr wrap="square" lIns="0" tIns="0" rIns="0" bIns="0" rtlCol="0" anchor="ctr"/>
          <a:lstStyle/>
          <a:p>
            <a:pPr algn="r" indent="0" marL="0">
              <a:buNone/>
            </a:pPr>
            <a:r>
              <a:rPr lang="en-US" sz="1000" b="1" dirty="0">
                <a:solidFill>
                  <a:srgbClr val="0D1B2A"/>
                </a:solidFill>
                <a:latin typeface="Garamond" pitchFamily="34" charset="0"/>
                <a:ea typeface="Garamond" pitchFamily="34" charset="-122"/>
                <a:cs typeface="Garamond" pitchFamily="34" charset="-120"/>
              </a:rPr>
              <a:t>~$150,000</a:t>
            </a:r>
            <a:endParaRPr lang="en-US" sz="1000" dirty="0"/>
          </a:p>
        </p:txBody>
      </p:sp>
      <p:sp>
        <p:nvSpPr>
          <p:cNvPr id="26" name="Shape 24"/>
          <p:cNvSpPr/>
          <p:nvPr/>
        </p:nvSpPr>
        <p:spPr>
          <a:xfrm>
            <a:off x="256032" y="3547872"/>
            <a:ext cx="4187952" cy="329184"/>
          </a:xfrm>
          <a:prstGeom prst="rect">
            <a:avLst/>
          </a:prstGeom>
          <a:solidFill>
            <a:srgbClr val="0D1B2A"/>
          </a:solidFill>
          <a:ln w="12700">
            <a:solidFill>
              <a:srgbClr val="0D1B2A"/>
            </a:solidFill>
            <a:prstDash val="solid"/>
          </a:ln>
        </p:spPr>
      </p:sp>
      <p:sp>
        <p:nvSpPr>
          <p:cNvPr id="27" name="Text 25"/>
          <p:cNvSpPr/>
          <p:nvPr/>
        </p:nvSpPr>
        <p:spPr>
          <a:xfrm>
            <a:off x="402336" y="3621024"/>
            <a:ext cx="2743200" cy="18288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Total Estimated Annual Income</a:t>
            </a:r>
            <a:endParaRPr lang="en-US" sz="1000" dirty="0"/>
          </a:p>
        </p:txBody>
      </p:sp>
      <p:sp>
        <p:nvSpPr>
          <p:cNvPr id="28" name="Text 26"/>
          <p:cNvSpPr/>
          <p:nvPr/>
        </p:nvSpPr>
        <p:spPr>
          <a:xfrm>
            <a:off x="3145536" y="3584448"/>
            <a:ext cx="1170432" cy="256032"/>
          </a:xfrm>
          <a:prstGeom prst="rect">
            <a:avLst/>
          </a:prstGeom>
          <a:noFill/>
          <a:ln/>
        </p:spPr>
        <p:txBody>
          <a:bodyPr wrap="square" lIns="0" tIns="0" rIns="0" bIns="0" rtlCol="0" anchor="ctr"/>
          <a:lstStyle/>
          <a:p>
            <a:pPr algn="r" indent="0" marL="0">
              <a:buNone/>
            </a:pPr>
            <a:r>
              <a:rPr lang="en-US" sz="1200" b="1" dirty="0">
                <a:solidFill>
                  <a:srgbClr val="B5922E"/>
                </a:solidFill>
                <a:latin typeface="Garamond" pitchFamily="34" charset="0"/>
                <a:ea typeface="Garamond" pitchFamily="34" charset="-122"/>
                <a:cs typeface="Garamond" pitchFamily="34" charset="-120"/>
              </a:rPr>
              <a:t>~$1,685,000</a:t>
            </a:r>
            <a:endParaRPr lang="en-US" sz="1200" dirty="0"/>
          </a:p>
        </p:txBody>
      </p:sp>
      <p:sp>
        <p:nvSpPr>
          <p:cNvPr id="29" name="Text 27"/>
          <p:cNvSpPr/>
          <p:nvPr/>
        </p:nvSpPr>
        <p:spPr>
          <a:xfrm>
            <a:off x="4663440" y="1005840"/>
            <a:ext cx="4279392" cy="182880"/>
          </a:xfrm>
          <a:prstGeom prst="rect">
            <a:avLst/>
          </a:prstGeom>
          <a:noFill/>
          <a:ln/>
        </p:spPr>
        <p:txBody>
          <a:bodyPr wrap="square" lIns="0" tIns="0" rIns="0" bIns="0" rtlCol="0" anchor="ctr"/>
          <a:lstStyle/>
          <a:p>
            <a:pPr indent="0" marL="0">
              <a:buNone/>
            </a:pPr>
            <a:r>
              <a:rPr lang="en-US" sz="850" b="1" spc="200" kern="0" dirty="0">
                <a:solidFill>
                  <a:srgbClr val="B5922E"/>
                </a:solidFill>
                <a:latin typeface="Calibri" pitchFamily="34" charset="0"/>
                <a:ea typeface="Calibri" pitchFamily="34" charset="-122"/>
                <a:cs typeface="Calibri" pitchFamily="34" charset="-120"/>
              </a:rPr>
              <a:t>ESTIMATED ANNUAL EXPENSES</a:t>
            </a:r>
            <a:endParaRPr lang="en-US" sz="850" dirty="0"/>
          </a:p>
        </p:txBody>
      </p:sp>
      <p:sp>
        <p:nvSpPr>
          <p:cNvPr id="30" name="Shape 28"/>
          <p:cNvSpPr/>
          <p:nvPr/>
        </p:nvSpPr>
        <p:spPr>
          <a:xfrm>
            <a:off x="4663440" y="1243584"/>
            <a:ext cx="4279392" cy="384048"/>
          </a:xfrm>
          <a:prstGeom prst="rect">
            <a:avLst/>
          </a:prstGeom>
          <a:solidFill>
            <a:srgbClr val="FFFFFF"/>
          </a:solidFill>
          <a:ln w="6350">
            <a:solidFill>
              <a:srgbClr val="DEDEDE"/>
            </a:solidFill>
            <a:prstDash val="solid"/>
          </a:ln>
        </p:spPr>
      </p:sp>
      <p:sp>
        <p:nvSpPr>
          <p:cNvPr id="31" name="Shape 29"/>
          <p:cNvSpPr/>
          <p:nvPr/>
        </p:nvSpPr>
        <p:spPr>
          <a:xfrm>
            <a:off x="4663440" y="1243584"/>
            <a:ext cx="54864" cy="384048"/>
          </a:xfrm>
          <a:prstGeom prst="rect">
            <a:avLst/>
          </a:prstGeom>
          <a:solidFill>
            <a:srgbClr val="4A5568"/>
          </a:solidFill>
          <a:ln w="12700">
            <a:solidFill>
              <a:srgbClr val="4A5568"/>
            </a:solidFill>
            <a:prstDash val="solid"/>
          </a:ln>
        </p:spPr>
      </p:sp>
      <p:sp>
        <p:nvSpPr>
          <p:cNvPr id="32" name="Text 30"/>
          <p:cNvSpPr/>
          <p:nvPr/>
        </p:nvSpPr>
        <p:spPr>
          <a:xfrm>
            <a:off x="4791456" y="1335024"/>
            <a:ext cx="2834640" cy="201168"/>
          </a:xfrm>
          <a:prstGeom prst="rect">
            <a:avLst/>
          </a:prstGeom>
          <a:noFill/>
          <a:ln/>
        </p:spPr>
        <p:txBody>
          <a:bodyPr wrap="square" lIns="0" tIns="0" rIns="0" bIns="0" rtlCol="0" anchor="ctr"/>
          <a:lstStyle/>
          <a:p>
            <a:pPr indent="0" marL="0">
              <a:buNone/>
            </a:pPr>
            <a:r>
              <a:rPr lang="en-US" sz="1000" dirty="0">
                <a:solidFill>
                  <a:srgbClr val="0D1B2A"/>
                </a:solidFill>
                <a:latin typeface="Calibri" pitchFamily="34" charset="0"/>
                <a:ea typeface="Calibri" pitchFamily="34" charset="-122"/>
                <a:cs typeface="Calibri" pitchFamily="34" charset="-120"/>
              </a:rPr>
              <a:t>Primary Residence (Atherton)</a:t>
            </a:r>
            <a:endParaRPr lang="en-US" sz="1000" dirty="0"/>
          </a:p>
        </p:txBody>
      </p:sp>
      <p:sp>
        <p:nvSpPr>
          <p:cNvPr id="33" name="Text 31"/>
          <p:cNvSpPr/>
          <p:nvPr/>
        </p:nvSpPr>
        <p:spPr>
          <a:xfrm>
            <a:off x="7680960" y="1335024"/>
            <a:ext cx="1133856" cy="201168"/>
          </a:xfrm>
          <a:prstGeom prst="rect">
            <a:avLst/>
          </a:prstGeom>
          <a:noFill/>
          <a:ln/>
        </p:spPr>
        <p:txBody>
          <a:bodyPr wrap="square" lIns="0" tIns="0" rIns="0" bIns="0" rtlCol="0" anchor="ctr"/>
          <a:lstStyle/>
          <a:p>
            <a:pPr algn="r" indent="0" marL="0">
              <a:buNone/>
            </a:pPr>
            <a:r>
              <a:rPr lang="en-US" sz="1000" b="1" dirty="0">
                <a:solidFill>
                  <a:srgbClr val="0D1B2A"/>
                </a:solidFill>
                <a:latin typeface="Garamond" pitchFamily="34" charset="0"/>
                <a:ea typeface="Garamond" pitchFamily="34" charset="-122"/>
                <a:cs typeface="Garamond" pitchFamily="34" charset="-120"/>
              </a:rPr>
              <a:t>~$360,000</a:t>
            </a:r>
            <a:endParaRPr lang="en-US" sz="1000" dirty="0"/>
          </a:p>
        </p:txBody>
      </p:sp>
      <p:sp>
        <p:nvSpPr>
          <p:cNvPr id="34" name="Shape 32"/>
          <p:cNvSpPr/>
          <p:nvPr/>
        </p:nvSpPr>
        <p:spPr>
          <a:xfrm>
            <a:off x="4663440" y="1700784"/>
            <a:ext cx="4279392" cy="384048"/>
          </a:xfrm>
          <a:prstGeom prst="rect">
            <a:avLst/>
          </a:prstGeom>
          <a:solidFill>
            <a:srgbClr val="FFFFFF"/>
          </a:solidFill>
          <a:ln w="6350">
            <a:solidFill>
              <a:srgbClr val="DEDEDE"/>
            </a:solidFill>
            <a:prstDash val="solid"/>
          </a:ln>
        </p:spPr>
      </p:sp>
      <p:sp>
        <p:nvSpPr>
          <p:cNvPr id="35" name="Shape 33"/>
          <p:cNvSpPr/>
          <p:nvPr/>
        </p:nvSpPr>
        <p:spPr>
          <a:xfrm>
            <a:off x="4663440" y="1700784"/>
            <a:ext cx="54864" cy="384048"/>
          </a:xfrm>
          <a:prstGeom prst="rect">
            <a:avLst/>
          </a:prstGeom>
          <a:solidFill>
            <a:srgbClr val="4A5568"/>
          </a:solidFill>
          <a:ln w="12700">
            <a:solidFill>
              <a:srgbClr val="4A5568"/>
            </a:solidFill>
            <a:prstDash val="solid"/>
          </a:ln>
        </p:spPr>
      </p:sp>
      <p:sp>
        <p:nvSpPr>
          <p:cNvPr id="36" name="Text 34"/>
          <p:cNvSpPr/>
          <p:nvPr/>
        </p:nvSpPr>
        <p:spPr>
          <a:xfrm>
            <a:off x="4791456" y="1792224"/>
            <a:ext cx="2834640" cy="201168"/>
          </a:xfrm>
          <a:prstGeom prst="rect">
            <a:avLst/>
          </a:prstGeom>
          <a:noFill/>
          <a:ln/>
        </p:spPr>
        <p:txBody>
          <a:bodyPr wrap="square" lIns="0" tIns="0" rIns="0" bIns="0" rtlCol="0" anchor="ctr"/>
          <a:lstStyle/>
          <a:p>
            <a:pPr indent="0" marL="0">
              <a:buNone/>
            </a:pPr>
            <a:r>
              <a:rPr lang="en-US" sz="1000" dirty="0">
                <a:solidFill>
                  <a:srgbClr val="0D1B2A"/>
                </a:solidFill>
                <a:latin typeface="Calibri" pitchFamily="34" charset="0"/>
                <a:ea typeface="Calibri" pitchFamily="34" charset="-122"/>
                <a:cs typeface="Calibri" pitchFamily="34" charset="-120"/>
              </a:rPr>
              <a:t>Lifestyle &amp; Travel</a:t>
            </a:r>
            <a:endParaRPr lang="en-US" sz="1000" dirty="0"/>
          </a:p>
        </p:txBody>
      </p:sp>
      <p:sp>
        <p:nvSpPr>
          <p:cNvPr id="37" name="Text 35"/>
          <p:cNvSpPr/>
          <p:nvPr/>
        </p:nvSpPr>
        <p:spPr>
          <a:xfrm>
            <a:off x="7680960" y="1792224"/>
            <a:ext cx="1133856" cy="201168"/>
          </a:xfrm>
          <a:prstGeom prst="rect">
            <a:avLst/>
          </a:prstGeom>
          <a:noFill/>
          <a:ln/>
        </p:spPr>
        <p:txBody>
          <a:bodyPr wrap="square" lIns="0" tIns="0" rIns="0" bIns="0" rtlCol="0" anchor="ctr"/>
          <a:lstStyle/>
          <a:p>
            <a:pPr algn="r" indent="0" marL="0">
              <a:buNone/>
            </a:pPr>
            <a:r>
              <a:rPr lang="en-US" sz="1000" b="1" dirty="0">
                <a:solidFill>
                  <a:srgbClr val="0D1B2A"/>
                </a:solidFill>
                <a:latin typeface="Garamond" pitchFamily="34" charset="0"/>
                <a:ea typeface="Garamond" pitchFamily="34" charset="-122"/>
                <a:cs typeface="Garamond" pitchFamily="34" charset="-120"/>
              </a:rPr>
              <a:t>~$250,000</a:t>
            </a:r>
            <a:endParaRPr lang="en-US" sz="1000" dirty="0"/>
          </a:p>
        </p:txBody>
      </p:sp>
      <p:sp>
        <p:nvSpPr>
          <p:cNvPr id="38" name="Shape 36"/>
          <p:cNvSpPr/>
          <p:nvPr/>
        </p:nvSpPr>
        <p:spPr>
          <a:xfrm>
            <a:off x="4663440" y="2157984"/>
            <a:ext cx="4279392" cy="384048"/>
          </a:xfrm>
          <a:prstGeom prst="rect">
            <a:avLst/>
          </a:prstGeom>
          <a:solidFill>
            <a:srgbClr val="FFFFFF"/>
          </a:solidFill>
          <a:ln w="6350">
            <a:solidFill>
              <a:srgbClr val="DEDEDE"/>
            </a:solidFill>
            <a:prstDash val="solid"/>
          </a:ln>
        </p:spPr>
      </p:sp>
      <p:sp>
        <p:nvSpPr>
          <p:cNvPr id="39" name="Shape 37"/>
          <p:cNvSpPr/>
          <p:nvPr/>
        </p:nvSpPr>
        <p:spPr>
          <a:xfrm>
            <a:off x="4663440" y="2157984"/>
            <a:ext cx="54864" cy="384048"/>
          </a:xfrm>
          <a:prstGeom prst="rect">
            <a:avLst/>
          </a:prstGeom>
          <a:solidFill>
            <a:srgbClr val="185FA5"/>
          </a:solidFill>
          <a:ln w="12700">
            <a:solidFill>
              <a:srgbClr val="185FA5"/>
            </a:solidFill>
            <a:prstDash val="solid"/>
          </a:ln>
        </p:spPr>
      </p:sp>
      <p:sp>
        <p:nvSpPr>
          <p:cNvPr id="40" name="Text 38"/>
          <p:cNvSpPr/>
          <p:nvPr/>
        </p:nvSpPr>
        <p:spPr>
          <a:xfrm>
            <a:off x="4791456" y="2249424"/>
            <a:ext cx="2834640" cy="201168"/>
          </a:xfrm>
          <a:prstGeom prst="rect">
            <a:avLst/>
          </a:prstGeom>
          <a:noFill/>
          <a:ln/>
        </p:spPr>
        <p:txBody>
          <a:bodyPr wrap="square" lIns="0" tIns="0" rIns="0" bIns="0" rtlCol="0" anchor="ctr"/>
          <a:lstStyle/>
          <a:p>
            <a:pPr indent="0" marL="0">
              <a:buNone/>
            </a:pPr>
            <a:r>
              <a:rPr lang="en-US" sz="1000" dirty="0">
                <a:solidFill>
                  <a:srgbClr val="0D1B2A"/>
                </a:solidFill>
                <a:latin typeface="Calibri" pitchFamily="34" charset="0"/>
                <a:ea typeface="Calibri" pitchFamily="34" charset="-122"/>
                <a:cs typeface="Calibri" pitchFamily="34" charset="-120"/>
              </a:rPr>
              <a:t>Philanthropy / Charitable Giving</a:t>
            </a:r>
            <a:endParaRPr lang="en-US" sz="1000" dirty="0"/>
          </a:p>
        </p:txBody>
      </p:sp>
      <p:sp>
        <p:nvSpPr>
          <p:cNvPr id="41" name="Text 39"/>
          <p:cNvSpPr/>
          <p:nvPr/>
        </p:nvSpPr>
        <p:spPr>
          <a:xfrm>
            <a:off x="7680960" y="2249424"/>
            <a:ext cx="1133856" cy="201168"/>
          </a:xfrm>
          <a:prstGeom prst="rect">
            <a:avLst/>
          </a:prstGeom>
          <a:noFill/>
          <a:ln/>
        </p:spPr>
        <p:txBody>
          <a:bodyPr wrap="square" lIns="0" tIns="0" rIns="0" bIns="0" rtlCol="0" anchor="ctr"/>
          <a:lstStyle/>
          <a:p>
            <a:pPr algn="r" indent="0" marL="0">
              <a:buNone/>
            </a:pPr>
            <a:r>
              <a:rPr lang="en-US" sz="1000" b="1" dirty="0">
                <a:solidFill>
                  <a:srgbClr val="0D1B2A"/>
                </a:solidFill>
                <a:latin typeface="Garamond" pitchFamily="34" charset="0"/>
                <a:ea typeface="Garamond" pitchFamily="34" charset="-122"/>
                <a:cs typeface="Garamond" pitchFamily="34" charset="-120"/>
              </a:rPr>
              <a:t>~$200,000</a:t>
            </a:r>
            <a:endParaRPr lang="en-US" sz="1000" dirty="0"/>
          </a:p>
        </p:txBody>
      </p:sp>
      <p:sp>
        <p:nvSpPr>
          <p:cNvPr id="42" name="Shape 40"/>
          <p:cNvSpPr/>
          <p:nvPr/>
        </p:nvSpPr>
        <p:spPr>
          <a:xfrm>
            <a:off x="4663440" y="2615184"/>
            <a:ext cx="4279392" cy="384048"/>
          </a:xfrm>
          <a:prstGeom prst="rect">
            <a:avLst/>
          </a:prstGeom>
          <a:solidFill>
            <a:srgbClr val="FFFFFF"/>
          </a:solidFill>
          <a:ln w="6350">
            <a:solidFill>
              <a:srgbClr val="DEDEDE"/>
            </a:solidFill>
            <a:prstDash val="solid"/>
          </a:ln>
        </p:spPr>
      </p:sp>
      <p:sp>
        <p:nvSpPr>
          <p:cNvPr id="43" name="Shape 41"/>
          <p:cNvSpPr/>
          <p:nvPr/>
        </p:nvSpPr>
        <p:spPr>
          <a:xfrm>
            <a:off x="4663440" y="2615184"/>
            <a:ext cx="54864" cy="384048"/>
          </a:xfrm>
          <a:prstGeom prst="rect">
            <a:avLst/>
          </a:prstGeom>
          <a:solidFill>
            <a:srgbClr val="718096"/>
          </a:solidFill>
          <a:ln w="12700">
            <a:solidFill>
              <a:srgbClr val="718096"/>
            </a:solidFill>
            <a:prstDash val="solid"/>
          </a:ln>
        </p:spPr>
      </p:sp>
      <p:sp>
        <p:nvSpPr>
          <p:cNvPr id="44" name="Text 42"/>
          <p:cNvSpPr/>
          <p:nvPr/>
        </p:nvSpPr>
        <p:spPr>
          <a:xfrm>
            <a:off x="4791456" y="2706624"/>
            <a:ext cx="2834640" cy="201168"/>
          </a:xfrm>
          <a:prstGeom prst="rect">
            <a:avLst/>
          </a:prstGeom>
          <a:noFill/>
          <a:ln/>
        </p:spPr>
        <p:txBody>
          <a:bodyPr wrap="square" lIns="0" tIns="0" rIns="0" bIns="0" rtlCol="0" anchor="ctr"/>
          <a:lstStyle/>
          <a:p>
            <a:pPr indent="0" marL="0">
              <a:buNone/>
            </a:pPr>
            <a:r>
              <a:rPr lang="en-US" sz="1000" dirty="0">
                <a:solidFill>
                  <a:srgbClr val="0D1B2A"/>
                </a:solidFill>
                <a:latin typeface="Calibri" pitchFamily="34" charset="0"/>
                <a:ea typeface="Calibri" pitchFamily="34" charset="-122"/>
                <a:cs typeface="Calibri" pitchFamily="34" charset="-120"/>
              </a:rPr>
              <a:t>Professional Fees (CPA, Legal)</a:t>
            </a:r>
            <a:endParaRPr lang="en-US" sz="1000" dirty="0"/>
          </a:p>
        </p:txBody>
      </p:sp>
      <p:sp>
        <p:nvSpPr>
          <p:cNvPr id="45" name="Text 43"/>
          <p:cNvSpPr/>
          <p:nvPr/>
        </p:nvSpPr>
        <p:spPr>
          <a:xfrm>
            <a:off x="7680960" y="2706624"/>
            <a:ext cx="1133856" cy="201168"/>
          </a:xfrm>
          <a:prstGeom prst="rect">
            <a:avLst/>
          </a:prstGeom>
          <a:noFill/>
          <a:ln/>
        </p:spPr>
        <p:txBody>
          <a:bodyPr wrap="square" lIns="0" tIns="0" rIns="0" bIns="0" rtlCol="0" anchor="ctr"/>
          <a:lstStyle/>
          <a:p>
            <a:pPr algn="r" indent="0" marL="0">
              <a:buNone/>
            </a:pPr>
            <a:r>
              <a:rPr lang="en-US" sz="1000" b="1" dirty="0">
                <a:solidFill>
                  <a:srgbClr val="0D1B2A"/>
                </a:solidFill>
                <a:latin typeface="Garamond" pitchFamily="34" charset="0"/>
                <a:ea typeface="Garamond" pitchFamily="34" charset="-122"/>
                <a:cs typeface="Garamond" pitchFamily="34" charset="-120"/>
              </a:rPr>
              <a:t>~$75,000</a:t>
            </a:r>
            <a:endParaRPr lang="en-US" sz="1000" dirty="0"/>
          </a:p>
        </p:txBody>
      </p:sp>
      <p:sp>
        <p:nvSpPr>
          <p:cNvPr id="46" name="Shape 44"/>
          <p:cNvSpPr/>
          <p:nvPr/>
        </p:nvSpPr>
        <p:spPr>
          <a:xfrm>
            <a:off x="4663440" y="3072384"/>
            <a:ext cx="4279392" cy="384048"/>
          </a:xfrm>
          <a:prstGeom prst="rect">
            <a:avLst/>
          </a:prstGeom>
          <a:solidFill>
            <a:srgbClr val="FFFFFF"/>
          </a:solidFill>
          <a:ln w="6350">
            <a:solidFill>
              <a:srgbClr val="DEDEDE"/>
            </a:solidFill>
            <a:prstDash val="solid"/>
          </a:ln>
        </p:spPr>
      </p:sp>
      <p:sp>
        <p:nvSpPr>
          <p:cNvPr id="47" name="Shape 45"/>
          <p:cNvSpPr/>
          <p:nvPr/>
        </p:nvSpPr>
        <p:spPr>
          <a:xfrm>
            <a:off x="4663440" y="3072384"/>
            <a:ext cx="54864" cy="384048"/>
          </a:xfrm>
          <a:prstGeom prst="rect">
            <a:avLst/>
          </a:prstGeom>
          <a:solidFill>
            <a:srgbClr val="718096"/>
          </a:solidFill>
          <a:ln w="12700">
            <a:solidFill>
              <a:srgbClr val="718096"/>
            </a:solidFill>
            <a:prstDash val="solid"/>
          </a:ln>
        </p:spPr>
      </p:sp>
      <p:sp>
        <p:nvSpPr>
          <p:cNvPr id="48" name="Text 46"/>
          <p:cNvSpPr/>
          <p:nvPr/>
        </p:nvSpPr>
        <p:spPr>
          <a:xfrm>
            <a:off x="4791456" y="3163824"/>
            <a:ext cx="2834640" cy="201168"/>
          </a:xfrm>
          <a:prstGeom prst="rect">
            <a:avLst/>
          </a:prstGeom>
          <a:noFill/>
          <a:ln/>
        </p:spPr>
        <p:txBody>
          <a:bodyPr wrap="square" lIns="0" tIns="0" rIns="0" bIns="0" rtlCol="0" anchor="ctr"/>
          <a:lstStyle/>
          <a:p>
            <a:pPr indent="0" marL="0">
              <a:buNone/>
            </a:pPr>
            <a:r>
              <a:rPr lang="en-US" sz="1000" dirty="0">
                <a:solidFill>
                  <a:srgbClr val="0D1B2A"/>
                </a:solidFill>
                <a:latin typeface="Calibri" pitchFamily="34" charset="0"/>
                <a:ea typeface="Calibri" pitchFamily="34" charset="-122"/>
                <a:cs typeface="Calibri" pitchFamily="34" charset="-120"/>
              </a:rPr>
              <a:t>Investment Mgmt. Fees (~0.5%)</a:t>
            </a:r>
            <a:endParaRPr lang="en-US" sz="1000" dirty="0"/>
          </a:p>
        </p:txBody>
      </p:sp>
      <p:sp>
        <p:nvSpPr>
          <p:cNvPr id="49" name="Text 47"/>
          <p:cNvSpPr/>
          <p:nvPr/>
        </p:nvSpPr>
        <p:spPr>
          <a:xfrm>
            <a:off x="7680960" y="3163824"/>
            <a:ext cx="1133856" cy="201168"/>
          </a:xfrm>
          <a:prstGeom prst="rect">
            <a:avLst/>
          </a:prstGeom>
          <a:noFill/>
          <a:ln/>
        </p:spPr>
        <p:txBody>
          <a:bodyPr wrap="square" lIns="0" tIns="0" rIns="0" bIns="0" rtlCol="0" anchor="ctr"/>
          <a:lstStyle/>
          <a:p>
            <a:pPr algn="r" indent="0" marL="0">
              <a:buNone/>
            </a:pPr>
            <a:r>
              <a:rPr lang="en-US" sz="1000" b="1" dirty="0">
                <a:solidFill>
                  <a:srgbClr val="0D1B2A"/>
                </a:solidFill>
                <a:latin typeface="Garamond" pitchFamily="34" charset="0"/>
                <a:ea typeface="Garamond" pitchFamily="34" charset="-122"/>
                <a:cs typeface="Garamond" pitchFamily="34" charset="-120"/>
              </a:rPr>
              <a:t>~$360,000</a:t>
            </a:r>
            <a:endParaRPr lang="en-US" sz="1000" dirty="0"/>
          </a:p>
        </p:txBody>
      </p:sp>
      <p:sp>
        <p:nvSpPr>
          <p:cNvPr id="50" name="Shape 48"/>
          <p:cNvSpPr/>
          <p:nvPr/>
        </p:nvSpPr>
        <p:spPr>
          <a:xfrm>
            <a:off x="4663440" y="3547872"/>
            <a:ext cx="4279392" cy="329184"/>
          </a:xfrm>
          <a:prstGeom prst="rect">
            <a:avLst/>
          </a:prstGeom>
          <a:solidFill>
            <a:srgbClr val="1A2E45"/>
          </a:solidFill>
          <a:ln w="12700">
            <a:solidFill>
              <a:srgbClr val="1A2E45"/>
            </a:solidFill>
            <a:prstDash val="solid"/>
          </a:ln>
        </p:spPr>
      </p:sp>
      <p:sp>
        <p:nvSpPr>
          <p:cNvPr id="51" name="Text 49"/>
          <p:cNvSpPr/>
          <p:nvPr/>
        </p:nvSpPr>
        <p:spPr>
          <a:xfrm>
            <a:off x="4809744" y="3621024"/>
            <a:ext cx="2926080" cy="18288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Total Estimated Annual Expenses</a:t>
            </a:r>
            <a:endParaRPr lang="en-US" sz="1000" dirty="0"/>
          </a:p>
        </p:txBody>
      </p:sp>
      <p:sp>
        <p:nvSpPr>
          <p:cNvPr id="52" name="Text 50"/>
          <p:cNvSpPr/>
          <p:nvPr/>
        </p:nvSpPr>
        <p:spPr>
          <a:xfrm>
            <a:off x="7552944" y="3584448"/>
            <a:ext cx="1261872" cy="256032"/>
          </a:xfrm>
          <a:prstGeom prst="rect">
            <a:avLst/>
          </a:prstGeom>
          <a:noFill/>
          <a:ln/>
        </p:spPr>
        <p:txBody>
          <a:bodyPr wrap="square" lIns="0" tIns="0" rIns="0" bIns="0" rtlCol="0" anchor="ctr"/>
          <a:lstStyle/>
          <a:p>
            <a:pPr algn="r" indent="0" marL="0">
              <a:buNone/>
            </a:pPr>
            <a:r>
              <a:rPr lang="en-US" sz="1200" b="1" dirty="0">
                <a:solidFill>
                  <a:srgbClr val="B5922E"/>
                </a:solidFill>
                <a:latin typeface="Garamond" pitchFamily="34" charset="0"/>
                <a:ea typeface="Garamond" pitchFamily="34" charset="-122"/>
                <a:cs typeface="Garamond" pitchFamily="34" charset="-120"/>
              </a:rPr>
              <a:t>~$1,245,000</a:t>
            </a:r>
            <a:endParaRPr lang="en-US" sz="1200" dirty="0"/>
          </a:p>
        </p:txBody>
      </p:sp>
      <p:sp>
        <p:nvSpPr>
          <p:cNvPr id="53" name="Shape 51"/>
          <p:cNvSpPr/>
          <p:nvPr/>
        </p:nvSpPr>
        <p:spPr>
          <a:xfrm>
            <a:off x="256032" y="4041648"/>
            <a:ext cx="8686800" cy="621792"/>
          </a:xfrm>
          <a:prstGeom prst="rect">
            <a:avLst/>
          </a:prstGeom>
          <a:solidFill>
            <a:srgbClr val="EFF7F2"/>
          </a:solidFill>
          <a:ln w="9525">
            <a:solidFill>
              <a:srgbClr val="1A6B45"/>
            </a:solidFill>
            <a:prstDash val="solid"/>
          </a:ln>
        </p:spPr>
      </p:sp>
      <p:sp>
        <p:nvSpPr>
          <p:cNvPr id="54" name="Text 52"/>
          <p:cNvSpPr/>
          <p:nvPr/>
        </p:nvSpPr>
        <p:spPr>
          <a:xfrm>
            <a:off x="420624" y="4169664"/>
            <a:ext cx="2194560" cy="237744"/>
          </a:xfrm>
          <a:prstGeom prst="rect">
            <a:avLst/>
          </a:prstGeom>
          <a:noFill/>
          <a:ln/>
        </p:spPr>
        <p:txBody>
          <a:bodyPr wrap="square" lIns="0" tIns="0" rIns="0" bIns="0" rtlCol="0" anchor="ctr"/>
          <a:lstStyle/>
          <a:p>
            <a:pPr indent="0" marL="0">
              <a:buNone/>
            </a:pPr>
            <a:r>
              <a:rPr lang="en-US" sz="1100" b="1" dirty="0">
                <a:solidFill>
                  <a:srgbClr val="1A6B45"/>
                </a:solidFill>
                <a:latin typeface="Calibri" pitchFamily="34" charset="0"/>
                <a:ea typeface="Calibri" pitchFamily="34" charset="-122"/>
                <a:cs typeface="Calibri" pitchFamily="34" charset="-120"/>
              </a:rPr>
              <a:t>Estimated Annual Surplus:</a:t>
            </a:r>
            <a:endParaRPr lang="en-US" sz="1100" dirty="0"/>
          </a:p>
        </p:txBody>
      </p:sp>
      <p:sp>
        <p:nvSpPr>
          <p:cNvPr id="55" name="Text 53"/>
          <p:cNvSpPr/>
          <p:nvPr/>
        </p:nvSpPr>
        <p:spPr>
          <a:xfrm>
            <a:off x="2651760" y="4169664"/>
            <a:ext cx="6126480" cy="237744"/>
          </a:xfrm>
          <a:prstGeom prst="rect">
            <a:avLst/>
          </a:prstGeom>
          <a:noFill/>
          <a:ln/>
        </p:spPr>
        <p:txBody>
          <a:bodyPr wrap="square" lIns="0" tIns="0" rIns="0" bIns="0" rtlCol="0" anchor="ctr"/>
          <a:lstStyle/>
          <a:p>
            <a:pPr indent="0" marL="0">
              <a:buNone/>
            </a:pPr>
            <a:r>
              <a:rPr lang="en-US" sz="1100" dirty="0">
                <a:solidFill>
                  <a:srgbClr val="1A5C38"/>
                </a:solidFill>
                <a:latin typeface="Calibri" pitchFamily="34" charset="0"/>
                <a:ea typeface="Calibri" pitchFamily="34" charset="-122"/>
                <a:cs typeface="Calibri" pitchFamily="34" charset="-120"/>
              </a:rPr>
              <a:t>~$440,000 — available for additional gifting, philanthropy, or reinvestment.</a:t>
            </a:r>
            <a:endParaRPr lang="en-US" sz="1100" dirty="0"/>
          </a:p>
        </p:txBody>
      </p:sp>
      <p:sp>
        <p:nvSpPr>
          <p:cNvPr id="56" name="Text 54"/>
          <p:cNvSpPr/>
          <p:nvPr/>
        </p:nvSpPr>
        <p:spPr>
          <a:xfrm>
            <a:off x="256032" y="4882896"/>
            <a:ext cx="8686800" cy="164592"/>
          </a:xfrm>
          <a:prstGeom prst="rect">
            <a:avLst/>
          </a:prstGeom>
          <a:noFill/>
          <a:ln/>
        </p:spPr>
        <p:txBody>
          <a:bodyPr wrap="square" lIns="0" tIns="0" rIns="0" bIns="0" rtlCol="0" anchor="ctr"/>
          <a:lstStyle/>
          <a:p>
            <a:pPr indent="0" marL="0">
              <a:buNone/>
            </a:pPr>
            <a:r>
              <a:rPr lang="en-US" sz="800" i="1" dirty="0">
                <a:solidFill>
                  <a:srgbClr val="718096"/>
                </a:solidFill>
                <a:latin typeface="Calibri" pitchFamily="34" charset="0"/>
                <a:ea typeface="Calibri" pitchFamily="34" charset="-122"/>
                <a:cs typeface="Calibri" pitchFamily="34" charset="-120"/>
              </a:rPr>
              <a:t>Income and expense figures are estimates for planning purposes. Actual amounts vary with NVDA compensation, tax elections, and lifestyle decisions.</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1B2A"/>
          </a:solidFill>
          <a:ln w="12700">
            <a:solidFill>
              <a:srgbClr val="0D1B2A"/>
            </a:solidFill>
            <a:prstDash val="solid"/>
          </a:ln>
        </p:spPr>
      </p:sp>
      <p:sp>
        <p:nvSpPr>
          <p:cNvPr id="3" name="Text 1"/>
          <p:cNvSpPr/>
          <p:nvPr/>
        </p:nvSpPr>
        <p:spPr>
          <a:xfrm>
            <a:off x="256032" y="274320"/>
            <a:ext cx="7315200" cy="201168"/>
          </a:xfrm>
          <a:prstGeom prst="rect">
            <a:avLst/>
          </a:prstGeom>
          <a:noFill/>
          <a:ln/>
        </p:spPr>
        <p:txBody>
          <a:bodyPr wrap="square" lIns="0" tIns="0" rIns="0" bIns="0" rtlCol="0" anchor="ctr"/>
          <a:lstStyle/>
          <a:p>
            <a:pPr indent="0" marL="0">
              <a:buNone/>
            </a:pPr>
            <a:r>
              <a:rPr lang="en-US" sz="900" b="1" spc="300" kern="0" dirty="0">
                <a:solidFill>
                  <a:srgbClr val="B5922E"/>
                </a:solidFill>
                <a:latin typeface="Calibri" pitchFamily="34" charset="0"/>
                <a:ea typeface="Calibri" pitchFamily="34" charset="-122"/>
                <a:cs typeface="Calibri" pitchFamily="34" charset="-120"/>
              </a:rPr>
              <a:t>PLANNING MODULE · RETIREMENT</a:t>
            </a:r>
            <a:endParaRPr lang="en-US" sz="900" dirty="0"/>
          </a:p>
        </p:txBody>
      </p:sp>
      <p:sp>
        <p:nvSpPr>
          <p:cNvPr id="4" name="Text 2"/>
          <p:cNvSpPr/>
          <p:nvPr/>
        </p:nvSpPr>
        <p:spPr>
          <a:xfrm>
            <a:off x="256032" y="493776"/>
            <a:ext cx="8686800" cy="502920"/>
          </a:xfrm>
          <a:prstGeom prst="rect">
            <a:avLst/>
          </a:prstGeom>
          <a:noFill/>
          <a:ln/>
        </p:spPr>
        <p:txBody>
          <a:bodyPr wrap="square" lIns="0" tIns="0" rIns="0" bIns="0" rtlCol="0" anchor="ctr"/>
          <a:lstStyle/>
          <a:p>
            <a:pPr indent="0" marL="0">
              <a:buNone/>
            </a:pPr>
            <a:r>
              <a:rPr lang="en-US" sz="2400" b="1" dirty="0">
                <a:solidFill>
                  <a:srgbClr val="0D1B2A"/>
                </a:solidFill>
                <a:latin typeface="Garamond" pitchFamily="34" charset="0"/>
                <a:ea typeface="Garamond" pitchFamily="34" charset="-122"/>
                <a:cs typeface="Garamond" pitchFamily="34" charset="-120"/>
              </a:rPr>
              <a:t>Retirement Planning</a:t>
            </a:r>
            <a:endParaRPr lang="en-US" sz="2400" dirty="0"/>
          </a:p>
        </p:txBody>
      </p:sp>
      <p:sp>
        <p:nvSpPr>
          <p:cNvPr id="5" name="Shape 3"/>
          <p:cNvSpPr/>
          <p:nvPr/>
        </p:nvSpPr>
        <p:spPr>
          <a:xfrm>
            <a:off x="676656" y="1426464"/>
            <a:ext cx="7991856" cy="36576"/>
          </a:xfrm>
          <a:prstGeom prst="rect">
            <a:avLst/>
          </a:prstGeom>
          <a:solidFill>
            <a:srgbClr val="DEDEDE"/>
          </a:solidFill>
          <a:ln w="12700">
            <a:solidFill>
              <a:srgbClr val="DEDEDE"/>
            </a:solidFill>
            <a:prstDash val="solid"/>
          </a:ln>
        </p:spPr>
      </p:sp>
      <p:sp>
        <p:nvSpPr>
          <p:cNvPr id="6" name="Shape 4"/>
          <p:cNvSpPr/>
          <p:nvPr/>
        </p:nvSpPr>
        <p:spPr>
          <a:xfrm>
            <a:off x="685800" y="1005840"/>
            <a:ext cx="877824" cy="877824"/>
          </a:xfrm>
          <a:prstGeom prst="ellipse">
            <a:avLst/>
          </a:prstGeom>
          <a:solidFill>
            <a:srgbClr val="0D1B2A"/>
          </a:solidFill>
          <a:ln w="12700">
            <a:solidFill>
              <a:srgbClr val="0D1B2A"/>
            </a:solidFill>
            <a:prstDash val="solid"/>
          </a:ln>
        </p:spPr>
      </p:sp>
      <p:sp>
        <p:nvSpPr>
          <p:cNvPr id="7" name="Text 5"/>
          <p:cNvSpPr/>
          <p:nvPr/>
        </p:nvSpPr>
        <p:spPr>
          <a:xfrm>
            <a:off x="685800" y="1005840"/>
            <a:ext cx="877824" cy="8778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Age 58</a:t>
            </a:r>
            <a:endParaRPr lang="en-US" sz="1000" dirty="0"/>
          </a:p>
        </p:txBody>
      </p:sp>
      <p:sp>
        <p:nvSpPr>
          <p:cNvPr id="8" name="Text 6"/>
          <p:cNvSpPr/>
          <p:nvPr/>
        </p:nvSpPr>
        <p:spPr>
          <a:xfrm>
            <a:off x="256032" y="2011680"/>
            <a:ext cx="1719072" cy="201168"/>
          </a:xfrm>
          <a:prstGeom prst="rect">
            <a:avLst/>
          </a:prstGeom>
          <a:noFill/>
          <a:ln/>
        </p:spPr>
        <p:txBody>
          <a:bodyPr wrap="square" lIns="0" tIns="0" rIns="0" bIns="0" rtlCol="0" anchor="ctr"/>
          <a:lstStyle/>
          <a:p>
            <a:pPr algn="ctr" indent="0" marL="0">
              <a:buNone/>
            </a:pPr>
            <a:r>
              <a:rPr lang="en-US" sz="950" b="1" dirty="0">
                <a:solidFill>
                  <a:srgbClr val="0D1B2A"/>
                </a:solidFill>
                <a:latin typeface="Calibri" pitchFamily="34" charset="0"/>
                <a:ea typeface="Calibri" pitchFamily="34" charset="-122"/>
                <a:cs typeface="Calibri" pitchFamily="34" charset="-120"/>
              </a:rPr>
              <a:t>Daniel Mercer</a:t>
            </a:r>
            <a:endParaRPr lang="en-US" sz="950" dirty="0"/>
          </a:p>
        </p:txBody>
      </p:sp>
      <p:sp>
        <p:nvSpPr>
          <p:cNvPr id="9" name="Text 7"/>
          <p:cNvSpPr/>
          <p:nvPr/>
        </p:nvSpPr>
        <p:spPr>
          <a:xfrm>
            <a:off x="256032" y="2231136"/>
            <a:ext cx="1719072" cy="402336"/>
          </a:xfrm>
          <a:prstGeom prst="rect">
            <a:avLst/>
          </a:prstGeom>
          <a:noFill/>
          <a:ln/>
        </p:spPr>
        <p:txBody>
          <a:bodyPr wrap="square" lIns="0" tIns="0" rIns="0" bIns="0" rtlCol="0" anchor="ctr"/>
          <a:lstStyle/>
          <a:p>
            <a:pPr algn="ctr" indent="0" marL="0">
              <a:buNone/>
            </a:pPr>
            <a:r>
              <a:rPr lang="en-US" sz="850" dirty="0">
                <a:solidFill>
                  <a:srgbClr val="718096"/>
                </a:solidFill>
                <a:latin typeface="Calibri" pitchFamily="34" charset="0"/>
                <a:ea typeface="Calibri" pitchFamily="34" charset="-122"/>
                <a:cs typeface="Calibri" pitchFamily="34" charset="-120"/>
              </a:rPr>
              <a:t>Executive Chairman</a:t>
            </a:r>
            <a:endParaRPr lang="en-US" sz="850" dirty="0"/>
          </a:p>
          <a:p>
            <a:pPr algn="ctr" indent="0" marL="0">
              <a:buNone/>
            </a:pPr>
            <a:r>
              <a:rPr lang="en-US" sz="850" dirty="0">
                <a:solidFill>
                  <a:srgbClr val="718096"/>
                </a:solidFill>
                <a:latin typeface="Calibri" pitchFamily="34" charset="0"/>
                <a:ea typeface="Calibri" pitchFamily="34" charset="-122"/>
                <a:cs typeface="Calibri" pitchFamily="34" charset="-120"/>
              </a:rPr>
              <a:t>Active income</a:t>
            </a:r>
            <a:endParaRPr lang="en-US" sz="850" dirty="0"/>
          </a:p>
        </p:txBody>
      </p:sp>
      <p:sp>
        <p:nvSpPr>
          <p:cNvPr id="10" name="Shape 8"/>
          <p:cNvSpPr/>
          <p:nvPr/>
        </p:nvSpPr>
        <p:spPr>
          <a:xfrm>
            <a:off x="2423160" y="1005840"/>
            <a:ext cx="877824" cy="877824"/>
          </a:xfrm>
          <a:prstGeom prst="ellipse">
            <a:avLst/>
          </a:prstGeom>
          <a:solidFill>
            <a:srgbClr val="1A2E45"/>
          </a:solidFill>
          <a:ln w="12700">
            <a:solidFill>
              <a:srgbClr val="1A2E45"/>
            </a:solidFill>
            <a:prstDash val="solid"/>
          </a:ln>
        </p:spPr>
      </p:sp>
      <p:sp>
        <p:nvSpPr>
          <p:cNvPr id="11" name="Text 9"/>
          <p:cNvSpPr/>
          <p:nvPr/>
        </p:nvSpPr>
        <p:spPr>
          <a:xfrm>
            <a:off x="2423160" y="1005840"/>
            <a:ext cx="877824" cy="8778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Age 55</a:t>
            </a:r>
            <a:endParaRPr lang="en-US" sz="1000" dirty="0"/>
          </a:p>
        </p:txBody>
      </p:sp>
      <p:sp>
        <p:nvSpPr>
          <p:cNvPr id="12" name="Text 10"/>
          <p:cNvSpPr/>
          <p:nvPr/>
        </p:nvSpPr>
        <p:spPr>
          <a:xfrm>
            <a:off x="1993392" y="2011680"/>
            <a:ext cx="1719072" cy="201168"/>
          </a:xfrm>
          <a:prstGeom prst="rect">
            <a:avLst/>
          </a:prstGeom>
          <a:noFill/>
          <a:ln/>
        </p:spPr>
        <p:txBody>
          <a:bodyPr wrap="square" lIns="0" tIns="0" rIns="0" bIns="0" rtlCol="0" anchor="ctr"/>
          <a:lstStyle/>
          <a:p>
            <a:pPr algn="ctr" indent="0" marL="0">
              <a:buNone/>
            </a:pPr>
            <a:r>
              <a:rPr lang="en-US" sz="950" b="1" dirty="0">
                <a:solidFill>
                  <a:srgbClr val="0D1B2A"/>
                </a:solidFill>
                <a:latin typeface="Calibri" pitchFamily="34" charset="0"/>
                <a:ea typeface="Calibri" pitchFamily="34" charset="-122"/>
                <a:cs typeface="Calibri" pitchFamily="34" charset="-120"/>
              </a:rPr>
              <a:t>Claire Mercer</a:t>
            </a:r>
            <a:endParaRPr lang="en-US" sz="950" dirty="0"/>
          </a:p>
        </p:txBody>
      </p:sp>
      <p:sp>
        <p:nvSpPr>
          <p:cNvPr id="13" name="Text 11"/>
          <p:cNvSpPr/>
          <p:nvPr/>
        </p:nvSpPr>
        <p:spPr>
          <a:xfrm>
            <a:off x="1993392" y="2231136"/>
            <a:ext cx="1719072" cy="402336"/>
          </a:xfrm>
          <a:prstGeom prst="rect">
            <a:avLst/>
          </a:prstGeom>
          <a:noFill/>
          <a:ln/>
        </p:spPr>
        <p:txBody>
          <a:bodyPr wrap="square" lIns="0" tIns="0" rIns="0" bIns="0" rtlCol="0" anchor="ctr"/>
          <a:lstStyle/>
          <a:p>
            <a:pPr algn="ctr" indent="0" marL="0">
              <a:buNone/>
            </a:pPr>
            <a:r>
              <a:rPr lang="en-US" sz="850" dirty="0">
                <a:solidFill>
                  <a:srgbClr val="718096"/>
                </a:solidFill>
                <a:latin typeface="Calibri" pitchFamily="34" charset="0"/>
                <a:ea typeface="Calibri" pitchFamily="34" charset="-122"/>
                <a:cs typeface="Calibri" pitchFamily="34" charset="-120"/>
              </a:rPr>
              <a:t>Board member</a:t>
            </a:r>
            <a:endParaRPr lang="en-US" sz="850" dirty="0"/>
          </a:p>
          <a:p>
            <a:pPr algn="ctr" indent="0" marL="0">
              <a:buNone/>
            </a:pPr>
            <a:r>
              <a:rPr lang="en-US" sz="850" dirty="0">
                <a:solidFill>
                  <a:srgbClr val="718096"/>
                </a:solidFill>
                <a:latin typeface="Calibri" pitchFamily="34" charset="0"/>
                <a:ea typeface="Calibri" pitchFamily="34" charset="-122"/>
                <a:cs typeface="Calibri" pitchFamily="34" charset="-120"/>
              </a:rPr>
              <a:t>Active income</a:t>
            </a:r>
            <a:endParaRPr lang="en-US" sz="850" dirty="0"/>
          </a:p>
        </p:txBody>
      </p:sp>
      <p:sp>
        <p:nvSpPr>
          <p:cNvPr id="14" name="Shape 12"/>
          <p:cNvSpPr/>
          <p:nvPr/>
        </p:nvSpPr>
        <p:spPr>
          <a:xfrm>
            <a:off x="4160520" y="1005840"/>
            <a:ext cx="877824" cy="877824"/>
          </a:xfrm>
          <a:prstGeom prst="ellipse">
            <a:avLst/>
          </a:prstGeom>
          <a:solidFill>
            <a:srgbClr val="185FA5"/>
          </a:solidFill>
          <a:ln w="12700">
            <a:solidFill>
              <a:srgbClr val="185FA5"/>
            </a:solidFill>
            <a:prstDash val="solid"/>
          </a:ln>
        </p:spPr>
      </p:sp>
      <p:sp>
        <p:nvSpPr>
          <p:cNvPr id="15" name="Text 13"/>
          <p:cNvSpPr/>
          <p:nvPr/>
        </p:nvSpPr>
        <p:spPr>
          <a:xfrm>
            <a:off x="4160520" y="1005840"/>
            <a:ext cx="877824" cy="8778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Age 65</a:t>
            </a:r>
            <a:endParaRPr lang="en-US" sz="1000" dirty="0"/>
          </a:p>
        </p:txBody>
      </p:sp>
      <p:sp>
        <p:nvSpPr>
          <p:cNvPr id="16" name="Text 14"/>
          <p:cNvSpPr/>
          <p:nvPr/>
        </p:nvSpPr>
        <p:spPr>
          <a:xfrm>
            <a:off x="3730752" y="2011680"/>
            <a:ext cx="1719072" cy="201168"/>
          </a:xfrm>
          <a:prstGeom prst="rect">
            <a:avLst/>
          </a:prstGeom>
          <a:noFill/>
          <a:ln/>
        </p:spPr>
        <p:txBody>
          <a:bodyPr wrap="square" lIns="0" tIns="0" rIns="0" bIns="0" rtlCol="0" anchor="ctr"/>
          <a:lstStyle/>
          <a:p>
            <a:pPr algn="ctr" indent="0" marL="0">
              <a:buNone/>
            </a:pPr>
            <a:r>
              <a:rPr lang="en-US" sz="950" b="1" dirty="0">
                <a:solidFill>
                  <a:srgbClr val="0D1B2A"/>
                </a:solidFill>
                <a:latin typeface="Calibri" pitchFamily="34" charset="0"/>
                <a:ea typeface="Calibri" pitchFamily="34" charset="-122"/>
                <a:cs typeface="Calibri" pitchFamily="34" charset="-120"/>
              </a:rPr>
              <a:t>Medicare / SS</a:t>
            </a:r>
            <a:endParaRPr lang="en-US" sz="950" dirty="0"/>
          </a:p>
        </p:txBody>
      </p:sp>
      <p:sp>
        <p:nvSpPr>
          <p:cNvPr id="17" name="Text 15"/>
          <p:cNvSpPr/>
          <p:nvPr/>
        </p:nvSpPr>
        <p:spPr>
          <a:xfrm>
            <a:off x="3730752" y="2231136"/>
            <a:ext cx="1719072" cy="402336"/>
          </a:xfrm>
          <a:prstGeom prst="rect">
            <a:avLst/>
          </a:prstGeom>
          <a:noFill/>
          <a:ln/>
        </p:spPr>
        <p:txBody>
          <a:bodyPr wrap="square" lIns="0" tIns="0" rIns="0" bIns="0" rtlCol="0" anchor="ctr"/>
          <a:lstStyle/>
          <a:p>
            <a:pPr algn="ctr" indent="0" marL="0">
              <a:buNone/>
            </a:pPr>
            <a:r>
              <a:rPr lang="en-US" sz="850" dirty="0">
                <a:solidFill>
                  <a:srgbClr val="718096"/>
                </a:solidFill>
                <a:latin typeface="Calibri" pitchFamily="34" charset="0"/>
                <a:ea typeface="Calibri" pitchFamily="34" charset="-122"/>
                <a:cs typeface="Calibri" pitchFamily="34" charset="-120"/>
              </a:rPr>
              <a:t>Social Security</a:t>
            </a:r>
            <a:endParaRPr lang="en-US" sz="850" dirty="0"/>
          </a:p>
          <a:p>
            <a:pPr algn="ctr" indent="0" marL="0">
              <a:buNone/>
            </a:pPr>
            <a:r>
              <a:rPr lang="en-US" sz="850" dirty="0">
                <a:solidFill>
                  <a:srgbClr val="718096"/>
                </a:solidFill>
                <a:latin typeface="Calibri" pitchFamily="34" charset="0"/>
                <a:ea typeface="Calibri" pitchFamily="34" charset="-122"/>
                <a:cs typeface="Calibri" pitchFamily="34" charset="-120"/>
              </a:rPr>
              <a:t>eligibility begins</a:t>
            </a:r>
            <a:endParaRPr lang="en-US" sz="850" dirty="0"/>
          </a:p>
        </p:txBody>
      </p:sp>
      <p:sp>
        <p:nvSpPr>
          <p:cNvPr id="18" name="Shape 16"/>
          <p:cNvSpPr/>
          <p:nvPr/>
        </p:nvSpPr>
        <p:spPr>
          <a:xfrm>
            <a:off x="5897880" y="1005840"/>
            <a:ext cx="877824" cy="877824"/>
          </a:xfrm>
          <a:prstGeom prst="ellipse">
            <a:avLst/>
          </a:prstGeom>
          <a:solidFill>
            <a:srgbClr val="E8892A"/>
          </a:solidFill>
          <a:ln w="12700">
            <a:solidFill>
              <a:srgbClr val="E8892A"/>
            </a:solidFill>
            <a:prstDash val="solid"/>
          </a:ln>
        </p:spPr>
      </p:sp>
      <p:sp>
        <p:nvSpPr>
          <p:cNvPr id="19" name="Text 17"/>
          <p:cNvSpPr/>
          <p:nvPr/>
        </p:nvSpPr>
        <p:spPr>
          <a:xfrm>
            <a:off x="5897880" y="1005840"/>
            <a:ext cx="877824" cy="8778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Age 72</a:t>
            </a:r>
            <a:endParaRPr lang="en-US" sz="1000" dirty="0"/>
          </a:p>
        </p:txBody>
      </p:sp>
      <p:sp>
        <p:nvSpPr>
          <p:cNvPr id="20" name="Text 18"/>
          <p:cNvSpPr/>
          <p:nvPr/>
        </p:nvSpPr>
        <p:spPr>
          <a:xfrm>
            <a:off x="5468112" y="2011680"/>
            <a:ext cx="1719072" cy="201168"/>
          </a:xfrm>
          <a:prstGeom prst="rect">
            <a:avLst/>
          </a:prstGeom>
          <a:noFill/>
          <a:ln/>
        </p:spPr>
        <p:txBody>
          <a:bodyPr wrap="square" lIns="0" tIns="0" rIns="0" bIns="0" rtlCol="0" anchor="ctr"/>
          <a:lstStyle/>
          <a:p>
            <a:pPr algn="ctr" indent="0" marL="0">
              <a:buNone/>
            </a:pPr>
            <a:r>
              <a:rPr lang="en-US" sz="950" b="1" dirty="0">
                <a:solidFill>
                  <a:srgbClr val="0D1B2A"/>
                </a:solidFill>
                <a:latin typeface="Calibri" pitchFamily="34" charset="0"/>
                <a:ea typeface="Calibri" pitchFamily="34" charset="-122"/>
                <a:cs typeface="Calibri" pitchFamily="34" charset="-120"/>
              </a:rPr>
              <a:t>RMDs Begin</a:t>
            </a:r>
            <a:endParaRPr lang="en-US" sz="950" dirty="0"/>
          </a:p>
        </p:txBody>
      </p:sp>
      <p:sp>
        <p:nvSpPr>
          <p:cNvPr id="21" name="Text 19"/>
          <p:cNvSpPr/>
          <p:nvPr/>
        </p:nvSpPr>
        <p:spPr>
          <a:xfrm>
            <a:off x="5468112" y="2231136"/>
            <a:ext cx="1719072" cy="402336"/>
          </a:xfrm>
          <a:prstGeom prst="rect">
            <a:avLst/>
          </a:prstGeom>
          <a:noFill/>
          <a:ln/>
        </p:spPr>
        <p:txBody>
          <a:bodyPr wrap="square" lIns="0" tIns="0" rIns="0" bIns="0" rtlCol="0" anchor="ctr"/>
          <a:lstStyle/>
          <a:p>
            <a:pPr algn="ctr" indent="0" marL="0">
              <a:buNone/>
            </a:pPr>
            <a:r>
              <a:rPr lang="en-US" sz="850" dirty="0">
                <a:solidFill>
                  <a:srgbClr val="718096"/>
                </a:solidFill>
                <a:latin typeface="Calibri" pitchFamily="34" charset="0"/>
                <a:ea typeface="Calibri" pitchFamily="34" charset="-122"/>
                <a:cs typeface="Calibri" pitchFamily="34" charset="-120"/>
              </a:rPr>
              <a:t>Required minimum</a:t>
            </a:r>
            <a:endParaRPr lang="en-US" sz="850" dirty="0"/>
          </a:p>
          <a:p>
            <a:pPr algn="ctr" indent="0" marL="0">
              <a:buNone/>
            </a:pPr>
            <a:r>
              <a:rPr lang="en-US" sz="850" dirty="0">
                <a:solidFill>
                  <a:srgbClr val="718096"/>
                </a:solidFill>
                <a:latin typeface="Calibri" pitchFamily="34" charset="0"/>
                <a:ea typeface="Calibri" pitchFamily="34" charset="-122"/>
                <a:cs typeface="Calibri" pitchFamily="34" charset="-120"/>
              </a:rPr>
              <a:t>distributions start</a:t>
            </a:r>
            <a:endParaRPr lang="en-US" sz="850" dirty="0"/>
          </a:p>
        </p:txBody>
      </p:sp>
      <p:sp>
        <p:nvSpPr>
          <p:cNvPr id="22" name="Shape 20"/>
          <p:cNvSpPr/>
          <p:nvPr/>
        </p:nvSpPr>
        <p:spPr>
          <a:xfrm>
            <a:off x="7635240" y="1005840"/>
            <a:ext cx="877824" cy="877824"/>
          </a:xfrm>
          <a:prstGeom prst="ellipse">
            <a:avLst/>
          </a:prstGeom>
          <a:solidFill>
            <a:srgbClr val="B5922E"/>
          </a:solidFill>
          <a:ln w="12700">
            <a:solidFill>
              <a:srgbClr val="B5922E"/>
            </a:solidFill>
            <a:prstDash val="solid"/>
          </a:ln>
        </p:spPr>
      </p:sp>
      <p:sp>
        <p:nvSpPr>
          <p:cNvPr id="23" name="Text 21"/>
          <p:cNvSpPr/>
          <p:nvPr/>
        </p:nvSpPr>
        <p:spPr>
          <a:xfrm>
            <a:off x="7635240" y="1005840"/>
            <a:ext cx="877824" cy="8778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Age 95</a:t>
            </a:r>
            <a:endParaRPr lang="en-US" sz="1000" dirty="0"/>
          </a:p>
        </p:txBody>
      </p:sp>
      <p:sp>
        <p:nvSpPr>
          <p:cNvPr id="24" name="Text 22"/>
          <p:cNvSpPr/>
          <p:nvPr/>
        </p:nvSpPr>
        <p:spPr>
          <a:xfrm>
            <a:off x="7205472" y="2011680"/>
            <a:ext cx="1719072" cy="201168"/>
          </a:xfrm>
          <a:prstGeom prst="rect">
            <a:avLst/>
          </a:prstGeom>
          <a:noFill/>
          <a:ln/>
        </p:spPr>
        <p:txBody>
          <a:bodyPr wrap="square" lIns="0" tIns="0" rIns="0" bIns="0" rtlCol="0" anchor="ctr"/>
          <a:lstStyle/>
          <a:p>
            <a:pPr algn="ctr" indent="0" marL="0">
              <a:buNone/>
            </a:pPr>
            <a:r>
              <a:rPr lang="en-US" sz="950" b="1" dirty="0">
                <a:solidFill>
                  <a:srgbClr val="0D1B2A"/>
                </a:solidFill>
                <a:latin typeface="Calibri" pitchFamily="34" charset="0"/>
                <a:ea typeface="Calibri" pitchFamily="34" charset="-122"/>
                <a:cs typeface="Calibri" pitchFamily="34" charset="-120"/>
              </a:rPr>
              <a:t>Planning Horizon</a:t>
            </a:r>
            <a:endParaRPr lang="en-US" sz="950" dirty="0"/>
          </a:p>
        </p:txBody>
      </p:sp>
      <p:sp>
        <p:nvSpPr>
          <p:cNvPr id="25" name="Text 23"/>
          <p:cNvSpPr/>
          <p:nvPr/>
        </p:nvSpPr>
        <p:spPr>
          <a:xfrm>
            <a:off x="7205472" y="2231136"/>
            <a:ext cx="1719072" cy="402336"/>
          </a:xfrm>
          <a:prstGeom prst="rect">
            <a:avLst/>
          </a:prstGeom>
          <a:noFill/>
          <a:ln/>
        </p:spPr>
        <p:txBody>
          <a:bodyPr wrap="square" lIns="0" tIns="0" rIns="0" bIns="0" rtlCol="0" anchor="ctr"/>
          <a:lstStyle/>
          <a:p>
            <a:pPr algn="ctr" indent="0" marL="0">
              <a:buNone/>
            </a:pPr>
            <a:r>
              <a:rPr lang="en-US" sz="850" dirty="0">
                <a:solidFill>
                  <a:srgbClr val="718096"/>
                </a:solidFill>
                <a:latin typeface="Calibri" pitchFamily="34" charset="0"/>
                <a:ea typeface="Calibri" pitchFamily="34" charset="-122"/>
                <a:cs typeface="Calibri" pitchFamily="34" charset="-120"/>
              </a:rPr>
              <a:t>Last death</a:t>
            </a:r>
            <a:endParaRPr lang="en-US" sz="850" dirty="0"/>
          </a:p>
          <a:p>
            <a:pPr algn="ctr" indent="0" marL="0">
              <a:buNone/>
            </a:pPr>
            <a:r>
              <a:rPr lang="en-US" sz="850" dirty="0">
                <a:solidFill>
                  <a:srgbClr val="718096"/>
                </a:solidFill>
                <a:latin typeface="Calibri" pitchFamily="34" charset="0"/>
                <a:ea typeface="Calibri" pitchFamily="34" charset="-122"/>
                <a:cs typeface="Calibri" pitchFamily="34" charset="-120"/>
              </a:rPr>
              <a:t>full estate projection</a:t>
            </a:r>
            <a:endParaRPr lang="en-US" sz="850" dirty="0"/>
          </a:p>
        </p:txBody>
      </p:sp>
      <p:sp>
        <p:nvSpPr>
          <p:cNvPr id="26" name="Text 24"/>
          <p:cNvSpPr/>
          <p:nvPr/>
        </p:nvSpPr>
        <p:spPr>
          <a:xfrm>
            <a:off x="256032" y="2651760"/>
            <a:ext cx="8686800" cy="182880"/>
          </a:xfrm>
          <a:prstGeom prst="rect">
            <a:avLst/>
          </a:prstGeom>
          <a:noFill/>
          <a:ln/>
        </p:spPr>
        <p:txBody>
          <a:bodyPr wrap="square" lIns="0" tIns="0" rIns="0" bIns="0" rtlCol="0" anchor="ctr"/>
          <a:lstStyle/>
          <a:p>
            <a:pPr indent="0" marL="0">
              <a:buNone/>
            </a:pPr>
            <a:r>
              <a:rPr lang="en-US" sz="850" b="1" spc="200" kern="0" dirty="0">
                <a:solidFill>
                  <a:srgbClr val="B5922E"/>
                </a:solidFill>
                <a:latin typeface="Calibri" pitchFamily="34" charset="0"/>
                <a:ea typeface="Calibri" pitchFamily="34" charset="-122"/>
                <a:cs typeface="Calibri" pitchFamily="34" charset="-120"/>
              </a:rPr>
              <a:t>RETIREMENT READINESS ANALYSIS</a:t>
            </a:r>
            <a:endParaRPr lang="en-US" sz="850" dirty="0"/>
          </a:p>
        </p:txBody>
      </p:sp>
      <p:sp>
        <p:nvSpPr>
          <p:cNvPr id="27" name="Shape 25"/>
          <p:cNvSpPr/>
          <p:nvPr/>
        </p:nvSpPr>
        <p:spPr>
          <a:xfrm>
            <a:off x="256032" y="2889504"/>
            <a:ext cx="8686800" cy="603504"/>
          </a:xfrm>
          <a:prstGeom prst="rect">
            <a:avLst/>
          </a:prstGeom>
          <a:solidFill>
            <a:srgbClr val="F0F4FB"/>
          </a:solidFill>
          <a:ln w="9525">
            <a:solidFill>
              <a:srgbClr val="185FA5"/>
            </a:solidFill>
            <a:prstDash val="solid"/>
          </a:ln>
        </p:spPr>
      </p:sp>
      <p:sp>
        <p:nvSpPr>
          <p:cNvPr id="28" name="Shape 26"/>
          <p:cNvSpPr/>
          <p:nvPr/>
        </p:nvSpPr>
        <p:spPr>
          <a:xfrm>
            <a:off x="256032" y="2889504"/>
            <a:ext cx="54864" cy="603504"/>
          </a:xfrm>
          <a:prstGeom prst="rect">
            <a:avLst/>
          </a:prstGeom>
          <a:solidFill>
            <a:srgbClr val="185FA5"/>
          </a:solidFill>
          <a:ln w="12700">
            <a:solidFill>
              <a:srgbClr val="185FA5"/>
            </a:solidFill>
            <a:prstDash val="solid"/>
          </a:ln>
        </p:spPr>
      </p:sp>
      <p:sp>
        <p:nvSpPr>
          <p:cNvPr id="29" name="Text 27"/>
          <p:cNvSpPr/>
          <p:nvPr/>
        </p:nvSpPr>
        <p:spPr>
          <a:xfrm>
            <a:off x="402336" y="2962656"/>
            <a:ext cx="2011680" cy="201168"/>
          </a:xfrm>
          <a:prstGeom prst="rect">
            <a:avLst/>
          </a:prstGeom>
          <a:noFill/>
          <a:ln/>
        </p:spPr>
        <p:txBody>
          <a:bodyPr wrap="square" lIns="0" tIns="0" rIns="0" bIns="0" rtlCol="0" anchor="ctr"/>
          <a:lstStyle/>
          <a:p>
            <a:pPr indent="0" marL="0">
              <a:buNone/>
            </a:pPr>
            <a:r>
              <a:rPr lang="en-US" sz="1000" b="1" dirty="0">
                <a:solidFill>
                  <a:srgbClr val="0C447C"/>
                </a:solidFill>
                <a:latin typeface="Calibri" pitchFamily="34" charset="0"/>
                <a:ea typeface="Calibri" pitchFamily="34" charset="-122"/>
                <a:cs typeface="Calibri" pitchFamily="34" charset="-120"/>
              </a:rPr>
              <a:t>Retirement Account (0007C)</a:t>
            </a:r>
            <a:endParaRPr lang="en-US" sz="1000" dirty="0"/>
          </a:p>
        </p:txBody>
      </p:sp>
      <p:sp>
        <p:nvSpPr>
          <p:cNvPr id="30" name="Text 28"/>
          <p:cNvSpPr/>
          <p:nvPr/>
        </p:nvSpPr>
        <p:spPr>
          <a:xfrm>
            <a:off x="402336" y="3200400"/>
            <a:ext cx="2011680" cy="219456"/>
          </a:xfrm>
          <a:prstGeom prst="rect">
            <a:avLst/>
          </a:prstGeom>
          <a:noFill/>
          <a:ln/>
        </p:spPr>
        <p:txBody>
          <a:bodyPr wrap="square" lIns="0" tIns="0" rIns="0" bIns="0" rtlCol="0" anchor="ctr"/>
          <a:lstStyle/>
          <a:p>
            <a:pPr indent="0" marL="0">
              <a:buNone/>
            </a:pPr>
            <a:r>
              <a:rPr lang="en-US" sz="1200" b="1" dirty="0">
                <a:solidFill>
                  <a:srgbClr val="0C447C"/>
                </a:solidFill>
                <a:latin typeface="Garamond" pitchFamily="34" charset="0"/>
                <a:ea typeface="Garamond" pitchFamily="34" charset="-122"/>
                <a:cs typeface="Garamond" pitchFamily="34" charset="-120"/>
              </a:rPr>
              <a:t>$3,000,000</a:t>
            </a:r>
            <a:endParaRPr lang="en-US" sz="1200" dirty="0"/>
          </a:p>
        </p:txBody>
      </p:sp>
      <p:sp>
        <p:nvSpPr>
          <p:cNvPr id="31" name="Text 29"/>
          <p:cNvSpPr/>
          <p:nvPr/>
        </p:nvSpPr>
        <p:spPr>
          <a:xfrm>
            <a:off x="2560320" y="3017520"/>
            <a:ext cx="6217920" cy="365760"/>
          </a:xfrm>
          <a:prstGeom prst="rect">
            <a:avLst/>
          </a:prstGeom>
          <a:noFill/>
          <a:ln/>
        </p:spPr>
        <p:txBody>
          <a:bodyPr wrap="square" lIns="0" tIns="0" rIns="0" bIns="0" rtlCol="0" anchor="ctr"/>
          <a:lstStyle/>
          <a:p>
            <a:pPr indent="0" marL="0">
              <a:buNone/>
            </a:pPr>
            <a:r>
              <a:rPr lang="en-US" sz="950" dirty="0">
                <a:solidFill>
                  <a:srgbClr val="0C447C"/>
                </a:solidFill>
                <a:latin typeface="Calibri" pitchFamily="34" charset="0"/>
                <a:ea typeface="Calibri" pitchFamily="34" charset="-122"/>
                <a:cs typeface="Calibri" pitchFamily="34" charset="-120"/>
              </a:rPr>
              <a:t>Tax-deferred · Vanguard index funds · Subject to RMDs at age 72</a:t>
            </a:r>
            <a:endParaRPr lang="en-US" sz="950" dirty="0"/>
          </a:p>
        </p:txBody>
      </p:sp>
      <p:sp>
        <p:nvSpPr>
          <p:cNvPr id="32" name="Shape 30"/>
          <p:cNvSpPr/>
          <p:nvPr/>
        </p:nvSpPr>
        <p:spPr>
          <a:xfrm>
            <a:off x="256032" y="3566160"/>
            <a:ext cx="8686800" cy="603504"/>
          </a:xfrm>
          <a:prstGeom prst="rect">
            <a:avLst/>
          </a:prstGeom>
          <a:solidFill>
            <a:srgbClr val="EFF7F2"/>
          </a:solidFill>
          <a:ln w="9525">
            <a:solidFill>
              <a:srgbClr val="1A6B45"/>
            </a:solidFill>
            <a:prstDash val="solid"/>
          </a:ln>
        </p:spPr>
      </p:sp>
      <p:sp>
        <p:nvSpPr>
          <p:cNvPr id="33" name="Shape 31"/>
          <p:cNvSpPr/>
          <p:nvPr/>
        </p:nvSpPr>
        <p:spPr>
          <a:xfrm>
            <a:off x="256032" y="3566160"/>
            <a:ext cx="54864" cy="603504"/>
          </a:xfrm>
          <a:prstGeom prst="rect">
            <a:avLst/>
          </a:prstGeom>
          <a:solidFill>
            <a:srgbClr val="1A6B45"/>
          </a:solidFill>
          <a:ln w="12700">
            <a:solidFill>
              <a:srgbClr val="1A6B45"/>
            </a:solidFill>
            <a:prstDash val="solid"/>
          </a:ln>
        </p:spPr>
      </p:sp>
      <p:sp>
        <p:nvSpPr>
          <p:cNvPr id="34" name="Text 32"/>
          <p:cNvSpPr/>
          <p:nvPr/>
        </p:nvSpPr>
        <p:spPr>
          <a:xfrm>
            <a:off x="402336" y="3639312"/>
            <a:ext cx="2011680" cy="201168"/>
          </a:xfrm>
          <a:prstGeom prst="rect">
            <a:avLst/>
          </a:prstGeom>
          <a:noFill/>
          <a:ln/>
        </p:spPr>
        <p:txBody>
          <a:bodyPr wrap="square" lIns="0" tIns="0" rIns="0" bIns="0" rtlCol="0" anchor="ctr"/>
          <a:lstStyle/>
          <a:p>
            <a:pPr indent="0" marL="0">
              <a:buNone/>
            </a:pPr>
            <a:r>
              <a:rPr lang="en-US" sz="1000" b="1" dirty="0">
                <a:solidFill>
                  <a:srgbClr val="1A6B45"/>
                </a:solidFill>
                <a:latin typeface="Calibri" pitchFamily="34" charset="0"/>
                <a:ea typeface="Calibri" pitchFamily="34" charset="-122"/>
                <a:cs typeface="Calibri" pitchFamily="34" charset="-120"/>
              </a:rPr>
              <a:t>CRT Income Stream</a:t>
            </a:r>
            <a:endParaRPr lang="en-US" sz="1000" dirty="0"/>
          </a:p>
        </p:txBody>
      </p:sp>
      <p:sp>
        <p:nvSpPr>
          <p:cNvPr id="35" name="Text 33"/>
          <p:cNvSpPr/>
          <p:nvPr/>
        </p:nvSpPr>
        <p:spPr>
          <a:xfrm>
            <a:off x="402336" y="3877056"/>
            <a:ext cx="2011680" cy="219456"/>
          </a:xfrm>
          <a:prstGeom prst="rect">
            <a:avLst/>
          </a:prstGeom>
          <a:noFill/>
          <a:ln/>
        </p:spPr>
        <p:txBody>
          <a:bodyPr wrap="square" lIns="0" tIns="0" rIns="0" bIns="0" rtlCol="0" anchor="ctr"/>
          <a:lstStyle/>
          <a:p>
            <a:pPr indent="0" marL="0">
              <a:buNone/>
            </a:pPr>
            <a:r>
              <a:rPr lang="en-US" sz="1200" b="1" dirty="0">
                <a:solidFill>
                  <a:srgbClr val="1A6B45"/>
                </a:solidFill>
                <a:latin typeface="Garamond" pitchFamily="34" charset="0"/>
                <a:ea typeface="Garamond" pitchFamily="34" charset="-122"/>
                <a:cs typeface="Garamond" pitchFamily="34" charset="-120"/>
              </a:rPr>
              <a:t>$750,000/yr</a:t>
            </a:r>
            <a:endParaRPr lang="en-US" sz="1200" dirty="0"/>
          </a:p>
        </p:txBody>
      </p:sp>
      <p:sp>
        <p:nvSpPr>
          <p:cNvPr id="36" name="Text 34"/>
          <p:cNvSpPr/>
          <p:nvPr/>
        </p:nvSpPr>
        <p:spPr>
          <a:xfrm>
            <a:off x="2560320" y="3694176"/>
            <a:ext cx="6217920" cy="365760"/>
          </a:xfrm>
          <a:prstGeom prst="rect">
            <a:avLst/>
          </a:prstGeom>
          <a:noFill/>
          <a:ln/>
        </p:spPr>
        <p:txBody>
          <a:bodyPr wrap="square" lIns="0" tIns="0" rIns="0" bIns="0" rtlCol="0" anchor="ctr"/>
          <a:lstStyle/>
          <a:p>
            <a:pPr indent="0" marL="0">
              <a:buNone/>
            </a:pPr>
            <a:r>
              <a:rPr lang="en-US" sz="950" dirty="0">
                <a:solidFill>
                  <a:srgbClr val="1A6B45"/>
                </a:solidFill>
                <a:latin typeface="Calibri" pitchFamily="34" charset="0"/>
                <a:ea typeface="Calibri" pitchFamily="34" charset="-122"/>
                <a:cs typeface="Calibri" pitchFamily="34" charset="-120"/>
              </a:rPr>
              <a:t>5% payout from $15M trust · Provides lifetime income for Daniel &amp; Claire · First payout year 1</a:t>
            </a:r>
            <a:endParaRPr lang="en-US" sz="950" dirty="0"/>
          </a:p>
        </p:txBody>
      </p:sp>
      <p:sp>
        <p:nvSpPr>
          <p:cNvPr id="37" name="Shape 35"/>
          <p:cNvSpPr/>
          <p:nvPr/>
        </p:nvSpPr>
        <p:spPr>
          <a:xfrm>
            <a:off x="256032" y="4242816"/>
            <a:ext cx="8686800" cy="603504"/>
          </a:xfrm>
          <a:prstGeom prst="rect">
            <a:avLst/>
          </a:prstGeom>
          <a:solidFill>
            <a:srgbClr val="F5F0E6"/>
          </a:solidFill>
          <a:ln w="9525">
            <a:solidFill>
              <a:srgbClr val="B5922E"/>
            </a:solidFill>
            <a:prstDash val="solid"/>
          </a:ln>
        </p:spPr>
      </p:sp>
      <p:sp>
        <p:nvSpPr>
          <p:cNvPr id="38" name="Shape 36"/>
          <p:cNvSpPr/>
          <p:nvPr/>
        </p:nvSpPr>
        <p:spPr>
          <a:xfrm>
            <a:off x="256032" y="4242816"/>
            <a:ext cx="54864" cy="603504"/>
          </a:xfrm>
          <a:prstGeom prst="rect">
            <a:avLst/>
          </a:prstGeom>
          <a:solidFill>
            <a:srgbClr val="B5922E"/>
          </a:solidFill>
          <a:ln w="12700">
            <a:solidFill>
              <a:srgbClr val="B5922E"/>
            </a:solidFill>
            <a:prstDash val="solid"/>
          </a:ln>
        </p:spPr>
      </p:sp>
      <p:sp>
        <p:nvSpPr>
          <p:cNvPr id="39" name="Text 37"/>
          <p:cNvSpPr/>
          <p:nvPr/>
        </p:nvSpPr>
        <p:spPr>
          <a:xfrm>
            <a:off x="402336" y="4315968"/>
            <a:ext cx="2011680" cy="201168"/>
          </a:xfrm>
          <a:prstGeom prst="rect">
            <a:avLst/>
          </a:prstGeom>
          <a:noFill/>
          <a:ln/>
        </p:spPr>
        <p:txBody>
          <a:bodyPr wrap="square" lIns="0" tIns="0" rIns="0" bIns="0" rtlCol="0" anchor="ctr"/>
          <a:lstStyle/>
          <a:p>
            <a:pPr indent="0" marL="0">
              <a:buNone/>
            </a:pPr>
            <a:r>
              <a:rPr lang="en-US" sz="1000" b="1" dirty="0">
                <a:solidFill>
                  <a:srgbClr val="5C4000"/>
                </a:solidFill>
                <a:latin typeface="Calibri" pitchFamily="34" charset="0"/>
                <a:ea typeface="Calibri" pitchFamily="34" charset="-122"/>
                <a:cs typeface="Calibri" pitchFamily="34" charset="-120"/>
              </a:rPr>
              <a:t>Portfolio Withdrawal Capacity</a:t>
            </a:r>
            <a:endParaRPr lang="en-US" sz="1000" dirty="0"/>
          </a:p>
        </p:txBody>
      </p:sp>
      <p:sp>
        <p:nvSpPr>
          <p:cNvPr id="40" name="Text 38"/>
          <p:cNvSpPr/>
          <p:nvPr/>
        </p:nvSpPr>
        <p:spPr>
          <a:xfrm>
            <a:off x="402336" y="4553712"/>
            <a:ext cx="2011680" cy="219456"/>
          </a:xfrm>
          <a:prstGeom prst="rect">
            <a:avLst/>
          </a:prstGeom>
          <a:noFill/>
          <a:ln/>
        </p:spPr>
        <p:txBody>
          <a:bodyPr wrap="square" lIns="0" tIns="0" rIns="0" bIns="0" rtlCol="0" anchor="ctr"/>
          <a:lstStyle/>
          <a:p>
            <a:pPr indent="0" marL="0">
              <a:buNone/>
            </a:pPr>
            <a:r>
              <a:rPr lang="en-US" sz="1200" b="1" dirty="0">
                <a:solidFill>
                  <a:srgbClr val="5C4000"/>
                </a:solidFill>
                <a:latin typeface="Garamond" pitchFamily="34" charset="0"/>
                <a:ea typeface="Garamond" pitchFamily="34" charset="-122"/>
                <a:cs typeface="Garamond" pitchFamily="34" charset="-120"/>
              </a:rPr>
              <a:t>~$2.16M/yr</a:t>
            </a:r>
            <a:endParaRPr lang="en-US" sz="1200" dirty="0"/>
          </a:p>
        </p:txBody>
      </p:sp>
      <p:sp>
        <p:nvSpPr>
          <p:cNvPr id="41" name="Text 39"/>
          <p:cNvSpPr/>
          <p:nvPr/>
        </p:nvSpPr>
        <p:spPr>
          <a:xfrm>
            <a:off x="2560320" y="4370832"/>
            <a:ext cx="6217920" cy="365760"/>
          </a:xfrm>
          <a:prstGeom prst="rect">
            <a:avLst/>
          </a:prstGeom>
          <a:noFill/>
          <a:ln/>
        </p:spPr>
        <p:txBody>
          <a:bodyPr wrap="square" lIns="0" tIns="0" rIns="0" bIns="0" rtlCol="0" anchor="ctr"/>
          <a:lstStyle/>
          <a:p>
            <a:pPr indent="0" marL="0">
              <a:buNone/>
            </a:pPr>
            <a:r>
              <a:rPr lang="en-US" sz="950" dirty="0">
                <a:solidFill>
                  <a:srgbClr val="5C4000"/>
                </a:solidFill>
                <a:latin typeface="Calibri" pitchFamily="34" charset="0"/>
                <a:ea typeface="Calibri" pitchFamily="34" charset="-122"/>
                <a:cs typeface="Calibri" pitchFamily="34" charset="-120"/>
              </a:rPr>
              <a:t>Sustainable 3% withdrawal rate on $72M portfolio without touching principal (4% = $2.88M/yr)</a:t>
            </a:r>
            <a:endParaRPr lang="en-US" sz="950" dirty="0"/>
          </a:p>
        </p:txBody>
      </p:sp>
      <p:sp>
        <p:nvSpPr>
          <p:cNvPr id="42" name="Text 40"/>
          <p:cNvSpPr/>
          <p:nvPr/>
        </p:nvSpPr>
        <p:spPr>
          <a:xfrm>
            <a:off x="256032" y="4882896"/>
            <a:ext cx="8686800" cy="164592"/>
          </a:xfrm>
          <a:prstGeom prst="rect">
            <a:avLst/>
          </a:prstGeom>
          <a:noFill/>
          <a:ln/>
        </p:spPr>
        <p:txBody>
          <a:bodyPr wrap="square" lIns="0" tIns="0" rIns="0" bIns="0" rtlCol="0" anchor="ctr"/>
          <a:lstStyle/>
          <a:p>
            <a:pPr indent="0" marL="0">
              <a:buNone/>
            </a:pPr>
            <a:r>
              <a:rPr lang="en-US" sz="800" i="1" dirty="0">
                <a:solidFill>
                  <a:srgbClr val="718096"/>
                </a:solidFill>
                <a:latin typeface="Calibri" pitchFamily="34" charset="0"/>
                <a:ea typeface="Calibri" pitchFamily="34" charset="-122"/>
                <a:cs typeface="Calibri" pitchFamily="34" charset="-120"/>
              </a:rPr>
              <a:t>The Mercer Household does not need to rely on the investment portfolio for near-term living expenses. This supports a longer time horizon and higher growth orientation.</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1B2A"/>
          </a:solidFill>
          <a:ln w="12700">
            <a:solidFill>
              <a:srgbClr val="0D1B2A"/>
            </a:solidFill>
            <a:prstDash val="solid"/>
          </a:ln>
        </p:spPr>
      </p:sp>
      <p:sp>
        <p:nvSpPr>
          <p:cNvPr id="3" name="Text 1"/>
          <p:cNvSpPr/>
          <p:nvPr/>
        </p:nvSpPr>
        <p:spPr>
          <a:xfrm>
            <a:off x="256032" y="274320"/>
            <a:ext cx="7315200" cy="201168"/>
          </a:xfrm>
          <a:prstGeom prst="rect">
            <a:avLst/>
          </a:prstGeom>
          <a:noFill/>
          <a:ln/>
        </p:spPr>
        <p:txBody>
          <a:bodyPr wrap="square" lIns="0" tIns="0" rIns="0" bIns="0" rtlCol="0" anchor="ctr"/>
          <a:lstStyle/>
          <a:p>
            <a:pPr indent="0" marL="0">
              <a:buNone/>
            </a:pPr>
            <a:r>
              <a:rPr lang="en-US" sz="900" b="1" spc="300" kern="0" dirty="0">
                <a:solidFill>
                  <a:srgbClr val="B5922E"/>
                </a:solidFill>
                <a:latin typeface="Calibri" pitchFamily="34" charset="0"/>
                <a:ea typeface="Calibri" pitchFamily="34" charset="-122"/>
                <a:cs typeface="Calibri" pitchFamily="34" charset="-120"/>
              </a:rPr>
              <a:t>PLANNING MODULE · LEGACY &amp; WEALTH TRANSFER</a:t>
            </a:r>
            <a:endParaRPr lang="en-US" sz="900" dirty="0"/>
          </a:p>
        </p:txBody>
      </p:sp>
      <p:sp>
        <p:nvSpPr>
          <p:cNvPr id="4" name="Text 2"/>
          <p:cNvSpPr/>
          <p:nvPr/>
        </p:nvSpPr>
        <p:spPr>
          <a:xfrm>
            <a:off x="256032" y="493776"/>
            <a:ext cx="8686800" cy="502920"/>
          </a:xfrm>
          <a:prstGeom prst="rect">
            <a:avLst/>
          </a:prstGeom>
          <a:noFill/>
          <a:ln/>
        </p:spPr>
        <p:txBody>
          <a:bodyPr wrap="square" lIns="0" tIns="0" rIns="0" bIns="0" rtlCol="0" anchor="ctr"/>
          <a:lstStyle/>
          <a:p>
            <a:pPr indent="0" marL="0">
              <a:buNone/>
            </a:pPr>
            <a:r>
              <a:rPr lang="en-US" sz="2400" b="1" dirty="0">
                <a:solidFill>
                  <a:srgbClr val="0D1B2A"/>
                </a:solidFill>
                <a:latin typeface="Garamond" pitchFamily="34" charset="0"/>
                <a:ea typeface="Garamond" pitchFamily="34" charset="-122"/>
                <a:cs typeface="Garamond" pitchFamily="34" charset="-120"/>
              </a:rPr>
              <a:t>Legacy &amp; Wealth Transfer</a:t>
            </a:r>
            <a:endParaRPr lang="en-US" sz="2400" dirty="0"/>
          </a:p>
        </p:txBody>
      </p:sp>
      <p:sp>
        <p:nvSpPr>
          <p:cNvPr id="5" name="Text 3"/>
          <p:cNvSpPr/>
          <p:nvPr/>
        </p:nvSpPr>
        <p:spPr>
          <a:xfrm>
            <a:off x="256032" y="1024128"/>
            <a:ext cx="4187952" cy="182880"/>
          </a:xfrm>
          <a:prstGeom prst="rect">
            <a:avLst/>
          </a:prstGeom>
          <a:noFill/>
          <a:ln/>
        </p:spPr>
        <p:txBody>
          <a:bodyPr wrap="square" lIns="0" tIns="0" rIns="0" bIns="0" rtlCol="0" anchor="ctr"/>
          <a:lstStyle/>
          <a:p>
            <a:pPr indent="0" marL="0">
              <a:buNone/>
            </a:pPr>
            <a:r>
              <a:rPr lang="en-US" sz="850" b="1" spc="200" kern="0" dirty="0">
                <a:solidFill>
                  <a:srgbClr val="B5922E"/>
                </a:solidFill>
                <a:latin typeface="Calibri" pitchFamily="34" charset="0"/>
                <a:ea typeface="Calibri" pitchFamily="34" charset="-122"/>
                <a:cs typeface="Calibri" pitchFamily="34" charset="-120"/>
              </a:rPr>
              <a:t>FAMILY GOVERNANCE</a:t>
            </a:r>
            <a:endParaRPr lang="en-US" sz="850" dirty="0"/>
          </a:p>
        </p:txBody>
      </p:sp>
      <p:sp>
        <p:nvSpPr>
          <p:cNvPr id="6" name="Shape 4"/>
          <p:cNvSpPr/>
          <p:nvPr/>
        </p:nvSpPr>
        <p:spPr>
          <a:xfrm>
            <a:off x="256032" y="1261872"/>
            <a:ext cx="4187952" cy="658368"/>
          </a:xfrm>
          <a:prstGeom prst="rect">
            <a:avLst/>
          </a:prstGeom>
          <a:solidFill>
            <a:srgbClr val="FFFFFF"/>
          </a:solidFill>
          <a:ln w="6350">
            <a:solidFill>
              <a:srgbClr val="DEDEDE"/>
            </a:solidFill>
            <a:prstDash val="solid"/>
          </a:ln>
        </p:spPr>
      </p:sp>
      <p:sp>
        <p:nvSpPr>
          <p:cNvPr id="7" name="Shape 5"/>
          <p:cNvSpPr/>
          <p:nvPr/>
        </p:nvSpPr>
        <p:spPr>
          <a:xfrm>
            <a:off x="329184" y="1389888"/>
            <a:ext cx="402336" cy="402336"/>
          </a:xfrm>
          <a:prstGeom prst="ellipse">
            <a:avLst/>
          </a:prstGeom>
          <a:solidFill>
            <a:srgbClr val="0D1B2A"/>
          </a:solidFill>
          <a:ln w="12700">
            <a:solidFill>
              <a:srgbClr val="0D1B2A"/>
            </a:solidFill>
            <a:prstDash val="solid"/>
          </a:ln>
        </p:spPr>
      </p:sp>
      <p:sp>
        <p:nvSpPr>
          <p:cNvPr id="8" name="Text 6"/>
          <p:cNvSpPr/>
          <p:nvPr/>
        </p:nvSpPr>
        <p:spPr>
          <a:xfrm>
            <a:off x="329184" y="1389888"/>
            <a:ext cx="402336"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DM</a:t>
            </a:r>
            <a:endParaRPr lang="en-US" sz="1000" dirty="0"/>
          </a:p>
        </p:txBody>
      </p:sp>
      <p:sp>
        <p:nvSpPr>
          <p:cNvPr id="9" name="Text 7"/>
          <p:cNvSpPr/>
          <p:nvPr/>
        </p:nvSpPr>
        <p:spPr>
          <a:xfrm>
            <a:off x="804672" y="1335024"/>
            <a:ext cx="3511296" cy="201168"/>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Daniel Mercer</a:t>
            </a:r>
            <a:endParaRPr lang="en-US" sz="1050" dirty="0"/>
          </a:p>
        </p:txBody>
      </p:sp>
      <p:sp>
        <p:nvSpPr>
          <p:cNvPr id="10" name="Text 8"/>
          <p:cNvSpPr/>
          <p:nvPr/>
        </p:nvSpPr>
        <p:spPr>
          <a:xfrm>
            <a:off x="804672" y="1536192"/>
            <a:ext cx="3511296" cy="164592"/>
          </a:xfrm>
          <a:prstGeom prst="rect">
            <a:avLst/>
          </a:prstGeom>
          <a:noFill/>
          <a:ln/>
        </p:spPr>
        <p:txBody>
          <a:bodyPr wrap="square" lIns="0" tIns="0" rIns="0" bIns="0" rtlCol="0" anchor="ctr"/>
          <a:lstStyle/>
          <a:p>
            <a:pPr indent="0" marL="0">
              <a:buNone/>
            </a:pPr>
            <a:r>
              <a:rPr lang="en-US" sz="900" dirty="0">
                <a:solidFill>
                  <a:srgbClr val="0D1B2A"/>
                </a:solidFill>
                <a:latin typeface="Calibri" pitchFamily="34" charset="0"/>
                <a:ea typeface="Calibri" pitchFamily="34" charset="-122"/>
                <a:cs typeface="Calibri" pitchFamily="34" charset="-120"/>
              </a:rPr>
              <a:t>Primary decision-maker</a:t>
            </a:r>
            <a:endParaRPr lang="en-US" sz="900" dirty="0"/>
          </a:p>
        </p:txBody>
      </p:sp>
      <p:sp>
        <p:nvSpPr>
          <p:cNvPr id="11" name="Text 9"/>
          <p:cNvSpPr/>
          <p:nvPr/>
        </p:nvSpPr>
        <p:spPr>
          <a:xfrm>
            <a:off x="804672" y="1700784"/>
            <a:ext cx="3511296" cy="164592"/>
          </a:xfrm>
          <a:prstGeom prst="rect">
            <a:avLst/>
          </a:prstGeom>
          <a:noFill/>
          <a:ln/>
        </p:spPr>
        <p:txBody>
          <a:bodyPr wrap="square" lIns="0" tIns="0" rIns="0" bIns="0" rtlCol="0" anchor="ctr"/>
          <a:lstStyle/>
          <a:p>
            <a:pPr indent="0" marL="0">
              <a:buNone/>
            </a:pPr>
            <a:r>
              <a:rPr lang="en-US" sz="850" dirty="0">
                <a:solidFill>
                  <a:srgbClr val="718096"/>
                </a:solidFill>
                <a:latin typeface="Calibri" pitchFamily="34" charset="0"/>
                <a:ea typeface="Calibri" pitchFamily="34" charset="-122"/>
                <a:cs typeface="Calibri" pitchFamily="34" charset="-120"/>
              </a:rPr>
              <a:t>NVDA position, portfolio direction, major transactions</a:t>
            </a:r>
            <a:endParaRPr lang="en-US" sz="850" dirty="0"/>
          </a:p>
        </p:txBody>
      </p:sp>
      <p:sp>
        <p:nvSpPr>
          <p:cNvPr id="12" name="Shape 10"/>
          <p:cNvSpPr/>
          <p:nvPr/>
        </p:nvSpPr>
        <p:spPr>
          <a:xfrm>
            <a:off x="256032" y="2011680"/>
            <a:ext cx="4187952" cy="658368"/>
          </a:xfrm>
          <a:prstGeom prst="rect">
            <a:avLst/>
          </a:prstGeom>
          <a:solidFill>
            <a:srgbClr val="FFFFFF"/>
          </a:solidFill>
          <a:ln w="6350">
            <a:solidFill>
              <a:srgbClr val="DEDEDE"/>
            </a:solidFill>
            <a:prstDash val="solid"/>
          </a:ln>
        </p:spPr>
      </p:sp>
      <p:sp>
        <p:nvSpPr>
          <p:cNvPr id="13" name="Shape 11"/>
          <p:cNvSpPr/>
          <p:nvPr/>
        </p:nvSpPr>
        <p:spPr>
          <a:xfrm>
            <a:off x="329184" y="2139696"/>
            <a:ext cx="402336" cy="402336"/>
          </a:xfrm>
          <a:prstGeom prst="ellipse">
            <a:avLst/>
          </a:prstGeom>
          <a:solidFill>
            <a:srgbClr val="1A2E45"/>
          </a:solidFill>
          <a:ln w="12700">
            <a:solidFill>
              <a:srgbClr val="1A2E45"/>
            </a:solidFill>
            <a:prstDash val="solid"/>
          </a:ln>
        </p:spPr>
      </p:sp>
      <p:sp>
        <p:nvSpPr>
          <p:cNvPr id="14" name="Text 12"/>
          <p:cNvSpPr/>
          <p:nvPr/>
        </p:nvSpPr>
        <p:spPr>
          <a:xfrm>
            <a:off x="329184" y="2139696"/>
            <a:ext cx="402336"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CM</a:t>
            </a:r>
            <a:endParaRPr lang="en-US" sz="1000" dirty="0"/>
          </a:p>
        </p:txBody>
      </p:sp>
      <p:sp>
        <p:nvSpPr>
          <p:cNvPr id="15" name="Text 13"/>
          <p:cNvSpPr/>
          <p:nvPr/>
        </p:nvSpPr>
        <p:spPr>
          <a:xfrm>
            <a:off x="804672" y="2084832"/>
            <a:ext cx="3511296" cy="201168"/>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Claire Mercer</a:t>
            </a:r>
            <a:endParaRPr lang="en-US" sz="1050" dirty="0"/>
          </a:p>
        </p:txBody>
      </p:sp>
      <p:sp>
        <p:nvSpPr>
          <p:cNvPr id="16" name="Text 14"/>
          <p:cNvSpPr/>
          <p:nvPr/>
        </p:nvSpPr>
        <p:spPr>
          <a:xfrm>
            <a:off x="804672" y="2286000"/>
            <a:ext cx="3511296" cy="164592"/>
          </a:xfrm>
          <a:prstGeom prst="rect">
            <a:avLst/>
          </a:prstGeom>
          <a:noFill/>
          <a:ln/>
        </p:spPr>
        <p:txBody>
          <a:bodyPr wrap="square" lIns="0" tIns="0" rIns="0" bIns="0" rtlCol="0" anchor="ctr"/>
          <a:lstStyle/>
          <a:p>
            <a:pPr indent="0" marL="0">
              <a:buNone/>
            </a:pPr>
            <a:r>
              <a:rPr lang="en-US" sz="900" dirty="0">
                <a:solidFill>
                  <a:srgbClr val="1A2E45"/>
                </a:solidFill>
                <a:latin typeface="Calibri" pitchFamily="34" charset="0"/>
                <a:ea typeface="Calibri" pitchFamily="34" charset="-122"/>
                <a:cs typeface="Calibri" pitchFamily="34" charset="-120"/>
              </a:rPr>
              <a:t>Philanthropy &amp; legacy lead</a:t>
            </a:r>
            <a:endParaRPr lang="en-US" sz="900" dirty="0"/>
          </a:p>
        </p:txBody>
      </p:sp>
      <p:sp>
        <p:nvSpPr>
          <p:cNvPr id="17" name="Text 15"/>
          <p:cNvSpPr/>
          <p:nvPr/>
        </p:nvSpPr>
        <p:spPr>
          <a:xfrm>
            <a:off x="804672" y="2450592"/>
            <a:ext cx="3511296" cy="164592"/>
          </a:xfrm>
          <a:prstGeom prst="rect">
            <a:avLst/>
          </a:prstGeom>
          <a:noFill/>
          <a:ln/>
        </p:spPr>
        <p:txBody>
          <a:bodyPr wrap="square" lIns="0" tIns="0" rIns="0" bIns="0" rtlCol="0" anchor="ctr"/>
          <a:lstStyle/>
          <a:p>
            <a:pPr indent="0" marL="0">
              <a:buNone/>
            </a:pPr>
            <a:r>
              <a:rPr lang="en-US" sz="850" dirty="0">
                <a:solidFill>
                  <a:srgbClr val="718096"/>
                </a:solidFill>
                <a:latin typeface="Calibri" pitchFamily="34" charset="0"/>
                <a:ea typeface="Calibri" pitchFamily="34" charset="-122"/>
                <a:cs typeface="Calibri" pitchFamily="34" charset="-120"/>
              </a:rPr>
              <a:t>Foundation governance, grant strategy, family values</a:t>
            </a:r>
            <a:endParaRPr lang="en-US" sz="850" dirty="0"/>
          </a:p>
        </p:txBody>
      </p:sp>
      <p:sp>
        <p:nvSpPr>
          <p:cNvPr id="18" name="Shape 16"/>
          <p:cNvSpPr/>
          <p:nvPr/>
        </p:nvSpPr>
        <p:spPr>
          <a:xfrm>
            <a:off x="256032" y="2761488"/>
            <a:ext cx="4187952" cy="658368"/>
          </a:xfrm>
          <a:prstGeom prst="rect">
            <a:avLst/>
          </a:prstGeom>
          <a:solidFill>
            <a:srgbClr val="FFFFFF"/>
          </a:solidFill>
          <a:ln w="6350">
            <a:solidFill>
              <a:srgbClr val="DEDEDE"/>
            </a:solidFill>
            <a:prstDash val="solid"/>
          </a:ln>
        </p:spPr>
      </p:sp>
      <p:sp>
        <p:nvSpPr>
          <p:cNvPr id="19" name="Shape 17"/>
          <p:cNvSpPr/>
          <p:nvPr/>
        </p:nvSpPr>
        <p:spPr>
          <a:xfrm>
            <a:off x="329184" y="2889504"/>
            <a:ext cx="402336" cy="402336"/>
          </a:xfrm>
          <a:prstGeom prst="ellipse">
            <a:avLst/>
          </a:prstGeom>
          <a:solidFill>
            <a:srgbClr val="185FA5"/>
          </a:solidFill>
          <a:ln w="12700">
            <a:solidFill>
              <a:srgbClr val="185FA5"/>
            </a:solidFill>
            <a:prstDash val="solid"/>
          </a:ln>
        </p:spPr>
      </p:sp>
      <p:sp>
        <p:nvSpPr>
          <p:cNvPr id="20" name="Text 18"/>
          <p:cNvSpPr/>
          <p:nvPr/>
        </p:nvSpPr>
        <p:spPr>
          <a:xfrm>
            <a:off x="329184" y="2889504"/>
            <a:ext cx="402336"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OM</a:t>
            </a:r>
            <a:endParaRPr lang="en-US" sz="1000" dirty="0"/>
          </a:p>
        </p:txBody>
      </p:sp>
      <p:sp>
        <p:nvSpPr>
          <p:cNvPr id="21" name="Text 19"/>
          <p:cNvSpPr/>
          <p:nvPr/>
        </p:nvSpPr>
        <p:spPr>
          <a:xfrm>
            <a:off x="804672" y="2834640"/>
            <a:ext cx="3511296" cy="201168"/>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Olivia Mercer</a:t>
            </a:r>
            <a:endParaRPr lang="en-US" sz="1050" dirty="0"/>
          </a:p>
        </p:txBody>
      </p:sp>
      <p:sp>
        <p:nvSpPr>
          <p:cNvPr id="22" name="Text 20"/>
          <p:cNvSpPr/>
          <p:nvPr/>
        </p:nvSpPr>
        <p:spPr>
          <a:xfrm>
            <a:off x="804672" y="3035808"/>
            <a:ext cx="3511296" cy="164592"/>
          </a:xfrm>
          <a:prstGeom prst="rect">
            <a:avLst/>
          </a:prstGeom>
          <a:noFill/>
          <a:ln/>
        </p:spPr>
        <p:txBody>
          <a:bodyPr wrap="square" lIns="0" tIns="0" rIns="0" bIns="0" rtlCol="0" anchor="ctr"/>
          <a:lstStyle/>
          <a:p>
            <a:pPr indent="0" marL="0">
              <a:buNone/>
            </a:pPr>
            <a:r>
              <a:rPr lang="en-US" sz="900" dirty="0">
                <a:solidFill>
                  <a:srgbClr val="185FA5"/>
                </a:solidFill>
                <a:latin typeface="Calibri" pitchFamily="34" charset="0"/>
                <a:ea typeface="Calibri" pitchFamily="34" charset="-122"/>
                <a:cs typeface="Calibri" pitchFamily="34" charset="-120"/>
              </a:rPr>
              <a:t>Future trustee (VC Associate)</a:t>
            </a:r>
            <a:endParaRPr lang="en-US" sz="900" dirty="0"/>
          </a:p>
        </p:txBody>
      </p:sp>
      <p:sp>
        <p:nvSpPr>
          <p:cNvPr id="23" name="Text 21"/>
          <p:cNvSpPr/>
          <p:nvPr/>
        </p:nvSpPr>
        <p:spPr>
          <a:xfrm>
            <a:off x="804672" y="3200400"/>
            <a:ext cx="3511296" cy="164592"/>
          </a:xfrm>
          <a:prstGeom prst="rect">
            <a:avLst/>
          </a:prstGeom>
          <a:noFill/>
          <a:ln/>
        </p:spPr>
        <p:txBody>
          <a:bodyPr wrap="square" lIns="0" tIns="0" rIns="0" bIns="0" rtlCol="0" anchor="ctr"/>
          <a:lstStyle/>
          <a:p>
            <a:pPr indent="0" marL="0">
              <a:buNone/>
            </a:pPr>
            <a:r>
              <a:rPr lang="en-US" sz="850" dirty="0">
                <a:solidFill>
                  <a:srgbClr val="718096"/>
                </a:solidFill>
                <a:latin typeface="Calibri" pitchFamily="34" charset="0"/>
                <a:ea typeface="Calibri" pitchFamily="34" charset="-122"/>
                <a:cs typeface="Calibri" pitchFamily="34" charset="-120"/>
              </a:rPr>
              <a:t>Foundation governance, trustee responsibilities, wealth stewardship</a:t>
            </a:r>
            <a:endParaRPr lang="en-US" sz="850" dirty="0"/>
          </a:p>
        </p:txBody>
      </p:sp>
      <p:sp>
        <p:nvSpPr>
          <p:cNvPr id="24" name="Shape 22"/>
          <p:cNvSpPr/>
          <p:nvPr/>
        </p:nvSpPr>
        <p:spPr>
          <a:xfrm>
            <a:off x="256032" y="3511296"/>
            <a:ext cx="4187952" cy="658368"/>
          </a:xfrm>
          <a:prstGeom prst="rect">
            <a:avLst/>
          </a:prstGeom>
          <a:solidFill>
            <a:srgbClr val="FFFFFF"/>
          </a:solidFill>
          <a:ln w="6350">
            <a:solidFill>
              <a:srgbClr val="DEDEDE"/>
            </a:solidFill>
            <a:prstDash val="solid"/>
          </a:ln>
        </p:spPr>
      </p:sp>
      <p:sp>
        <p:nvSpPr>
          <p:cNvPr id="25" name="Shape 23"/>
          <p:cNvSpPr/>
          <p:nvPr/>
        </p:nvSpPr>
        <p:spPr>
          <a:xfrm>
            <a:off x="329184" y="3639312"/>
            <a:ext cx="402336" cy="402336"/>
          </a:xfrm>
          <a:prstGeom prst="ellipse">
            <a:avLst/>
          </a:prstGeom>
          <a:solidFill>
            <a:srgbClr val="718096"/>
          </a:solidFill>
          <a:ln w="12700">
            <a:solidFill>
              <a:srgbClr val="718096"/>
            </a:solidFill>
            <a:prstDash val="solid"/>
          </a:ln>
        </p:spPr>
      </p:sp>
      <p:sp>
        <p:nvSpPr>
          <p:cNvPr id="26" name="Text 24"/>
          <p:cNvSpPr/>
          <p:nvPr/>
        </p:nvSpPr>
        <p:spPr>
          <a:xfrm>
            <a:off x="329184" y="3639312"/>
            <a:ext cx="402336"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EM</a:t>
            </a:r>
            <a:endParaRPr lang="en-US" sz="1000" dirty="0"/>
          </a:p>
        </p:txBody>
      </p:sp>
      <p:sp>
        <p:nvSpPr>
          <p:cNvPr id="27" name="Text 25"/>
          <p:cNvSpPr/>
          <p:nvPr/>
        </p:nvSpPr>
        <p:spPr>
          <a:xfrm>
            <a:off x="804672" y="3584448"/>
            <a:ext cx="3511296" cy="201168"/>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Ethan Mercer</a:t>
            </a:r>
            <a:endParaRPr lang="en-US" sz="1050" dirty="0"/>
          </a:p>
        </p:txBody>
      </p:sp>
      <p:sp>
        <p:nvSpPr>
          <p:cNvPr id="28" name="Text 26"/>
          <p:cNvSpPr/>
          <p:nvPr/>
        </p:nvSpPr>
        <p:spPr>
          <a:xfrm>
            <a:off x="804672" y="3785616"/>
            <a:ext cx="3511296" cy="164592"/>
          </a:xfrm>
          <a:prstGeom prst="rect">
            <a:avLst/>
          </a:prstGeom>
          <a:noFill/>
          <a:ln/>
        </p:spPr>
        <p:txBody>
          <a:bodyPr wrap="square" lIns="0" tIns="0" rIns="0" bIns="0" rtlCol="0" anchor="ctr"/>
          <a:lstStyle/>
          <a:p>
            <a:pPr indent="0" marL="0">
              <a:buNone/>
            </a:pPr>
            <a:r>
              <a:rPr lang="en-US" sz="900" dirty="0">
                <a:solidFill>
                  <a:srgbClr val="718096"/>
                </a:solidFill>
                <a:latin typeface="Calibri" pitchFamily="34" charset="0"/>
                <a:ea typeface="Calibri" pitchFamily="34" charset="-122"/>
                <a:cs typeface="Calibri" pitchFamily="34" charset="-120"/>
              </a:rPr>
              <a:t>Future beneficiary (Grad Student)</a:t>
            </a:r>
            <a:endParaRPr lang="en-US" sz="900" dirty="0"/>
          </a:p>
        </p:txBody>
      </p:sp>
      <p:sp>
        <p:nvSpPr>
          <p:cNvPr id="29" name="Text 27"/>
          <p:cNvSpPr/>
          <p:nvPr/>
        </p:nvSpPr>
        <p:spPr>
          <a:xfrm>
            <a:off x="804672" y="3950208"/>
            <a:ext cx="3511296" cy="164592"/>
          </a:xfrm>
          <a:prstGeom prst="rect">
            <a:avLst/>
          </a:prstGeom>
          <a:noFill/>
          <a:ln/>
        </p:spPr>
        <p:txBody>
          <a:bodyPr wrap="square" lIns="0" tIns="0" rIns="0" bIns="0" rtlCol="0" anchor="ctr"/>
          <a:lstStyle/>
          <a:p>
            <a:pPr indent="0" marL="0">
              <a:buNone/>
            </a:pPr>
            <a:r>
              <a:rPr lang="en-US" sz="850" dirty="0">
                <a:solidFill>
                  <a:srgbClr val="718096"/>
                </a:solidFill>
                <a:latin typeface="Calibri" pitchFamily="34" charset="0"/>
                <a:ea typeface="Calibri" pitchFamily="34" charset="-122"/>
                <a:cs typeface="Calibri" pitchFamily="34" charset="-120"/>
              </a:rPr>
              <a:t>Gradual introduction to trusts, stewardship, and governance roles</a:t>
            </a:r>
            <a:endParaRPr lang="en-US" sz="850" dirty="0"/>
          </a:p>
        </p:txBody>
      </p:sp>
      <p:sp>
        <p:nvSpPr>
          <p:cNvPr id="30" name="Text 28"/>
          <p:cNvSpPr/>
          <p:nvPr/>
        </p:nvSpPr>
        <p:spPr>
          <a:xfrm>
            <a:off x="4663440" y="1024128"/>
            <a:ext cx="4279392" cy="182880"/>
          </a:xfrm>
          <a:prstGeom prst="rect">
            <a:avLst/>
          </a:prstGeom>
          <a:noFill/>
          <a:ln/>
        </p:spPr>
        <p:txBody>
          <a:bodyPr wrap="square" lIns="0" tIns="0" rIns="0" bIns="0" rtlCol="0" anchor="ctr"/>
          <a:lstStyle/>
          <a:p>
            <a:pPr indent="0" marL="0">
              <a:buNone/>
            </a:pPr>
            <a:r>
              <a:rPr lang="en-US" sz="850" b="1" spc="200" kern="0" dirty="0">
                <a:solidFill>
                  <a:srgbClr val="B5922E"/>
                </a:solidFill>
                <a:latin typeface="Calibri" pitchFamily="34" charset="0"/>
                <a:ea typeface="Calibri" pitchFamily="34" charset="-122"/>
                <a:cs typeface="Calibri" pitchFamily="34" charset="-120"/>
              </a:rPr>
              <a:t>WEALTH TRANSFER TOOLS</a:t>
            </a:r>
            <a:endParaRPr lang="en-US" sz="850" dirty="0"/>
          </a:p>
        </p:txBody>
      </p:sp>
      <p:sp>
        <p:nvSpPr>
          <p:cNvPr id="31" name="Shape 29"/>
          <p:cNvSpPr/>
          <p:nvPr/>
        </p:nvSpPr>
        <p:spPr>
          <a:xfrm>
            <a:off x="4663440" y="1261872"/>
            <a:ext cx="4279392" cy="640080"/>
          </a:xfrm>
          <a:prstGeom prst="rect">
            <a:avLst/>
          </a:prstGeom>
          <a:solidFill>
            <a:srgbClr val="FFFFFF"/>
          </a:solidFill>
          <a:ln w="6350">
            <a:solidFill>
              <a:srgbClr val="DEDEDE"/>
            </a:solidFill>
            <a:prstDash val="solid"/>
          </a:ln>
        </p:spPr>
      </p:sp>
      <p:sp>
        <p:nvSpPr>
          <p:cNvPr id="32" name="Shape 30"/>
          <p:cNvSpPr/>
          <p:nvPr/>
        </p:nvSpPr>
        <p:spPr>
          <a:xfrm>
            <a:off x="4663440" y="1261872"/>
            <a:ext cx="54864" cy="640080"/>
          </a:xfrm>
          <a:prstGeom prst="rect">
            <a:avLst/>
          </a:prstGeom>
          <a:solidFill>
            <a:srgbClr val="C0392B"/>
          </a:solidFill>
          <a:ln w="12700">
            <a:solidFill>
              <a:srgbClr val="C0392B"/>
            </a:solidFill>
            <a:prstDash val="solid"/>
          </a:ln>
        </p:spPr>
      </p:sp>
      <p:sp>
        <p:nvSpPr>
          <p:cNvPr id="33" name="Text 31"/>
          <p:cNvSpPr/>
          <p:nvPr/>
        </p:nvSpPr>
        <p:spPr>
          <a:xfrm>
            <a:off x="4791456" y="1316736"/>
            <a:ext cx="2560320" cy="201168"/>
          </a:xfrm>
          <a:prstGeom prst="rect">
            <a:avLst/>
          </a:prstGeom>
          <a:noFill/>
          <a:ln/>
        </p:spPr>
        <p:txBody>
          <a:bodyPr wrap="square" lIns="0" tIns="0" rIns="0" bIns="0"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Charitable Remainder Trust</a:t>
            </a:r>
            <a:endParaRPr lang="en-US" sz="1000" dirty="0"/>
          </a:p>
        </p:txBody>
      </p:sp>
      <p:sp>
        <p:nvSpPr>
          <p:cNvPr id="34" name="Shape 32"/>
          <p:cNvSpPr/>
          <p:nvPr/>
        </p:nvSpPr>
        <p:spPr>
          <a:xfrm>
            <a:off x="7370064" y="1316736"/>
            <a:ext cx="1444752" cy="201168"/>
          </a:xfrm>
          <a:prstGeom prst="rect">
            <a:avLst/>
          </a:prstGeom>
          <a:solidFill>
            <a:srgbClr val="C0392B"/>
          </a:solidFill>
          <a:ln w="12700">
            <a:solidFill>
              <a:srgbClr val="C0392B"/>
            </a:solidFill>
            <a:prstDash val="solid"/>
          </a:ln>
        </p:spPr>
      </p:sp>
      <p:sp>
        <p:nvSpPr>
          <p:cNvPr id="35" name="Text 33"/>
          <p:cNvSpPr/>
          <p:nvPr/>
        </p:nvSpPr>
        <p:spPr>
          <a:xfrm>
            <a:off x="7370064" y="1316736"/>
            <a:ext cx="1444752"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Action: Implement</a:t>
            </a:r>
            <a:endParaRPr lang="en-US" sz="750" dirty="0"/>
          </a:p>
        </p:txBody>
      </p:sp>
      <p:sp>
        <p:nvSpPr>
          <p:cNvPr id="36" name="Text 34"/>
          <p:cNvSpPr/>
          <p:nvPr/>
        </p:nvSpPr>
        <p:spPr>
          <a:xfrm>
            <a:off x="4791456" y="1554480"/>
            <a:ext cx="4023360" cy="274320"/>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$15M NVDA → lifetime income + charity. Removes $15M from taxable estate immediately.</a:t>
            </a:r>
            <a:endParaRPr lang="en-US" sz="850" dirty="0"/>
          </a:p>
        </p:txBody>
      </p:sp>
      <p:sp>
        <p:nvSpPr>
          <p:cNvPr id="37" name="Shape 35"/>
          <p:cNvSpPr/>
          <p:nvPr/>
        </p:nvSpPr>
        <p:spPr>
          <a:xfrm>
            <a:off x="4663440" y="1993392"/>
            <a:ext cx="4279392" cy="640080"/>
          </a:xfrm>
          <a:prstGeom prst="rect">
            <a:avLst/>
          </a:prstGeom>
          <a:solidFill>
            <a:srgbClr val="FFFFFF"/>
          </a:solidFill>
          <a:ln w="6350">
            <a:solidFill>
              <a:srgbClr val="DEDEDE"/>
            </a:solidFill>
            <a:prstDash val="solid"/>
          </a:ln>
        </p:spPr>
      </p:sp>
      <p:sp>
        <p:nvSpPr>
          <p:cNvPr id="38" name="Shape 36"/>
          <p:cNvSpPr/>
          <p:nvPr/>
        </p:nvSpPr>
        <p:spPr>
          <a:xfrm>
            <a:off x="4663440" y="1993392"/>
            <a:ext cx="54864" cy="640080"/>
          </a:xfrm>
          <a:prstGeom prst="rect">
            <a:avLst/>
          </a:prstGeom>
          <a:solidFill>
            <a:srgbClr val="1A6B45"/>
          </a:solidFill>
          <a:ln w="12700">
            <a:solidFill>
              <a:srgbClr val="1A6B45"/>
            </a:solidFill>
            <a:prstDash val="solid"/>
          </a:ln>
        </p:spPr>
      </p:sp>
      <p:sp>
        <p:nvSpPr>
          <p:cNvPr id="39" name="Text 37"/>
          <p:cNvSpPr/>
          <p:nvPr/>
        </p:nvSpPr>
        <p:spPr>
          <a:xfrm>
            <a:off x="4791456" y="2048256"/>
            <a:ext cx="2560320" cy="201168"/>
          </a:xfrm>
          <a:prstGeom prst="rect">
            <a:avLst/>
          </a:prstGeom>
          <a:noFill/>
          <a:ln/>
        </p:spPr>
        <p:txBody>
          <a:bodyPr wrap="square" lIns="0" tIns="0" rIns="0" bIns="0"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Donor-Advised Fund (DAF)</a:t>
            </a:r>
            <a:endParaRPr lang="en-US" sz="1000" dirty="0"/>
          </a:p>
        </p:txBody>
      </p:sp>
      <p:sp>
        <p:nvSpPr>
          <p:cNvPr id="40" name="Shape 38"/>
          <p:cNvSpPr/>
          <p:nvPr/>
        </p:nvSpPr>
        <p:spPr>
          <a:xfrm>
            <a:off x="7370064" y="2048256"/>
            <a:ext cx="1444752" cy="201168"/>
          </a:xfrm>
          <a:prstGeom prst="rect">
            <a:avLst/>
          </a:prstGeom>
          <a:solidFill>
            <a:srgbClr val="1A6B45"/>
          </a:solidFill>
          <a:ln w="12700">
            <a:solidFill>
              <a:srgbClr val="1A6B45"/>
            </a:solidFill>
            <a:prstDash val="solid"/>
          </a:ln>
        </p:spPr>
      </p:sp>
      <p:sp>
        <p:nvSpPr>
          <p:cNvPr id="41" name="Text 39"/>
          <p:cNvSpPr/>
          <p:nvPr/>
        </p:nvSpPr>
        <p:spPr>
          <a:xfrm>
            <a:off x="7370064" y="2048256"/>
            <a:ext cx="1444752"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Active: $1M balance</a:t>
            </a:r>
            <a:endParaRPr lang="en-US" sz="750" dirty="0"/>
          </a:p>
        </p:txBody>
      </p:sp>
      <p:sp>
        <p:nvSpPr>
          <p:cNvPr id="42" name="Text 40"/>
          <p:cNvSpPr/>
          <p:nvPr/>
        </p:nvSpPr>
        <p:spPr>
          <a:xfrm>
            <a:off x="4791456" y="2286000"/>
            <a:ext cx="4023360" cy="274320"/>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Tax-deductible contributions. Grants to STEM and medical research. Target $5M+ over time.</a:t>
            </a:r>
            <a:endParaRPr lang="en-US" sz="850" dirty="0"/>
          </a:p>
        </p:txBody>
      </p:sp>
      <p:sp>
        <p:nvSpPr>
          <p:cNvPr id="43" name="Shape 41"/>
          <p:cNvSpPr/>
          <p:nvPr/>
        </p:nvSpPr>
        <p:spPr>
          <a:xfrm>
            <a:off x="4663440" y="2724912"/>
            <a:ext cx="4279392" cy="640080"/>
          </a:xfrm>
          <a:prstGeom prst="rect">
            <a:avLst/>
          </a:prstGeom>
          <a:solidFill>
            <a:srgbClr val="FFFFFF"/>
          </a:solidFill>
          <a:ln w="6350">
            <a:solidFill>
              <a:srgbClr val="DEDEDE"/>
            </a:solidFill>
            <a:prstDash val="solid"/>
          </a:ln>
        </p:spPr>
      </p:sp>
      <p:sp>
        <p:nvSpPr>
          <p:cNvPr id="44" name="Shape 42"/>
          <p:cNvSpPr/>
          <p:nvPr/>
        </p:nvSpPr>
        <p:spPr>
          <a:xfrm>
            <a:off x="4663440" y="2724912"/>
            <a:ext cx="54864" cy="640080"/>
          </a:xfrm>
          <a:prstGeom prst="rect">
            <a:avLst/>
          </a:prstGeom>
          <a:solidFill>
            <a:srgbClr val="E8892A"/>
          </a:solidFill>
          <a:ln w="12700">
            <a:solidFill>
              <a:srgbClr val="E8892A"/>
            </a:solidFill>
            <a:prstDash val="solid"/>
          </a:ln>
        </p:spPr>
      </p:sp>
      <p:sp>
        <p:nvSpPr>
          <p:cNvPr id="45" name="Text 43"/>
          <p:cNvSpPr/>
          <p:nvPr/>
        </p:nvSpPr>
        <p:spPr>
          <a:xfrm>
            <a:off x="4791456" y="2779776"/>
            <a:ext cx="2560320" cy="201168"/>
          </a:xfrm>
          <a:prstGeom prst="rect">
            <a:avLst/>
          </a:prstGeom>
          <a:noFill/>
          <a:ln/>
        </p:spPr>
        <p:txBody>
          <a:bodyPr wrap="square" lIns="0" tIns="0" rIns="0" bIns="0"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Annual Gifting Program</a:t>
            </a:r>
            <a:endParaRPr lang="en-US" sz="1000" dirty="0"/>
          </a:p>
        </p:txBody>
      </p:sp>
      <p:sp>
        <p:nvSpPr>
          <p:cNvPr id="46" name="Shape 44"/>
          <p:cNvSpPr/>
          <p:nvPr/>
        </p:nvSpPr>
        <p:spPr>
          <a:xfrm>
            <a:off x="7370064" y="2779776"/>
            <a:ext cx="1444752" cy="201168"/>
          </a:xfrm>
          <a:prstGeom prst="rect">
            <a:avLst/>
          </a:prstGeom>
          <a:solidFill>
            <a:srgbClr val="E8892A"/>
          </a:solidFill>
          <a:ln w="12700">
            <a:solidFill>
              <a:srgbClr val="E8892A"/>
            </a:solidFill>
            <a:prstDash val="solid"/>
          </a:ln>
        </p:spPr>
      </p:sp>
      <p:sp>
        <p:nvSpPr>
          <p:cNvPr id="47" name="Text 45"/>
          <p:cNvSpPr/>
          <p:nvPr/>
        </p:nvSpPr>
        <p:spPr>
          <a:xfrm>
            <a:off x="7370064" y="2779776"/>
            <a:ext cx="1444752"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Action: Establish</a:t>
            </a:r>
            <a:endParaRPr lang="en-US" sz="750" dirty="0"/>
          </a:p>
        </p:txBody>
      </p:sp>
      <p:sp>
        <p:nvSpPr>
          <p:cNvPr id="48" name="Text 46"/>
          <p:cNvSpPr/>
          <p:nvPr/>
        </p:nvSpPr>
        <p:spPr>
          <a:xfrm>
            <a:off x="4791456" y="3017520"/>
            <a:ext cx="4023360" cy="274320"/>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$36,000/yr combined to Olivia, $36,000/yr to Ethan. Removes $72,000/yr from taxable estate.</a:t>
            </a:r>
            <a:endParaRPr lang="en-US" sz="850" dirty="0"/>
          </a:p>
        </p:txBody>
      </p:sp>
      <p:sp>
        <p:nvSpPr>
          <p:cNvPr id="49" name="Shape 47"/>
          <p:cNvSpPr/>
          <p:nvPr/>
        </p:nvSpPr>
        <p:spPr>
          <a:xfrm>
            <a:off x="4663440" y="3456432"/>
            <a:ext cx="4279392" cy="640080"/>
          </a:xfrm>
          <a:prstGeom prst="rect">
            <a:avLst/>
          </a:prstGeom>
          <a:solidFill>
            <a:srgbClr val="FFFFFF"/>
          </a:solidFill>
          <a:ln w="6350">
            <a:solidFill>
              <a:srgbClr val="DEDEDE"/>
            </a:solidFill>
            <a:prstDash val="solid"/>
          </a:ln>
        </p:spPr>
      </p:sp>
      <p:sp>
        <p:nvSpPr>
          <p:cNvPr id="50" name="Shape 48"/>
          <p:cNvSpPr/>
          <p:nvPr/>
        </p:nvSpPr>
        <p:spPr>
          <a:xfrm>
            <a:off x="4663440" y="3456432"/>
            <a:ext cx="54864" cy="640080"/>
          </a:xfrm>
          <a:prstGeom prst="rect">
            <a:avLst/>
          </a:prstGeom>
          <a:solidFill>
            <a:srgbClr val="C0392B"/>
          </a:solidFill>
          <a:ln w="12700">
            <a:solidFill>
              <a:srgbClr val="C0392B"/>
            </a:solidFill>
            <a:prstDash val="solid"/>
          </a:ln>
        </p:spPr>
      </p:sp>
      <p:sp>
        <p:nvSpPr>
          <p:cNvPr id="51" name="Text 49"/>
          <p:cNvSpPr/>
          <p:nvPr/>
        </p:nvSpPr>
        <p:spPr>
          <a:xfrm>
            <a:off x="4791456" y="3511296"/>
            <a:ext cx="2560320" cy="201168"/>
          </a:xfrm>
          <a:prstGeom prst="rect">
            <a:avLst/>
          </a:prstGeom>
          <a:noFill/>
          <a:ln/>
        </p:spPr>
        <p:txBody>
          <a:bodyPr wrap="square" lIns="0" tIns="0" rIns="0" bIns="0"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GRATs / Irrevocable Trusts</a:t>
            </a:r>
            <a:endParaRPr lang="en-US" sz="1000" dirty="0"/>
          </a:p>
        </p:txBody>
      </p:sp>
      <p:sp>
        <p:nvSpPr>
          <p:cNvPr id="52" name="Shape 50"/>
          <p:cNvSpPr/>
          <p:nvPr/>
        </p:nvSpPr>
        <p:spPr>
          <a:xfrm>
            <a:off x="7370064" y="3511296"/>
            <a:ext cx="1444752" cy="201168"/>
          </a:xfrm>
          <a:prstGeom prst="rect">
            <a:avLst/>
          </a:prstGeom>
          <a:solidFill>
            <a:srgbClr val="C0392B"/>
          </a:solidFill>
          <a:ln w="12700">
            <a:solidFill>
              <a:srgbClr val="C0392B"/>
            </a:solidFill>
            <a:prstDash val="solid"/>
          </a:ln>
        </p:spPr>
      </p:sp>
      <p:sp>
        <p:nvSpPr>
          <p:cNvPr id="53" name="Text 51"/>
          <p:cNvSpPr/>
          <p:nvPr/>
        </p:nvSpPr>
        <p:spPr>
          <a:xfrm>
            <a:off x="7370064" y="3511296"/>
            <a:ext cx="1444752"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Action: Review</a:t>
            </a:r>
            <a:endParaRPr lang="en-US" sz="750" dirty="0"/>
          </a:p>
        </p:txBody>
      </p:sp>
      <p:sp>
        <p:nvSpPr>
          <p:cNvPr id="54" name="Text 52"/>
          <p:cNvSpPr/>
          <p:nvPr/>
        </p:nvSpPr>
        <p:spPr>
          <a:xfrm>
            <a:off x="4791456" y="3749040"/>
            <a:ext cx="4023360" cy="274320"/>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Transfer high-growth assets (NVDA) out of estate before compounding increases the tax cost.</a:t>
            </a:r>
            <a:endParaRPr lang="en-US" sz="850" dirty="0"/>
          </a:p>
        </p:txBody>
      </p:sp>
      <p:sp>
        <p:nvSpPr>
          <p:cNvPr id="55" name="Shape 53"/>
          <p:cNvSpPr/>
          <p:nvPr/>
        </p:nvSpPr>
        <p:spPr>
          <a:xfrm>
            <a:off x="4663440" y="4187952"/>
            <a:ext cx="4279392" cy="640080"/>
          </a:xfrm>
          <a:prstGeom prst="rect">
            <a:avLst/>
          </a:prstGeom>
          <a:solidFill>
            <a:srgbClr val="FFFFFF"/>
          </a:solidFill>
          <a:ln w="6350">
            <a:solidFill>
              <a:srgbClr val="DEDEDE"/>
            </a:solidFill>
            <a:prstDash val="solid"/>
          </a:ln>
        </p:spPr>
      </p:sp>
      <p:sp>
        <p:nvSpPr>
          <p:cNvPr id="56" name="Shape 54"/>
          <p:cNvSpPr/>
          <p:nvPr/>
        </p:nvSpPr>
        <p:spPr>
          <a:xfrm>
            <a:off x="4663440" y="4187952"/>
            <a:ext cx="54864" cy="640080"/>
          </a:xfrm>
          <a:prstGeom prst="rect">
            <a:avLst/>
          </a:prstGeom>
          <a:solidFill>
            <a:srgbClr val="185FA5"/>
          </a:solidFill>
          <a:ln w="12700">
            <a:solidFill>
              <a:srgbClr val="185FA5"/>
            </a:solidFill>
            <a:prstDash val="solid"/>
          </a:ln>
        </p:spPr>
      </p:sp>
      <p:sp>
        <p:nvSpPr>
          <p:cNvPr id="57" name="Text 55"/>
          <p:cNvSpPr/>
          <p:nvPr/>
        </p:nvSpPr>
        <p:spPr>
          <a:xfrm>
            <a:off x="4791456" y="4242816"/>
            <a:ext cx="2560320" cy="201168"/>
          </a:xfrm>
          <a:prstGeom prst="rect">
            <a:avLst/>
          </a:prstGeom>
          <a:noFill/>
          <a:ln/>
        </p:spPr>
        <p:txBody>
          <a:bodyPr wrap="square" lIns="0" tIns="0" rIns="0" bIns="0"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Family Foundation</a:t>
            </a:r>
            <a:endParaRPr lang="en-US" sz="1000" dirty="0"/>
          </a:p>
        </p:txBody>
      </p:sp>
      <p:sp>
        <p:nvSpPr>
          <p:cNvPr id="58" name="Shape 56"/>
          <p:cNvSpPr/>
          <p:nvPr/>
        </p:nvSpPr>
        <p:spPr>
          <a:xfrm>
            <a:off x="7370064" y="4242816"/>
            <a:ext cx="1444752" cy="201168"/>
          </a:xfrm>
          <a:prstGeom prst="rect">
            <a:avLst/>
          </a:prstGeom>
          <a:solidFill>
            <a:srgbClr val="185FA5"/>
          </a:solidFill>
          <a:ln w="12700">
            <a:solidFill>
              <a:srgbClr val="185FA5"/>
            </a:solidFill>
            <a:prstDash val="solid"/>
          </a:ln>
        </p:spPr>
      </p:sp>
      <p:sp>
        <p:nvSpPr>
          <p:cNvPr id="59" name="Text 57"/>
          <p:cNvSpPr/>
          <p:nvPr/>
        </p:nvSpPr>
        <p:spPr>
          <a:xfrm>
            <a:off x="7370064" y="4242816"/>
            <a:ext cx="1444752"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Future: 3–5 Years</a:t>
            </a:r>
            <a:endParaRPr lang="en-US" sz="750" dirty="0"/>
          </a:p>
        </p:txBody>
      </p:sp>
      <p:sp>
        <p:nvSpPr>
          <p:cNvPr id="60" name="Text 58"/>
          <p:cNvSpPr/>
          <p:nvPr/>
        </p:nvSpPr>
        <p:spPr>
          <a:xfrm>
            <a:off x="4791456" y="4480560"/>
            <a:ext cx="4023360" cy="274320"/>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Claire leads design. Olivia and Ethan involved in governance. Formalizes the family's giving legacy.</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1B2A"/>
          </a:solidFill>
          <a:ln w="12700">
            <a:solidFill>
              <a:srgbClr val="0D1B2A"/>
            </a:solidFill>
            <a:prstDash val="solid"/>
          </a:ln>
        </p:spPr>
      </p:sp>
      <p:sp>
        <p:nvSpPr>
          <p:cNvPr id="3" name="Text 1"/>
          <p:cNvSpPr/>
          <p:nvPr/>
        </p:nvSpPr>
        <p:spPr>
          <a:xfrm>
            <a:off x="256032" y="274320"/>
            <a:ext cx="7315200" cy="201168"/>
          </a:xfrm>
          <a:prstGeom prst="rect">
            <a:avLst/>
          </a:prstGeom>
          <a:noFill/>
          <a:ln/>
        </p:spPr>
        <p:txBody>
          <a:bodyPr wrap="square" lIns="0" tIns="0" rIns="0" bIns="0" rtlCol="0" anchor="ctr"/>
          <a:lstStyle/>
          <a:p>
            <a:pPr indent="0" marL="0">
              <a:buNone/>
            </a:pPr>
            <a:r>
              <a:rPr lang="en-US" sz="900" b="1" spc="300" kern="0" dirty="0">
                <a:solidFill>
                  <a:srgbClr val="B5922E"/>
                </a:solidFill>
                <a:latin typeface="Calibri" pitchFamily="34" charset="0"/>
                <a:ea typeface="Calibri" pitchFamily="34" charset="-122"/>
                <a:cs typeface="Calibri" pitchFamily="34" charset="-120"/>
              </a:rPr>
              <a:t>PLANNING MODULE · RESTRICTIONS &amp; IMPLEMENTATION</a:t>
            </a:r>
            <a:endParaRPr lang="en-US" sz="900" dirty="0"/>
          </a:p>
        </p:txBody>
      </p:sp>
      <p:sp>
        <p:nvSpPr>
          <p:cNvPr id="4" name="Text 2"/>
          <p:cNvSpPr/>
          <p:nvPr/>
        </p:nvSpPr>
        <p:spPr>
          <a:xfrm>
            <a:off x="256032" y="493776"/>
            <a:ext cx="8686800" cy="502920"/>
          </a:xfrm>
          <a:prstGeom prst="rect">
            <a:avLst/>
          </a:prstGeom>
          <a:noFill/>
          <a:ln/>
        </p:spPr>
        <p:txBody>
          <a:bodyPr wrap="square" lIns="0" tIns="0" rIns="0" bIns="0" rtlCol="0" anchor="ctr"/>
          <a:lstStyle/>
          <a:p>
            <a:pPr indent="0" marL="0">
              <a:buNone/>
            </a:pPr>
            <a:r>
              <a:rPr lang="en-US" sz="2400" b="1" dirty="0">
                <a:solidFill>
                  <a:srgbClr val="0D1B2A"/>
                </a:solidFill>
                <a:latin typeface="Garamond" pitchFamily="34" charset="0"/>
                <a:ea typeface="Garamond" pitchFamily="34" charset="-122"/>
                <a:cs typeface="Garamond" pitchFamily="34" charset="-120"/>
              </a:rPr>
              <a:t>Restrictions &amp; Implementation Notes</a:t>
            </a:r>
            <a:endParaRPr lang="en-US" sz="2400" dirty="0"/>
          </a:p>
        </p:txBody>
      </p:sp>
      <p:sp>
        <p:nvSpPr>
          <p:cNvPr id="5" name="Text 3"/>
          <p:cNvSpPr/>
          <p:nvPr/>
        </p:nvSpPr>
        <p:spPr>
          <a:xfrm>
            <a:off x="256032" y="1005840"/>
            <a:ext cx="8686800" cy="182880"/>
          </a:xfrm>
          <a:prstGeom prst="rect">
            <a:avLst/>
          </a:prstGeom>
          <a:noFill/>
          <a:ln/>
        </p:spPr>
        <p:txBody>
          <a:bodyPr wrap="square" lIns="0" tIns="0" rIns="0" bIns="0" rtlCol="0" anchor="ctr"/>
          <a:lstStyle/>
          <a:p>
            <a:pPr indent="0" marL="0">
              <a:buNone/>
            </a:pPr>
            <a:r>
              <a:rPr lang="en-US" sz="850" b="1" spc="200" kern="0" dirty="0">
                <a:solidFill>
                  <a:srgbClr val="B5922E"/>
                </a:solidFill>
                <a:latin typeface="Calibri" pitchFamily="34" charset="0"/>
                <a:ea typeface="Calibri" pitchFamily="34" charset="-122"/>
                <a:cs typeface="Calibri" pitchFamily="34" charset="-120"/>
              </a:rPr>
              <a:t>INVESTMENT RESTRICTIONS</a:t>
            </a:r>
            <a:endParaRPr lang="en-US" sz="850" dirty="0"/>
          </a:p>
        </p:txBody>
      </p:sp>
      <p:sp>
        <p:nvSpPr>
          <p:cNvPr id="6" name="Shape 4"/>
          <p:cNvSpPr/>
          <p:nvPr/>
        </p:nvSpPr>
        <p:spPr>
          <a:xfrm>
            <a:off x="256032" y="1243584"/>
            <a:ext cx="2798064" cy="347472"/>
          </a:xfrm>
          <a:prstGeom prst="rect">
            <a:avLst/>
          </a:prstGeom>
          <a:solidFill>
            <a:srgbClr val="FDF4F3"/>
          </a:solidFill>
          <a:ln w="9525">
            <a:solidFill>
              <a:srgbClr val="C0392B"/>
            </a:solidFill>
            <a:prstDash val="solid"/>
          </a:ln>
        </p:spPr>
      </p:sp>
      <p:sp>
        <p:nvSpPr>
          <p:cNvPr id="7" name="Shape 5"/>
          <p:cNvSpPr/>
          <p:nvPr/>
        </p:nvSpPr>
        <p:spPr>
          <a:xfrm>
            <a:off x="256032" y="1243584"/>
            <a:ext cx="54864" cy="347472"/>
          </a:xfrm>
          <a:prstGeom prst="rect">
            <a:avLst/>
          </a:prstGeom>
          <a:solidFill>
            <a:srgbClr val="C0392B"/>
          </a:solidFill>
          <a:ln w="12700">
            <a:solidFill>
              <a:srgbClr val="C0392B"/>
            </a:solidFill>
            <a:prstDash val="solid"/>
          </a:ln>
        </p:spPr>
      </p:sp>
      <p:sp>
        <p:nvSpPr>
          <p:cNvPr id="8" name="Text 6"/>
          <p:cNvSpPr/>
          <p:nvPr/>
        </p:nvSpPr>
        <p:spPr>
          <a:xfrm>
            <a:off x="420624" y="1316736"/>
            <a:ext cx="2487168" cy="201168"/>
          </a:xfrm>
          <a:prstGeom prst="rect">
            <a:avLst/>
          </a:prstGeom>
          <a:noFill/>
          <a:ln/>
        </p:spPr>
        <p:txBody>
          <a:bodyPr wrap="square" lIns="0" tIns="0" rIns="0" bIns="0" rtlCol="0" anchor="ctr"/>
          <a:lstStyle/>
          <a:p>
            <a:pPr indent="0" marL="0">
              <a:buNone/>
            </a:pPr>
            <a:r>
              <a:rPr lang="en-US" sz="1000" dirty="0">
                <a:solidFill>
                  <a:srgbClr val="7B2D26"/>
                </a:solidFill>
                <a:latin typeface="Calibri" pitchFamily="34" charset="0"/>
                <a:ea typeface="Calibri" pitchFamily="34" charset="-122"/>
                <a:cs typeface="Calibri" pitchFamily="34" charset="-120"/>
              </a:rPr>
              <a:t>No tobacco companies</a:t>
            </a:r>
            <a:endParaRPr lang="en-US" sz="1000" dirty="0"/>
          </a:p>
        </p:txBody>
      </p:sp>
      <p:sp>
        <p:nvSpPr>
          <p:cNvPr id="9" name="Shape 7"/>
          <p:cNvSpPr/>
          <p:nvPr/>
        </p:nvSpPr>
        <p:spPr>
          <a:xfrm>
            <a:off x="3200400" y="1243584"/>
            <a:ext cx="2798064" cy="347472"/>
          </a:xfrm>
          <a:prstGeom prst="rect">
            <a:avLst/>
          </a:prstGeom>
          <a:solidFill>
            <a:srgbClr val="FDF4F3"/>
          </a:solidFill>
          <a:ln w="9525">
            <a:solidFill>
              <a:srgbClr val="C0392B"/>
            </a:solidFill>
            <a:prstDash val="solid"/>
          </a:ln>
        </p:spPr>
      </p:sp>
      <p:sp>
        <p:nvSpPr>
          <p:cNvPr id="10" name="Shape 8"/>
          <p:cNvSpPr/>
          <p:nvPr/>
        </p:nvSpPr>
        <p:spPr>
          <a:xfrm>
            <a:off x="3200400" y="1243584"/>
            <a:ext cx="54864" cy="347472"/>
          </a:xfrm>
          <a:prstGeom prst="rect">
            <a:avLst/>
          </a:prstGeom>
          <a:solidFill>
            <a:srgbClr val="C0392B"/>
          </a:solidFill>
          <a:ln w="12700">
            <a:solidFill>
              <a:srgbClr val="C0392B"/>
            </a:solidFill>
            <a:prstDash val="solid"/>
          </a:ln>
        </p:spPr>
      </p:sp>
      <p:sp>
        <p:nvSpPr>
          <p:cNvPr id="11" name="Text 9"/>
          <p:cNvSpPr/>
          <p:nvPr/>
        </p:nvSpPr>
        <p:spPr>
          <a:xfrm>
            <a:off x="3364992" y="1316736"/>
            <a:ext cx="2487168" cy="201168"/>
          </a:xfrm>
          <a:prstGeom prst="rect">
            <a:avLst/>
          </a:prstGeom>
          <a:noFill/>
          <a:ln/>
        </p:spPr>
        <p:txBody>
          <a:bodyPr wrap="square" lIns="0" tIns="0" rIns="0" bIns="0" rtlCol="0" anchor="ctr"/>
          <a:lstStyle/>
          <a:p>
            <a:pPr indent="0" marL="0">
              <a:buNone/>
            </a:pPr>
            <a:r>
              <a:rPr lang="en-US" sz="1000" dirty="0">
                <a:solidFill>
                  <a:srgbClr val="7B2D26"/>
                </a:solidFill>
                <a:latin typeface="Calibri" pitchFamily="34" charset="0"/>
                <a:ea typeface="Calibri" pitchFamily="34" charset="-122"/>
                <a:cs typeface="Calibri" pitchFamily="34" charset="-120"/>
              </a:rPr>
              <a:t>No private prisons</a:t>
            </a:r>
            <a:endParaRPr lang="en-US" sz="1000" dirty="0"/>
          </a:p>
        </p:txBody>
      </p:sp>
      <p:sp>
        <p:nvSpPr>
          <p:cNvPr id="12" name="Shape 10"/>
          <p:cNvSpPr/>
          <p:nvPr/>
        </p:nvSpPr>
        <p:spPr>
          <a:xfrm>
            <a:off x="6144768" y="1243584"/>
            <a:ext cx="2798064" cy="347472"/>
          </a:xfrm>
          <a:prstGeom prst="rect">
            <a:avLst/>
          </a:prstGeom>
          <a:solidFill>
            <a:srgbClr val="FDF4F3"/>
          </a:solidFill>
          <a:ln w="9525">
            <a:solidFill>
              <a:srgbClr val="C0392B"/>
            </a:solidFill>
            <a:prstDash val="solid"/>
          </a:ln>
        </p:spPr>
      </p:sp>
      <p:sp>
        <p:nvSpPr>
          <p:cNvPr id="13" name="Shape 11"/>
          <p:cNvSpPr/>
          <p:nvPr/>
        </p:nvSpPr>
        <p:spPr>
          <a:xfrm>
            <a:off x="6144768" y="1243584"/>
            <a:ext cx="54864" cy="347472"/>
          </a:xfrm>
          <a:prstGeom prst="rect">
            <a:avLst/>
          </a:prstGeom>
          <a:solidFill>
            <a:srgbClr val="C0392B"/>
          </a:solidFill>
          <a:ln w="12700">
            <a:solidFill>
              <a:srgbClr val="C0392B"/>
            </a:solidFill>
            <a:prstDash val="solid"/>
          </a:ln>
        </p:spPr>
      </p:sp>
      <p:sp>
        <p:nvSpPr>
          <p:cNvPr id="14" name="Text 12"/>
          <p:cNvSpPr/>
          <p:nvPr/>
        </p:nvSpPr>
        <p:spPr>
          <a:xfrm>
            <a:off x="6309360" y="1316736"/>
            <a:ext cx="2487168" cy="201168"/>
          </a:xfrm>
          <a:prstGeom prst="rect">
            <a:avLst/>
          </a:prstGeom>
          <a:noFill/>
          <a:ln/>
        </p:spPr>
        <p:txBody>
          <a:bodyPr wrap="square" lIns="0" tIns="0" rIns="0" bIns="0" rtlCol="0" anchor="ctr"/>
          <a:lstStyle/>
          <a:p>
            <a:pPr indent="0" marL="0">
              <a:buNone/>
            </a:pPr>
            <a:r>
              <a:rPr lang="en-US" sz="1000" dirty="0">
                <a:solidFill>
                  <a:srgbClr val="7B2D26"/>
                </a:solidFill>
                <a:latin typeface="Calibri" pitchFamily="34" charset="0"/>
                <a:ea typeface="Calibri" pitchFamily="34" charset="-122"/>
                <a:cs typeface="Calibri" pitchFamily="34" charset="-120"/>
              </a:rPr>
              <a:t>No speculative crypto funds</a:t>
            </a:r>
            <a:endParaRPr lang="en-US" sz="1000" dirty="0"/>
          </a:p>
        </p:txBody>
      </p:sp>
      <p:sp>
        <p:nvSpPr>
          <p:cNvPr id="15" name="Shape 13"/>
          <p:cNvSpPr/>
          <p:nvPr/>
        </p:nvSpPr>
        <p:spPr>
          <a:xfrm>
            <a:off x="256032" y="1664208"/>
            <a:ext cx="2798064" cy="347472"/>
          </a:xfrm>
          <a:prstGeom prst="rect">
            <a:avLst/>
          </a:prstGeom>
          <a:solidFill>
            <a:srgbClr val="FDF4F3"/>
          </a:solidFill>
          <a:ln w="9525">
            <a:solidFill>
              <a:srgbClr val="C0392B"/>
            </a:solidFill>
            <a:prstDash val="solid"/>
          </a:ln>
        </p:spPr>
      </p:sp>
      <p:sp>
        <p:nvSpPr>
          <p:cNvPr id="16" name="Shape 14"/>
          <p:cNvSpPr/>
          <p:nvPr/>
        </p:nvSpPr>
        <p:spPr>
          <a:xfrm>
            <a:off x="256032" y="1664208"/>
            <a:ext cx="54864" cy="347472"/>
          </a:xfrm>
          <a:prstGeom prst="rect">
            <a:avLst/>
          </a:prstGeom>
          <a:solidFill>
            <a:srgbClr val="C0392B"/>
          </a:solidFill>
          <a:ln w="12700">
            <a:solidFill>
              <a:srgbClr val="C0392B"/>
            </a:solidFill>
            <a:prstDash val="solid"/>
          </a:ln>
        </p:spPr>
      </p:sp>
      <p:sp>
        <p:nvSpPr>
          <p:cNvPr id="17" name="Text 15"/>
          <p:cNvSpPr/>
          <p:nvPr/>
        </p:nvSpPr>
        <p:spPr>
          <a:xfrm>
            <a:off x="420624" y="1737360"/>
            <a:ext cx="2487168" cy="201168"/>
          </a:xfrm>
          <a:prstGeom prst="rect">
            <a:avLst/>
          </a:prstGeom>
          <a:noFill/>
          <a:ln/>
        </p:spPr>
        <p:txBody>
          <a:bodyPr wrap="square" lIns="0" tIns="0" rIns="0" bIns="0" rtlCol="0" anchor="ctr"/>
          <a:lstStyle/>
          <a:p>
            <a:pPr indent="0" marL="0">
              <a:buNone/>
            </a:pPr>
            <a:r>
              <a:rPr lang="en-US" sz="1000" dirty="0">
                <a:solidFill>
                  <a:srgbClr val="7B2D26"/>
                </a:solidFill>
                <a:latin typeface="Calibri" pitchFamily="34" charset="0"/>
                <a:ea typeface="Calibri" pitchFamily="34" charset="-122"/>
                <a:cs typeface="Calibri" pitchFamily="34" charset="-120"/>
              </a:rPr>
              <a:t>No Chinese state-linked technology</a:t>
            </a:r>
            <a:endParaRPr lang="en-US" sz="1000" dirty="0"/>
          </a:p>
        </p:txBody>
      </p:sp>
      <p:sp>
        <p:nvSpPr>
          <p:cNvPr id="18" name="Shape 16"/>
          <p:cNvSpPr/>
          <p:nvPr/>
        </p:nvSpPr>
        <p:spPr>
          <a:xfrm>
            <a:off x="3200400" y="1664208"/>
            <a:ext cx="2798064" cy="347472"/>
          </a:xfrm>
          <a:prstGeom prst="rect">
            <a:avLst/>
          </a:prstGeom>
          <a:solidFill>
            <a:srgbClr val="FDF4F3"/>
          </a:solidFill>
          <a:ln w="9525">
            <a:solidFill>
              <a:srgbClr val="E8892A"/>
            </a:solidFill>
            <a:prstDash val="solid"/>
          </a:ln>
        </p:spPr>
      </p:sp>
      <p:sp>
        <p:nvSpPr>
          <p:cNvPr id="19" name="Shape 17"/>
          <p:cNvSpPr/>
          <p:nvPr/>
        </p:nvSpPr>
        <p:spPr>
          <a:xfrm>
            <a:off x="3200400" y="1664208"/>
            <a:ext cx="54864" cy="347472"/>
          </a:xfrm>
          <a:prstGeom prst="rect">
            <a:avLst/>
          </a:prstGeom>
          <a:solidFill>
            <a:srgbClr val="E8892A"/>
          </a:solidFill>
          <a:ln w="12700">
            <a:solidFill>
              <a:srgbClr val="E8892A"/>
            </a:solidFill>
            <a:prstDash val="solid"/>
          </a:ln>
        </p:spPr>
      </p:sp>
      <p:sp>
        <p:nvSpPr>
          <p:cNvPr id="20" name="Text 18"/>
          <p:cNvSpPr/>
          <p:nvPr/>
        </p:nvSpPr>
        <p:spPr>
          <a:xfrm>
            <a:off x="3364992" y="1737360"/>
            <a:ext cx="2487168" cy="201168"/>
          </a:xfrm>
          <a:prstGeom prst="rect">
            <a:avLst/>
          </a:prstGeom>
          <a:noFill/>
          <a:ln/>
        </p:spPr>
        <p:txBody>
          <a:bodyPr wrap="square" lIns="0" tIns="0" rIns="0" bIns="0" rtlCol="0" anchor="ctr"/>
          <a:lstStyle/>
          <a:p>
            <a:pPr indent="0" marL="0">
              <a:buNone/>
            </a:pPr>
            <a:r>
              <a:rPr lang="en-US" sz="1000" dirty="0">
                <a:solidFill>
                  <a:srgbClr val="7B2D26"/>
                </a:solidFill>
                <a:latin typeface="Calibri" pitchFamily="34" charset="0"/>
                <a:ea typeface="Calibri" pitchFamily="34" charset="-122"/>
                <a:cs typeface="Calibri" pitchFamily="34" charset="-120"/>
              </a:rPr>
              <a:t>No single non-NVDA position &gt;5%</a:t>
            </a:r>
            <a:endParaRPr lang="en-US" sz="1000" dirty="0"/>
          </a:p>
        </p:txBody>
      </p:sp>
      <p:sp>
        <p:nvSpPr>
          <p:cNvPr id="21" name="Shape 19"/>
          <p:cNvSpPr/>
          <p:nvPr/>
        </p:nvSpPr>
        <p:spPr>
          <a:xfrm>
            <a:off x="6144768" y="1664208"/>
            <a:ext cx="2798064" cy="347472"/>
          </a:xfrm>
          <a:prstGeom prst="rect">
            <a:avLst/>
          </a:prstGeom>
          <a:solidFill>
            <a:srgbClr val="FDF4F3"/>
          </a:solidFill>
          <a:ln w="9525">
            <a:solidFill>
              <a:srgbClr val="B5922E"/>
            </a:solidFill>
            <a:prstDash val="solid"/>
          </a:ln>
        </p:spPr>
      </p:sp>
      <p:sp>
        <p:nvSpPr>
          <p:cNvPr id="22" name="Shape 20"/>
          <p:cNvSpPr/>
          <p:nvPr/>
        </p:nvSpPr>
        <p:spPr>
          <a:xfrm>
            <a:off x="6144768" y="1664208"/>
            <a:ext cx="54864" cy="347472"/>
          </a:xfrm>
          <a:prstGeom prst="rect">
            <a:avLst/>
          </a:prstGeom>
          <a:solidFill>
            <a:srgbClr val="B5922E"/>
          </a:solidFill>
          <a:ln w="12700">
            <a:solidFill>
              <a:srgbClr val="B5922E"/>
            </a:solidFill>
            <a:prstDash val="solid"/>
          </a:ln>
        </p:spPr>
      </p:sp>
      <p:sp>
        <p:nvSpPr>
          <p:cNvPr id="23" name="Text 21"/>
          <p:cNvSpPr/>
          <p:nvPr/>
        </p:nvSpPr>
        <p:spPr>
          <a:xfrm>
            <a:off x="6309360" y="1737360"/>
            <a:ext cx="2487168" cy="201168"/>
          </a:xfrm>
          <a:prstGeom prst="rect">
            <a:avLst/>
          </a:prstGeom>
          <a:noFill/>
          <a:ln/>
        </p:spPr>
        <p:txBody>
          <a:bodyPr wrap="square" lIns="0" tIns="0" rIns="0" bIns="0" rtlCol="0" anchor="ctr"/>
          <a:lstStyle/>
          <a:p>
            <a:pPr indent="0" marL="0">
              <a:buNone/>
            </a:pPr>
            <a:r>
              <a:rPr lang="en-US" sz="1000" dirty="0">
                <a:solidFill>
                  <a:srgbClr val="7B2D26"/>
                </a:solidFill>
                <a:latin typeface="Calibri" pitchFamily="34" charset="0"/>
                <a:ea typeface="Calibri" pitchFamily="34" charset="-122"/>
                <a:cs typeface="Calibri" pitchFamily="34" charset="-120"/>
              </a:rPr>
              <a:t>Maintain meaningful NVDA core position</a:t>
            </a:r>
            <a:endParaRPr lang="en-US" sz="1000" dirty="0"/>
          </a:p>
        </p:txBody>
      </p:sp>
      <p:sp>
        <p:nvSpPr>
          <p:cNvPr id="24" name="Text 22"/>
          <p:cNvSpPr/>
          <p:nvPr/>
        </p:nvSpPr>
        <p:spPr>
          <a:xfrm>
            <a:off x="256032" y="2231136"/>
            <a:ext cx="8686800" cy="182880"/>
          </a:xfrm>
          <a:prstGeom prst="rect">
            <a:avLst/>
          </a:prstGeom>
          <a:noFill/>
          <a:ln/>
        </p:spPr>
        <p:txBody>
          <a:bodyPr wrap="square" lIns="0" tIns="0" rIns="0" bIns="0" rtlCol="0" anchor="ctr"/>
          <a:lstStyle/>
          <a:p>
            <a:pPr indent="0" marL="0">
              <a:buNone/>
            </a:pPr>
            <a:r>
              <a:rPr lang="en-US" sz="850" b="1" spc="200" kern="0" dirty="0">
                <a:solidFill>
                  <a:srgbClr val="B5922E"/>
                </a:solidFill>
                <a:latin typeface="Calibri" pitchFamily="34" charset="0"/>
                <a:ea typeface="Calibri" pitchFamily="34" charset="-122"/>
                <a:cs typeface="Calibri" pitchFamily="34" charset="-120"/>
              </a:rPr>
              <a:t>IMPLEMENTATION PROTOCOL</a:t>
            </a:r>
            <a:endParaRPr lang="en-US" sz="850" dirty="0"/>
          </a:p>
        </p:txBody>
      </p:sp>
      <p:sp>
        <p:nvSpPr>
          <p:cNvPr id="25" name="Shape 23"/>
          <p:cNvSpPr/>
          <p:nvPr/>
        </p:nvSpPr>
        <p:spPr>
          <a:xfrm>
            <a:off x="256032" y="2468880"/>
            <a:ext cx="4187952" cy="749808"/>
          </a:xfrm>
          <a:prstGeom prst="rect">
            <a:avLst/>
          </a:prstGeom>
          <a:solidFill>
            <a:srgbClr val="FFFFFF"/>
          </a:solidFill>
          <a:ln w="6350">
            <a:solidFill>
              <a:srgbClr val="DEDEDE"/>
            </a:solidFill>
            <a:prstDash val="solid"/>
          </a:ln>
        </p:spPr>
      </p:sp>
      <p:sp>
        <p:nvSpPr>
          <p:cNvPr id="26" name="Shape 24"/>
          <p:cNvSpPr/>
          <p:nvPr/>
        </p:nvSpPr>
        <p:spPr>
          <a:xfrm>
            <a:off x="256032" y="2468880"/>
            <a:ext cx="54864" cy="749808"/>
          </a:xfrm>
          <a:prstGeom prst="rect">
            <a:avLst/>
          </a:prstGeom>
          <a:solidFill>
            <a:srgbClr val="0D1B2A"/>
          </a:solidFill>
          <a:ln w="12700">
            <a:solidFill>
              <a:srgbClr val="0D1B2A"/>
            </a:solidFill>
            <a:prstDash val="solid"/>
          </a:ln>
        </p:spPr>
      </p:sp>
      <p:sp>
        <p:nvSpPr>
          <p:cNvPr id="27" name="Text 25"/>
          <p:cNvSpPr/>
          <p:nvPr/>
        </p:nvSpPr>
        <p:spPr>
          <a:xfrm>
            <a:off x="420624" y="2542032"/>
            <a:ext cx="3840480" cy="182880"/>
          </a:xfrm>
          <a:prstGeom prst="rect">
            <a:avLst/>
          </a:prstGeom>
          <a:noFill/>
          <a:ln/>
        </p:spPr>
        <p:txBody>
          <a:bodyPr wrap="square" lIns="0" tIns="0" rIns="0" bIns="0"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NVDA Trading Windows</a:t>
            </a:r>
            <a:endParaRPr lang="en-US" sz="1000" dirty="0"/>
          </a:p>
        </p:txBody>
      </p:sp>
      <p:sp>
        <p:nvSpPr>
          <p:cNvPr id="28" name="Text 26"/>
          <p:cNvSpPr/>
          <p:nvPr/>
        </p:nvSpPr>
        <p:spPr>
          <a:xfrm>
            <a:off x="420624" y="2743200"/>
            <a:ext cx="3840480" cy="402336"/>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All NVDA sales must be executed within approved trading windows. Coordinate with Daniel's legal counsel. 10b5-1 plan recommended for staged sales program to remove discretionary timing risk.</a:t>
            </a:r>
            <a:endParaRPr lang="en-US" sz="850" dirty="0"/>
          </a:p>
        </p:txBody>
      </p:sp>
      <p:sp>
        <p:nvSpPr>
          <p:cNvPr id="29" name="Shape 27"/>
          <p:cNvSpPr/>
          <p:nvPr/>
        </p:nvSpPr>
        <p:spPr>
          <a:xfrm>
            <a:off x="4718304" y="2468880"/>
            <a:ext cx="4187952" cy="749808"/>
          </a:xfrm>
          <a:prstGeom prst="rect">
            <a:avLst/>
          </a:prstGeom>
          <a:solidFill>
            <a:srgbClr val="FFFFFF"/>
          </a:solidFill>
          <a:ln w="6350">
            <a:solidFill>
              <a:srgbClr val="DEDEDE"/>
            </a:solidFill>
            <a:prstDash val="solid"/>
          </a:ln>
        </p:spPr>
      </p:sp>
      <p:sp>
        <p:nvSpPr>
          <p:cNvPr id="30" name="Shape 28"/>
          <p:cNvSpPr/>
          <p:nvPr/>
        </p:nvSpPr>
        <p:spPr>
          <a:xfrm>
            <a:off x="4718304" y="2468880"/>
            <a:ext cx="54864" cy="749808"/>
          </a:xfrm>
          <a:prstGeom prst="rect">
            <a:avLst/>
          </a:prstGeom>
          <a:solidFill>
            <a:srgbClr val="0D1B2A"/>
          </a:solidFill>
          <a:ln w="12700">
            <a:solidFill>
              <a:srgbClr val="0D1B2A"/>
            </a:solidFill>
            <a:prstDash val="solid"/>
          </a:ln>
        </p:spPr>
      </p:sp>
      <p:sp>
        <p:nvSpPr>
          <p:cNvPr id="31" name="Text 29"/>
          <p:cNvSpPr/>
          <p:nvPr/>
        </p:nvSpPr>
        <p:spPr>
          <a:xfrm>
            <a:off x="4882896" y="2542032"/>
            <a:ext cx="3840480" cy="182880"/>
          </a:xfrm>
          <a:prstGeom prst="rect">
            <a:avLst/>
          </a:prstGeom>
          <a:noFill/>
          <a:ln/>
        </p:spPr>
        <p:txBody>
          <a:bodyPr wrap="square" lIns="0" tIns="0" rIns="0" bIns="0"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Concentration Policy Override</a:t>
            </a:r>
            <a:endParaRPr lang="en-US" sz="1000" dirty="0"/>
          </a:p>
        </p:txBody>
      </p:sp>
      <p:sp>
        <p:nvSpPr>
          <p:cNvPr id="32" name="Text 30"/>
          <p:cNvSpPr/>
          <p:nvPr/>
        </p:nvSpPr>
        <p:spPr>
          <a:xfrm>
            <a:off x="4882896" y="2743200"/>
            <a:ext cx="3840480" cy="402336"/>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The 5% max position rule applies to all non-NVDA holdings. Daniel must explicitly approve any deviation from the NVDA core position retention policy in writing.</a:t>
            </a:r>
            <a:endParaRPr lang="en-US" sz="850" dirty="0"/>
          </a:p>
        </p:txBody>
      </p:sp>
      <p:sp>
        <p:nvSpPr>
          <p:cNvPr id="33" name="Shape 31"/>
          <p:cNvSpPr/>
          <p:nvPr/>
        </p:nvSpPr>
        <p:spPr>
          <a:xfrm>
            <a:off x="256032" y="3310128"/>
            <a:ext cx="4187952" cy="749808"/>
          </a:xfrm>
          <a:prstGeom prst="rect">
            <a:avLst/>
          </a:prstGeom>
          <a:solidFill>
            <a:srgbClr val="FFFFFF"/>
          </a:solidFill>
          <a:ln w="6350">
            <a:solidFill>
              <a:srgbClr val="DEDEDE"/>
            </a:solidFill>
            <a:prstDash val="solid"/>
          </a:ln>
        </p:spPr>
      </p:sp>
      <p:sp>
        <p:nvSpPr>
          <p:cNvPr id="34" name="Shape 32"/>
          <p:cNvSpPr/>
          <p:nvPr/>
        </p:nvSpPr>
        <p:spPr>
          <a:xfrm>
            <a:off x="256032" y="3310128"/>
            <a:ext cx="54864" cy="749808"/>
          </a:xfrm>
          <a:prstGeom prst="rect">
            <a:avLst/>
          </a:prstGeom>
          <a:solidFill>
            <a:srgbClr val="0D1B2A"/>
          </a:solidFill>
          <a:ln w="12700">
            <a:solidFill>
              <a:srgbClr val="0D1B2A"/>
            </a:solidFill>
            <a:prstDash val="solid"/>
          </a:ln>
        </p:spPr>
      </p:sp>
      <p:sp>
        <p:nvSpPr>
          <p:cNvPr id="35" name="Text 33"/>
          <p:cNvSpPr/>
          <p:nvPr/>
        </p:nvSpPr>
        <p:spPr>
          <a:xfrm>
            <a:off x="420624" y="3383280"/>
            <a:ext cx="3840480" cy="182880"/>
          </a:xfrm>
          <a:prstGeom prst="rect">
            <a:avLst/>
          </a:prstGeom>
          <a:noFill/>
          <a:ln/>
        </p:spPr>
        <p:txBody>
          <a:bodyPr wrap="square" lIns="0" tIns="0" rIns="0" bIns="0"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CPA Coordination</a:t>
            </a:r>
            <a:endParaRPr lang="en-US" sz="1000" dirty="0"/>
          </a:p>
        </p:txBody>
      </p:sp>
      <p:sp>
        <p:nvSpPr>
          <p:cNvPr id="36" name="Text 34"/>
          <p:cNvSpPr/>
          <p:nvPr/>
        </p:nvSpPr>
        <p:spPr>
          <a:xfrm>
            <a:off x="420624" y="3584448"/>
            <a:ext cx="3840480" cy="402336"/>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All realized gains/losses must be reviewed with CPA before year-end. Estimated tax payments should be adjusted quarterly for NVDA income events, CRT distributions, and TLH activity.</a:t>
            </a:r>
            <a:endParaRPr lang="en-US" sz="850" dirty="0"/>
          </a:p>
        </p:txBody>
      </p:sp>
      <p:sp>
        <p:nvSpPr>
          <p:cNvPr id="37" name="Shape 35"/>
          <p:cNvSpPr/>
          <p:nvPr/>
        </p:nvSpPr>
        <p:spPr>
          <a:xfrm>
            <a:off x="4718304" y="3310128"/>
            <a:ext cx="4187952" cy="749808"/>
          </a:xfrm>
          <a:prstGeom prst="rect">
            <a:avLst/>
          </a:prstGeom>
          <a:solidFill>
            <a:srgbClr val="FFFFFF"/>
          </a:solidFill>
          <a:ln w="6350">
            <a:solidFill>
              <a:srgbClr val="DEDEDE"/>
            </a:solidFill>
            <a:prstDash val="solid"/>
          </a:ln>
        </p:spPr>
      </p:sp>
      <p:sp>
        <p:nvSpPr>
          <p:cNvPr id="38" name="Shape 36"/>
          <p:cNvSpPr/>
          <p:nvPr/>
        </p:nvSpPr>
        <p:spPr>
          <a:xfrm>
            <a:off x="4718304" y="3310128"/>
            <a:ext cx="54864" cy="749808"/>
          </a:xfrm>
          <a:prstGeom prst="rect">
            <a:avLst/>
          </a:prstGeom>
          <a:solidFill>
            <a:srgbClr val="0D1B2A"/>
          </a:solidFill>
          <a:ln w="12700">
            <a:solidFill>
              <a:srgbClr val="0D1B2A"/>
            </a:solidFill>
            <a:prstDash val="solid"/>
          </a:ln>
        </p:spPr>
      </p:sp>
      <p:sp>
        <p:nvSpPr>
          <p:cNvPr id="39" name="Text 37"/>
          <p:cNvSpPr/>
          <p:nvPr/>
        </p:nvSpPr>
        <p:spPr>
          <a:xfrm>
            <a:off x="4882896" y="3383280"/>
            <a:ext cx="3840480" cy="182880"/>
          </a:xfrm>
          <a:prstGeom prst="rect">
            <a:avLst/>
          </a:prstGeom>
          <a:noFill/>
          <a:ln/>
        </p:spPr>
        <p:txBody>
          <a:bodyPr wrap="square" lIns="0" tIns="0" rIns="0" bIns="0"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Estate Document Review</a:t>
            </a:r>
            <a:endParaRPr lang="en-US" sz="1000" dirty="0"/>
          </a:p>
        </p:txBody>
      </p:sp>
      <p:sp>
        <p:nvSpPr>
          <p:cNvPr id="40" name="Text 38"/>
          <p:cNvSpPr/>
          <p:nvPr/>
        </p:nvSpPr>
        <p:spPr>
          <a:xfrm>
            <a:off x="4882896" y="3584448"/>
            <a:ext cx="3840480" cy="402336"/>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All trusts, powers of attorney, and beneficiary designations must be reviewed by estate counsel before any structural changes. Coordinate with investment team on account titling.</a:t>
            </a:r>
            <a:endParaRPr lang="en-US" sz="850" dirty="0"/>
          </a:p>
        </p:txBody>
      </p:sp>
      <p:sp>
        <p:nvSpPr>
          <p:cNvPr id="41" name="Shape 39"/>
          <p:cNvSpPr/>
          <p:nvPr/>
        </p:nvSpPr>
        <p:spPr>
          <a:xfrm>
            <a:off x="256032" y="4151376"/>
            <a:ext cx="4187952" cy="749808"/>
          </a:xfrm>
          <a:prstGeom prst="rect">
            <a:avLst/>
          </a:prstGeom>
          <a:solidFill>
            <a:srgbClr val="FFFFFF"/>
          </a:solidFill>
          <a:ln w="6350">
            <a:solidFill>
              <a:srgbClr val="DEDEDE"/>
            </a:solidFill>
            <a:prstDash val="solid"/>
          </a:ln>
        </p:spPr>
      </p:sp>
      <p:sp>
        <p:nvSpPr>
          <p:cNvPr id="42" name="Shape 40"/>
          <p:cNvSpPr/>
          <p:nvPr/>
        </p:nvSpPr>
        <p:spPr>
          <a:xfrm>
            <a:off x="256032" y="4151376"/>
            <a:ext cx="54864" cy="749808"/>
          </a:xfrm>
          <a:prstGeom prst="rect">
            <a:avLst/>
          </a:prstGeom>
          <a:solidFill>
            <a:srgbClr val="0D1B2A"/>
          </a:solidFill>
          <a:ln w="12700">
            <a:solidFill>
              <a:srgbClr val="0D1B2A"/>
            </a:solidFill>
            <a:prstDash val="solid"/>
          </a:ln>
        </p:spPr>
      </p:sp>
      <p:sp>
        <p:nvSpPr>
          <p:cNvPr id="43" name="Text 41"/>
          <p:cNvSpPr/>
          <p:nvPr/>
        </p:nvSpPr>
        <p:spPr>
          <a:xfrm>
            <a:off x="420624" y="4224528"/>
            <a:ext cx="3840480" cy="182880"/>
          </a:xfrm>
          <a:prstGeom prst="rect">
            <a:avLst/>
          </a:prstGeom>
          <a:noFill/>
          <a:ln/>
        </p:spPr>
        <p:txBody>
          <a:bodyPr wrap="square" lIns="0" tIns="0" rIns="0" bIns="0"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Investment Committee Approval</a:t>
            </a:r>
            <a:endParaRPr lang="en-US" sz="1000" dirty="0"/>
          </a:p>
        </p:txBody>
      </p:sp>
      <p:sp>
        <p:nvSpPr>
          <p:cNvPr id="44" name="Text 42"/>
          <p:cNvSpPr/>
          <p:nvPr/>
        </p:nvSpPr>
        <p:spPr>
          <a:xfrm>
            <a:off x="420624" y="4425696"/>
            <a:ext cx="3840480" cy="402336"/>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Any allocation exceeding 5% in a single non-NVDA position requires investment committee review and client sign-off. Document and retain approval for compliance records.</a:t>
            </a:r>
            <a:endParaRPr lang="en-US" sz="850" dirty="0"/>
          </a:p>
        </p:txBody>
      </p:sp>
      <p:sp>
        <p:nvSpPr>
          <p:cNvPr id="45" name="Shape 43"/>
          <p:cNvSpPr/>
          <p:nvPr/>
        </p:nvSpPr>
        <p:spPr>
          <a:xfrm>
            <a:off x="4718304" y="4151376"/>
            <a:ext cx="4187952" cy="749808"/>
          </a:xfrm>
          <a:prstGeom prst="rect">
            <a:avLst/>
          </a:prstGeom>
          <a:solidFill>
            <a:srgbClr val="FFFFFF"/>
          </a:solidFill>
          <a:ln w="6350">
            <a:solidFill>
              <a:srgbClr val="DEDEDE"/>
            </a:solidFill>
            <a:prstDash val="solid"/>
          </a:ln>
        </p:spPr>
      </p:sp>
      <p:sp>
        <p:nvSpPr>
          <p:cNvPr id="46" name="Shape 44"/>
          <p:cNvSpPr/>
          <p:nvPr/>
        </p:nvSpPr>
        <p:spPr>
          <a:xfrm>
            <a:off x="4718304" y="4151376"/>
            <a:ext cx="54864" cy="749808"/>
          </a:xfrm>
          <a:prstGeom prst="rect">
            <a:avLst/>
          </a:prstGeom>
          <a:solidFill>
            <a:srgbClr val="0D1B2A"/>
          </a:solidFill>
          <a:ln w="12700">
            <a:solidFill>
              <a:srgbClr val="0D1B2A"/>
            </a:solidFill>
            <a:prstDash val="solid"/>
          </a:ln>
        </p:spPr>
      </p:sp>
      <p:sp>
        <p:nvSpPr>
          <p:cNvPr id="47" name="Text 45"/>
          <p:cNvSpPr/>
          <p:nvPr/>
        </p:nvSpPr>
        <p:spPr>
          <a:xfrm>
            <a:off x="4882896" y="4224528"/>
            <a:ext cx="3840480" cy="182880"/>
          </a:xfrm>
          <a:prstGeom prst="rect">
            <a:avLst/>
          </a:prstGeom>
          <a:noFill/>
          <a:ln/>
        </p:spPr>
        <p:txBody>
          <a:bodyPr wrap="square" lIns="0" tIns="0" rIns="0" bIns="0"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Restricted Sector Screening</a:t>
            </a:r>
            <a:endParaRPr lang="en-US" sz="1000" dirty="0"/>
          </a:p>
        </p:txBody>
      </p:sp>
      <p:sp>
        <p:nvSpPr>
          <p:cNvPr id="48" name="Text 46"/>
          <p:cNvSpPr/>
          <p:nvPr/>
        </p:nvSpPr>
        <p:spPr>
          <a:xfrm>
            <a:off x="4882896" y="4425696"/>
            <a:ext cx="3840480" cy="402336"/>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All new equity purchases screened against restriction list before execution. Tobacco, private prisons, speculative crypto, and Chinese state-linked tech are permanently excluded.</a:t>
            </a:r>
            <a:endParaRPr lang="en-US" sz="850" dirty="0"/>
          </a:p>
        </p:txBody>
      </p:sp>
      <p:sp>
        <p:nvSpPr>
          <p:cNvPr id="49" name="Text 47"/>
          <p:cNvSpPr/>
          <p:nvPr/>
        </p:nvSpPr>
        <p:spPr>
          <a:xfrm>
            <a:off x="256032" y="4882896"/>
            <a:ext cx="8686800" cy="164592"/>
          </a:xfrm>
          <a:prstGeom prst="rect">
            <a:avLst/>
          </a:prstGeom>
          <a:noFill/>
          <a:ln/>
        </p:spPr>
        <p:txBody>
          <a:bodyPr wrap="square" lIns="0" tIns="0" rIns="0" bIns="0" rtlCol="0" anchor="ctr"/>
          <a:lstStyle/>
          <a:p>
            <a:pPr indent="0" marL="0">
              <a:buNone/>
            </a:pPr>
            <a:r>
              <a:rPr lang="en-US" sz="800" i="1" dirty="0">
                <a:solidFill>
                  <a:srgbClr val="718096"/>
                </a:solidFill>
                <a:latin typeface="Calibri" pitchFamily="34" charset="0"/>
                <a:ea typeface="Calibri" pitchFamily="34" charset="-122"/>
                <a:cs typeface="Calibri" pitchFamily="34" charset="-120"/>
              </a:rPr>
              <a:t>All implementation steps should be reviewed with qualified legal, tax, and compliance counsel before execution. Client authorization required for material portfolio changes.</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B5922E"/>
          </a:solidFill>
          <a:ln w="12700">
            <a:solidFill>
              <a:srgbClr val="B5922E"/>
            </a:solidFill>
            <a:prstDash val="solid"/>
          </a:ln>
        </p:spPr>
      </p:sp>
      <p:sp>
        <p:nvSpPr>
          <p:cNvPr id="3" name="Text 1"/>
          <p:cNvSpPr/>
          <p:nvPr/>
        </p:nvSpPr>
        <p:spPr>
          <a:xfrm>
            <a:off x="411480" y="1371600"/>
            <a:ext cx="2743200" cy="1097280"/>
          </a:xfrm>
          <a:prstGeom prst="rect">
            <a:avLst/>
          </a:prstGeom>
          <a:noFill/>
          <a:ln/>
        </p:spPr>
        <p:txBody>
          <a:bodyPr wrap="square" lIns="0" tIns="0" rIns="0" bIns="0" rtlCol="0" anchor="ctr"/>
          <a:lstStyle/>
          <a:p>
            <a:pPr indent="0" marL="0">
              <a:buNone/>
            </a:pPr>
            <a:r>
              <a:rPr lang="en-US" sz="9600" b="1" dirty="0">
                <a:solidFill>
                  <a:srgbClr val="1E3347"/>
                </a:solidFill>
                <a:latin typeface="Garamond" pitchFamily="34" charset="0"/>
                <a:ea typeface="Garamond" pitchFamily="34" charset="-122"/>
                <a:cs typeface="Garamond" pitchFamily="34" charset="-120"/>
              </a:rPr>
              <a:t>06</a:t>
            </a:r>
            <a:endParaRPr lang="en-US" sz="9600" dirty="0"/>
          </a:p>
        </p:txBody>
      </p:sp>
      <p:sp>
        <p:nvSpPr>
          <p:cNvPr id="4" name="Text 2"/>
          <p:cNvSpPr/>
          <p:nvPr/>
        </p:nvSpPr>
        <p:spPr>
          <a:xfrm>
            <a:off x="411480" y="1234440"/>
            <a:ext cx="7315200" cy="201168"/>
          </a:xfrm>
          <a:prstGeom prst="rect">
            <a:avLst/>
          </a:prstGeom>
          <a:noFill/>
          <a:ln/>
        </p:spPr>
        <p:txBody>
          <a:bodyPr wrap="square" lIns="0" tIns="0" rIns="0" bIns="0" rtlCol="0" anchor="ctr"/>
          <a:lstStyle/>
          <a:p>
            <a:pPr indent="0" marL="0">
              <a:buNone/>
            </a:pPr>
            <a:r>
              <a:rPr lang="en-US" sz="900" b="1" spc="300" kern="0" dirty="0">
                <a:solidFill>
                  <a:srgbClr val="B5922E"/>
                </a:solidFill>
                <a:latin typeface="Calibri" pitchFamily="34" charset="0"/>
                <a:ea typeface="Calibri" pitchFamily="34" charset="-122"/>
                <a:cs typeface="Calibri" pitchFamily="34" charset="-120"/>
              </a:rPr>
              <a:t>SECTION</a:t>
            </a:r>
            <a:endParaRPr lang="en-US" sz="900" dirty="0"/>
          </a:p>
        </p:txBody>
      </p:sp>
      <p:sp>
        <p:nvSpPr>
          <p:cNvPr id="5" name="Text 3"/>
          <p:cNvSpPr/>
          <p:nvPr/>
        </p:nvSpPr>
        <p:spPr>
          <a:xfrm>
            <a:off x="411480" y="2395728"/>
            <a:ext cx="6400800" cy="502920"/>
          </a:xfrm>
          <a:prstGeom prst="rect">
            <a:avLst/>
          </a:prstGeom>
          <a:noFill/>
          <a:ln/>
        </p:spPr>
        <p:txBody>
          <a:bodyPr wrap="square" lIns="0" tIns="0" rIns="0" bIns="0" rtlCol="0" anchor="ctr"/>
          <a:lstStyle/>
          <a:p>
            <a:pPr indent="0" marL="0">
              <a:buNone/>
            </a:pPr>
            <a:r>
              <a:rPr lang="en-US" sz="3600" b="1" dirty="0">
                <a:solidFill>
                  <a:srgbClr val="FFFFFF"/>
                </a:solidFill>
                <a:latin typeface="Garamond" pitchFamily="34" charset="0"/>
                <a:ea typeface="Garamond" pitchFamily="34" charset="-122"/>
                <a:cs typeface="Garamond" pitchFamily="34" charset="-120"/>
              </a:rPr>
              <a:t>Estate Planning</a:t>
            </a:r>
            <a:endParaRPr lang="en-US" sz="3600" dirty="0"/>
          </a:p>
          <a:p>
            <a:pPr indent="0" marL="0">
              <a:buNone/>
            </a:pPr>
            <a:r>
              <a:rPr lang="en-US" sz="3600" b="1" dirty="0">
                <a:solidFill>
                  <a:srgbClr val="FFFFFF"/>
                </a:solidFill>
                <a:latin typeface="Garamond" pitchFamily="34" charset="0"/>
                <a:ea typeface="Garamond" pitchFamily="34" charset="-122"/>
                <a:cs typeface="Garamond" pitchFamily="34" charset="-120"/>
              </a:rPr>
              <a:t>Review</a:t>
            </a:r>
            <a:endParaRPr lang="en-US" sz="3600" dirty="0"/>
          </a:p>
        </p:txBody>
      </p:sp>
      <p:sp>
        <p:nvSpPr>
          <p:cNvPr id="6" name="Text 4"/>
          <p:cNvSpPr/>
          <p:nvPr/>
        </p:nvSpPr>
        <p:spPr>
          <a:xfrm>
            <a:off x="411480" y="3621024"/>
            <a:ext cx="6400800" cy="365760"/>
          </a:xfrm>
          <a:prstGeom prst="rect">
            <a:avLst/>
          </a:prstGeom>
          <a:noFill/>
          <a:ln/>
        </p:spPr>
        <p:txBody>
          <a:bodyPr wrap="square" lIns="0" tIns="0" rIns="0" bIns="0" rtlCol="0" anchor="ctr"/>
          <a:lstStyle/>
          <a:p>
            <a:pPr indent="0" marL="0">
              <a:buNone/>
            </a:pPr>
            <a:r>
              <a:rPr lang="en-US" sz="1300" dirty="0">
                <a:solidFill>
                  <a:srgbClr val="A0B4C8"/>
                </a:solidFill>
                <a:latin typeface="Calibri" pitchFamily="34" charset="0"/>
                <a:ea typeface="Calibri" pitchFamily="34" charset="-122"/>
                <a:cs typeface="Calibri" pitchFamily="34" charset="-120"/>
              </a:rPr>
              <a:t>Current estate valuation · Projected value at last death · Federal estate tax exposure analysis.</a:t>
            </a:r>
            <a:endParaRPr lang="en-US" sz="1300" dirty="0"/>
          </a:p>
        </p:txBody>
      </p:sp>
      <p:pic>
        <p:nvPicPr>
          <p:cNvPr id="7" name="Image 0" descr="preencoded.png">    </p:cNvPr>
          <p:cNvPicPr>
            <a:picLocks noChangeAspect="1"/>
          </p:cNvPicPr>
          <p:nvPr/>
        </p:nvPicPr>
        <p:blipFill>
          <a:blip r:embed="rId1">
            <a:alphaModFix amt="30000"/>
          </a:blip>
          <a:stretch>
            <a:fillRect/>
          </a:stretch>
        </p:blipFill>
        <p:spPr>
          <a:xfrm>
            <a:off x="7132320" y="1645920"/>
            <a:ext cx="1371600" cy="13716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1B2A"/>
          </a:solidFill>
          <a:ln w="12700">
            <a:solidFill>
              <a:srgbClr val="0D1B2A"/>
            </a:solidFill>
            <a:prstDash val="solid"/>
          </a:ln>
        </p:spPr>
      </p:sp>
      <p:sp>
        <p:nvSpPr>
          <p:cNvPr id="3" name="Text 1"/>
          <p:cNvSpPr/>
          <p:nvPr/>
        </p:nvSpPr>
        <p:spPr>
          <a:xfrm>
            <a:off x="256032" y="274320"/>
            <a:ext cx="7315200" cy="201168"/>
          </a:xfrm>
          <a:prstGeom prst="rect">
            <a:avLst/>
          </a:prstGeom>
          <a:noFill/>
          <a:ln/>
        </p:spPr>
        <p:txBody>
          <a:bodyPr wrap="square" lIns="0" tIns="0" rIns="0" bIns="0" rtlCol="0" anchor="ctr"/>
          <a:lstStyle/>
          <a:p>
            <a:pPr indent="0" marL="0">
              <a:buNone/>
            </a:pPr>
            <a:r>
              <a:rPr lang="en-US" sz="900" b="1" spc="300" kern="0" dirty="0">
                <a:solidFill>
                  <a:srgbClr val="B5922E"/>
                </a:solidFill>
                <a:latin typeface="Calibri" pitchFamily="34" charset="0"/>
                <a:ea typeface="Calibri" pitchFamily="34" charset="-122"/>
                <a:cs typeface="Calibri" pitchFamily="34" charset="-120"/>
              </a:rPr>
              <a:t>SECTION 06 · ESTATE PLANNING</a:t>
            </a:r>
            <a:endParaRPr lang="en-US" sz="900" dirty="0"/>
          </a:p>
        </p:txBody>
      </p:sp>
      <p:sp>
        <p:nvSpPr>
          <p:cNvPr id="4" name="Text 2"/>
          <p:cNvSpPr/>
          <p:nvPr/>
        </p:nvSpPr>
        <p:spPr>
          <a:xfrm>
            <a:off x="256032" y="493776"/>
            <a:ext cx="8686800" cy="502920"/>
          </a:xfrm>
          <a:prstGeom prst="rect">
            <a:avLst/>
          </a:prstGeom>
          <a:noFill/>
          <a:ln/>
        </p:spPr>
        <p:txBody>
          <a:bodyPr wrap="square" lIns="0" tIns="0" rIns="0" bIns="0" rtlCol="0" anchor="ctr"/>
          <a:lstStyle/>
          <a:p>
            <a:pPr indent="0" marL="0">
              <a:buNone/>
            </a:pPr>
            <a:r>
              <a:rPr lang="en-US" sz="2400" b="1" dirty="0">
                <a:solidFill>
                  <a:srgbClr val="0D1B2A"/>
                </a:solidFill>
                <a:latin typeface="Garamond" pitchFamily="34" charset="0"/>
                <a:ea typeface="Garamond" pitchFamily="34" charset="-122"/>
                <a:cs typeface="Garamond" pitchFamily="34" charset="-120"/>
              </a:rPr>
              <a:t>Estate Value — Today</a:t>
            </a:r>
            <a:endParaRPr lang="en-US" sz="2400" dirty="0"/>
          </a:p>
        </p:txBody>
      </p:sp>
      <p:sp>
        <p:nvSpPr>
          <p:cNvPr id="5" name="Shape 3"/>
          <p:cNvSpPr/>
          <p:nvPr/>
        </p:nvSpPr>
        <p:spPr>
          <a:xfrm>
            <a:off x="256032" y="1005840"/>
            <a:ext cx="8686800" cy="438912"/>
          </a:xfrm>
          <a:prstGeom prst="rect">
            <a:avLst/>
          </a:prstGeom>
          <a:solidFill>
            <a:srgbClr val="FEF3CD"/>
          </a:solidFill>
          <a:ln w="9525">
            <a:solidFill>
              <a:srgbClr val="F0C840"/>
            </a:solidFill>
            <a:prstDash val="solid"/>
          </a:ln>
        </p:spPr>
      </p:sp>
      <p:pic>
        <p:nvPicPr>
          <p:cNvPr id="6" name="Image 0" descr="preencoded.png">    </p:cNvPr>
          <p:cNvPicPr>
            <a:picLocks noChangeAspect="1"/>
          </p:cNvPicPr>
          <p:nvPr/>
        </p:nvPicPr>
        <p:blipFill>
          <a:blip r:embed="rId1"/>
          <a:stretch>
            <a:fillRect/>
          </a:stretch>
        </p:blipFill>
        <p:spPr>
          <a:xfrm>
            <a:off x="347472" y="1069848"/>
            <a:ext cx="256032" cy="256032"/>
          </a:xfrm>
          <a:prstGeom prst="rect">
            <a:avLst/>
          </a:prstGeom>
        </p:spPr>
      </p:pic>
      <p:sp>
        <p:nvSpPr>
          <p:cNvPr id="7" name="Text 4"/>
          <p:cNvSpPr/>
          <p:nvPr/>
        </p:nvSpPr>
        <p:spPr>
          <a:xfrm>
            <a:off x="676656" y="1060704"/>
            <a:ext cx="8138160" cy="310896"/>
          </a:xfrm>
          <a:prstGeom prst="rect">
            <a:avLst/>
          </a:prstGeom>
          <a:noFill/>
          <a:ln/>
        </p:spPr>
        <p:txBody>
          <a:bodyPr wrap="square" lIns="0" tIns="0" rIns="0" bIns="0" rtlCol="0" anchor="ctr"/>
          <a:lstStyle/>
          <a:p>
            <a:pPr indent="0" marL="0">
              <a:buNone/>
            </a:pPr>
            <a:r>
              <a:rPr lang="en-US" sz="950" dirty="0">
                <a:solidFill>
                  <a:srgbClr val="7A5800"/>
                </a:solidFill>
                <a:latin typeface="Calibri" pitchFamily="34" charset="0"/>
                <a:ea typeface="Calibri" pitchFamily="34" charset="-122"/>
                <a:cs typeface="Calibri" pitchFamily="34" charset="-120"/>
              </a:rPr>
              <a:t>The current estate value materially exceeds the applicable federal exemption threshold. Assets in excess of $30,000,000 are subject to a 40% federal estate tax. The unlimited marital deduction defers recognition of this liability upon the first death; however, the full combined estate is exposed upon the death of the surviving spouse.</a:t>
            </a:r>
            <a:endParaRPr lang="en-US" sz="950" dirty="0"/>
          </a:p>
        </p:txBody>
      </p:sp>
      <p:sp>
        <p:nvSpPr>
          <p:cNvPr id="8" name="Text 5"/>
          <p:cNvSpPr/>
          <p:nvPr/>
        </p:nvSpPr>
        <p:spPr>
          <a:xfrm>
            <a:off x="256032" y="1554480"/>
            <a:ext cx="8686800" cy="201168"/>
          </a:xfrm>
          <a:prstGeom prst="rect">
            <a:avLst/>
          </a:prstGeom>
          <a:noFill/>
          <a:ln/>
        </p:spPr>
        <p:txBody>
          <a:bodyPr wrap="square" lIns="0" tIns="0" rIns="0" bIns="0" rtlCol="0" anchor="ctr"/>
          <a:lstStyle/>
          <a:p>
            <a:pPr indent="0" marL="0">
              <a:buNone/>
            </a:pPr>
            <a:r>
              <a:rPr lang="en-US" sz="900" i="1" dirty="0">
                <a:solidFill>
                  <a:srgbClr val="718096"/>
                </a:solidFill>
                <a:latin typeface="Calibri" pitchFamily="34" charset="0"/>
                <a:ea typeface="Calibri" pitchFamily="34" charset="-122"/>
                <a:cs typeface="Calibri" pitchFamily="34" charset="-120"/>
              </a:rPr>
              <a:t>Net worth split 50/50   ·   $59M each   ·   Managed: $36M · RE: $14M · Other: $9M   ·   Exemption: $30M   ·   40% on amounts above</a:t>
            </a:r>
            <a:endParaRPr lang="en-US" sz="900" dirty="0"/>
          </a:p>
        </p:txBody>
      </p:sp>
      <p:sp>
        <p:nvSpPr>
          <p:cNvPr id="9" name="Shape 6"/>
          <p:cNvSpPr/>
          <p:nvPr/>
        </p:nvSpPr>
        <p:spPr>
          <a:xfrm>
            <a:off x="256032" y="1828800"/>
            <a:ext cx="3291840" cy="822960"/>
          </a:xfrm>
          <a:prstGeom prst="rect">
            <a:avLst/>
          </a:prstGeom>
          <a:solidFill>
            <a:srgbClr val="0D1B2A"/>
          </a:solidFill>
          <a:ln w="12700">
            <a:solidFill>
              <a:srgbClr val="0D1B2A"/>
            </a:solidFill>
            <a:prstDash val="solid"/>
          </a:ln>
        </p:spPr>
      </p:sp>
      <p:sp>
        <p:nvSpPr>
          <p:cNvPr id="10" name="Text 7"/>
          <p:cNvSpPr/>
          <p:nvPr/>
        </p:nvSpPr>
        <p:spPr>
          <a:xfrm>
            <a:off x="420624" y="1901952"/>
            <a:ext cx="2926080" cy="182880"/>
          </a:xfrm>
          <a:prstGeom prst="rect">
            <a:avLst/>
          </a:prstGeom>
          <a:noFill/>
          <a:ln/>
        </p:spPr>
        <p:txBody>
          <a:bodyPr wrap="square" lIns="0" tIns="0" rIns="0" bIns="0" rtlCol="0" anchor="ctr"/>
          <a:lstStyle/>
          <a:p>
            <a:pPr indent="0" marL="0">
              <a:buNone/>
            </a:pPr>
            <a:r>
              <a:rPr lang="en-US" sz="850" b="1" spc="200" kern="0" dirty="0">
                <a:solidFill>
                  <a:srgbClr val="B5922E"/>
                </a:solidFill>
                <a:latin typeface="Calibri" pitchFamily="34" charset="0"/>
                <a:ea typeface="Calibri" pitchFamily="34" charset="-122"/>
                <a:cs typeface="Calibri" pitchFamily="34" charset="-120"/>
              </a:rPr>
              <a:t>DANIEL'S ESTATE</a:t>
            </a:r>
            <a:endParaRPr lang="en-US" sz="850" dirty="0"/>
          </a:p>
        </p:txBody>
      </p:sp>
      <p:sp>
        <p:nvSpPr>
          <p:cNvPr id="11" name="Text 8"/>
          <p:cNvSpPr/>
          <p:nvPr/>
        </p:nvSpPr>
        <p:spPr>
          <a:xfrm>
            <a:off x="420624" y="2121408"/>
            <a:ext cx="2926080" cy="402336"/>
          </a:xfrm>
          <a:prstGeom prst="rect">
            <a:avLst/>
          </a:prstGeom>
          <a:noFill/>
          <a:ln/>
        </p:spPr>
        <p:txBody>
          <a:bodyPr wrap="square" lIns="0" tIns="0" rIns="0" bIns="0" rtlCol="0" anchor="ctr"/>
          <a:lstStyle/>
          <a:p>
            <a:pPr indent="0" marL="0">
              <a:buNone/>
            </a:pPr>
            <a:r>
              <a:rPr lang="en-US" sz="2400" b="1" dirty="0">
                <a:solidFill>
                  <a:srgbClr val="FFFFFF"/>
                </a:solidFill>
                <a:latin typeface="Garamond" pitchFamily="34" charset="0"/>
                <a:ea typeface="Garamond" pitchFamily="34" charset="-122"/>
                <a:cs typeface="Garamond" pitchFamily="34" charset="-120"/>
              </a:rPr>
              <a:t>$59,000,000</a:t>
            </a:r>
            <a:endParaRPr lang="en-US" sz="2400" dirty="0"/>
          </a:p>
        </p:txBody>
      </p:sp>
      <p:sp>
        <p:nvSpPr>
          <p:cNvPr id="12" name="Text 9"/>
          <p:cNvSpPr/>
          <p:nvPr/>
        </p:nvSpPr>
        <p:spPr>
          <a:xfrm>
            <a:off x="420624" y="2523744"/>
            <a:ext cx="2926080" cy="91440"/>
          </a:xfrm>
          <a:prstGeom prst="rect">
            <a:avLst/>
          </a:prstGeom>
          <a:noFill/>
          <a:ln/>
        </p:spPr>
        <p:txBody>
          <a:bodyPr wrap="square" lIns="0" tIns="0" rIns="0" bIns="0" rtlCol="0" anchor="ctr"/>
          <a:lstStyle/>
          <a:p>
            <a:pPr indent="0" marL="0">
              <a:buNone/>
            </a:pPr>
            <a:r>
              <a:rPr lang="en-US" sz="850" dirty="0">
                <a:solidFill>
                  <a:srgbClr val="A0B4C8"/>
                </a:solidFill>
                <a:latin typeface="Calibri" pitchFamily="34" charset="0"/>
                <a:ea typeface="Calibri" pitchFamily="34" charset="-122"/>
                <a:cs typeface="Calibri" pitchFamily="34" charset="-120"/>
              </a:rPr>
              <a:t>Total assets (50% split)</a:t>
            </a:r>
            <a:endParaRPr lang="en-US" sz="850" dirty="0"/>
          </a:p>
        </p:txBody>
      </p:sp>
      <p:sp>
        <p:nvSpPr>
          <p:cNvPr id="13" name="Shape 10"/>
          <p:cNvSpPr/>
          <p:nvPr/>
        </p:nvSpPr>
        <p:spPr>
          <a:xfrm>
            <a:off x="3657600" y="2157984"/>
            <a:ext cx="640080" cy="164592"/>
          </a:xfrm>
          <a:prstGeom prst="rect">
            <a:avLst/>
          </a:prstGeom>
          <a:solidFill>
            <a:srgbClr val="718096"/>
          </a:solidFill>
          <a:ln w="12700">
            <a:solidFill>
              <a:srgbClr val="718096"/>
            </a:solidFill>
            <a:prstDash val="solid"/>
          </a:ln>
        </p:spPr>
      </p:sp>
      <p:sp>
        <p:nvSpPr>
          <p:cNvPr id="14" name="Text 11"/>
          <p:cNvSpPr/>
          <p:nvPr/>
        </p:nvSpPr>
        <p:spPr>
          <a:xfrm>
            <a:off x="4187952" y="2029968"/>
            <a:ext cx="274320" cy="402336"/>
          </a:xfrm>
          <a:prstGeom prst="rect">
            <a:avLst/>
          </a:prstGeom>
          <a:noFill/>
          <a:ln/>
        </p:spPr>
        <p:txBody>
          <a:bodyPr wrap="square" lIns="0" tIns="0" rIns="0" bIns="0" rtlCol="0" anchor="ctr"/>
          <a:lstStyle/>
          <a:p>
            <a:pPr indent="0" marL="0">
              <a:buNone/>
            </a:pPr>
            <a:r>
              <a:rPr lang="en-US" sz="2000" dirty="0">
                <a:solidFill>
                  <a:srgbClr val="718096"/>
                </a:solidFill>
              </a:rPr>
              <a:t>→</a:t>
            </a:r>
            <a:endParaRPr lang="en-US" sz="2000" dirty="0"/>
          </a:p>
        </p:txBody>
      </p:sp>
      <p:sp>
        <p:nvSpPr>
          <p:cNvPr id="15" name="Shape 12"/>
          <p:cNvSpPr/>
          <p:nvPr/>
        </p:nvSpPr>
        <p:spPr>
          <a:xfrm>
            <a:off x="4572000" y="1828800"/>
            <a:ext cx="4389120" cy="822960"/>
          </a:xfrm>
          <a:prstGeom prst="rect">
            <a:avLst/>
          </a:prstGeom>
          <a:solidFill>
            <a:srgbClr val="0D1B2A"/>
          </a:solidFill>
          <a:ln w="12700">
            <a:solidFill>
              <a:srgbClr val="0D1B2A"/>
            </a:solidFill>
            <a:prstDash val="solid"/>
          </a:ln>
        </p:spPr>
      </p:sp>
      <p:sp>
        <p:nvSpPr>
          <p:cNvPr id="16" name="Text 13"/>
          <p:cNvSpPr/>
          <p:nvPr/>
        </p:nvSpPr>
        <p:spPr>
          <a:xfrm>
            <a:off x="4736592" y="1901952"/>
            <a:ext cx="2926080" cy="182880"/>
          </a:xfrm>
          <a:prstGeom prst="rect">
            <a:avLst/>
          </a:prstGeom>
          <a:noFill/>
          <a:ln/>
        </p:spPr>
        <p:txBody>
          <a:bodyPr wrap="square" lIns="0" tIns="0" rIns="0" bIns="0" rtlCol="0" anchor="ctr"/>
          <a:lstStyle/>
          <a:p>
            <a:pPr indent="0" marL="0">
              <a:buNone/>
            </a:pPr>
            <a:r>
              <a:rPr lang="en-US" sz="850" b="1" spc="200" kern="0" dirty="0">
                <a:solidFill>
                  <a:srgbClr val="B5922E"/>
                </a:solidFill>
                <a:latin typeface="Calibri" pitchFamily="34" charset="0"/>
                <a:ea typeface="Calibri" pitchFamily="34" charset="-122"/>
                <a:cs typeface="Calibri" pitchFamily="34" charset="-120"/>
              </a:rPr>
              <a:t>CLAIRE'S ESTATE</a:t>
            </a:r>
            <a:endParaRPr lang="en-US" sz="850" dirty="0"/>
          </a:p>
        </p:txBody>
      </p:sp>
      <p:sp>
        <p:nvSpPr>
          <p:cNvPr id="17" name="Text 14"/>
          <p:cNvSpPr/>
          <p:nvPr/>
        </p:nvSpPr>
        <p:spPr>
          <a:xfrm>
            <a:off x="4736592" y="2121408"/>
            <a:ext cx="2926080" cy="402336"/>
          </a:xfrm>
          <a:prstGeom prst="rect">
            <a:avLst/>
          </a:prstGeom>
          <a:noFill/>
          <a:ln/>
        </p:spPr>
        <p:txBody>
          <a:bodyPr wrap="square" lIns="0" tIns="0" rIns="0" bIns="0" rtlCol="0" anchor="ctr"/>
          <a:lstStyle/>
          <a:p>
            <a:pPr indent="0" marL="0">
              <a:buNone/>
            </a:pPr>
            <a:r>
              <a:rPr lang="en-US" sz="2400" b="1" dirty="0">
                <a:solidFill>
                  <a:srgbClr val="FFFFFF"/>
                </a:solidFill>
                <a:latin typeface="Garamond" pitchFamily="34" charset="0"/>
                <a:ea typeface="Garamond" pitchFamily="34" charset="-122"/>
                <a:cs typeface="Garamond" pitchFamily="34" charset="-120"/>
              </a:rPr>
              <a:t>$59,000,000</a:t>
            </a:r>
            <a:endParaRPr lang="en-US" sz="2400" dirty="0"/>
          </a:p>
        </p:txBody>
      </p:sp>
      <p:sp>
        <p:nvSpPr>
          <p:cNvPr id="18" name="Shape 15"/>
          <p:cNvSpPr/>
          <p:nvPr/>
        </p:nvSpPr>
        <p:spPr>
          <a:xfrm>
            <a:off x="4572000" y="2761488"/>
            <a:ext cx="4389120" cy="292608"/>
          </a:xfrm>
          <a:prstGeom prst="rect">
            <a:avLst/>
          </a:prstGeom>
          <a:solidFill>
            <a:srgbClr val="FDF4F3"/>
          </a:solidFill>
          <a:ln w="9525">
            <a:solidFill>
              <a:srgbClr val="F4C5C0"/>
            </a:solidFill>
            <a:prstDash val="solid"/>
          </a:ln>
        </p:spPr>
      </p:sp>
      <p:sp>
        <p:nvSpPr>
          <p:cNvPr id="19" name="Text 16"/>
          <p:cNvSpPr/>
          <p:nvPr/>
        </p:nvSpPr>
        <p:spPr>
          <a:xfrm>
            <a:off x="4700016" y="2825496"/>
            <a:ext cx="2743200" cy="164592"/>
          </a:xfrm>
          <a:prstGeom prst="rect">
            <a:avLst/>
          </a:prstGeom>
          <a:noFill/>
          <a:ln/>
        </p:spPr>
        <p:txBody>
          <a:bodyPr wrap="square" lIns="0" tIns="0" rIns="0" bIns="0" rtlCol="0" anchor="ctr"/>
          <a:lstStyle/>
          <a:p>
            <a:pPr indent="0" marL="0">
              <a:buNone/>
            </a:pPr>
            <a:r>
              <a:rPr lang="en-US" sz="900" dirty="0">
                <a:solidFill>
                  <a:srgbClr val="7B2D26"/>
                </a:solidFill>
                <a:latin typeface="Calibri" pitchFamily="34" charset="0"/>
                <a:ea typeface="Calibri" pitchFamily="34" charset="-122"/>
                <a:cs typeface="Calibri" pitchFamily="34" charset="-120"/>
              </a:rPr>
              <a:t>Tax on first death</a:t>
            </a:r>
            <a:endParaRPr lang="en-US" sz="900" dirty="0"/>
          </a:p>
        </p:txBody>
      </p:sp>
      <p:sp>
        <p:nvSpPr>
          <p:cNvPr id="20" name="Text 17"/>
          <p:cNvSpPr/>
          <p:nvPr/>
        </p:nvSpPr>
        <p:spPr>
          <a:xfrm>
            <a:off x="6858000" y="2825496"/>
            <a:ext cx="1975104" cy="164592"/>
          </a:xfrm>
          <a:prstGeom prst="rect">
            <a:avLst/>
          </a:prstGeom>
          <a:noFill/>
          <a:ln/>
        </p:spPr>
        <p:txBody>
          <a:bodyPr wrap="square" lIns="0" tIns="0" rIns="0" bIns="0" rtlCol="0" anchor="ctr"/>
          <a:lstStyle/>
          <a:p>
            <a:pPr algn="r" indent="0" marL="0">
              <a:buNone/>
            </a:pPr>
            <a:r>
              <a:rPr lang="en-US" sz="900" b="1" dirty="0">
                <a:solidFill>
                  <a:srgbClr val="C0392B"/>
                </a:solidFill>
                <a:latin typeface="Calibri" pitchFamily="34" charset="0"/>
                <a:ea typeface="Calibri" pitchFamily="34" charset="-122"/>
                <a:cs typeface="Calibri" pitchFamily="34" charset="-120"/>
              </a:rPr>
              <a:t>$0 (marital deduction)</a:t>
            </a:r>
            <a:endParaRPr lang="en-US" sz="900" dirty="0"/>
          </a:p>
        </p:txBody>
      </p:sp>
      <p:sp>
        <p:nvSpPr>
          <p:cNvPr id="21" name="Shape 18"/>
          <p:cNvSpPr/>
          <p:nvPr/>
        </p:nvSpPr>
        <p:spPr>
          <a:xfrm>
            <a:off x="4572000" y="3090672"/>
            <a:ext cx="4389120" cy="292608"/>
          </a:xfrm>
          <a:prstGeom prst="rect">
            <a:avLst/>
          </a:prstGeom>
          <a:solidFill>
            <a:srgbClr val="F0F4FB"/>
          </a:solidFill>
          <a:ln w="9525">
            <a:solidFill>
              <a:srgbClr val="185FA5"/>
            </a:solidFill>
            <a:prstDash val="solid"/>
          </a:ln>
        </p:spPr>
      </p:sp>
      <p:sp>
        <p:nvSpPr>
          <p:cNvPr id="22" name="Text 19"/>
          <p:cNvSpPr/>
          <p:nvPr/>
        </p:nvSpPr>
        <p:spPr>
          <a:xfrm>
            <a:off x="4700016" y="3154680"/>
            <a:ext cx="2743200" cy="164592"/>
          </a:xfrm>
          <a:prstGeom prst="rect">
            <a:avLst/>
          </a:prstGeom>
          <a:noFill/>
          <a:ln/>
        </p:spPr>
        <p:txBody>
          <a:bodyPr wrap="square" lIns="0" tIns="0" rIns="0" bIns="0" rtlCol="0" anchor="ctr"/>
          <a:lstStyle/>
          <a:p>
            <a:pPr indent="0" marL="0">
              <a:buNone/>
            </a:pPr>
            <a:r>
              <a:rPr lang="en-US" sz="900" dirty="0">
                <a:solidFill>
                  <a:srgbClr val="185FA5"/>
                </a:solidFill>
                <a:latin typeface="Calibri" pitchFamily="34" charset="0"/>
                <a:ea typeface="Calibri" pitchFamily="34" charset="-122"/>
                <a:cs typeface="Calibri" pitchFamily="34" charset="-120"/>
              </a:rPr>
              <a:t>Inheritance passed to survivor</a:t>
            </a:r>
            <a:endParaRPr lang="en-US" sz="900" dirty="0"/>
          </a:p>
        </p:txBody>
      </p:sp>
      <p:sp>
        <p:nvSpPr>
          <p:cNvPr id="23" name="Text 20"/>
          <p:cNvSpPr/>
          <p:nvPr/>
        </p:nvSpPr>
        <p:spPr>
          <a:xfrm>
            <a:off x="6858000" y="3154680"/>
            <a:ext cx="1975104" cy="164592"/>
          </a:xfrm>
          <a:prstGeom prst="rect">
            <a:avLst/>
          </a:prstGeom>
          <a:noFill/>
          <a:ln/>
        </p:spPr>
        <p:txBody>
          <a:bodyPr wrap="square" lIns="0" tIns="0" rIns="0" bIns="0" rtlCol="0" anchor="ctr"/>
          <a:lstStyle/>
          <a:p>
            <a:pPr algn="r" indent="0" marL="0">
              <a:buNone/>
            </a:pPr>
            <a:r>
              <a:rPr lang="en-US" sz="900" b="1" dirty="0">
                <a:solidFill>
                  <a:srgbClr val="185FA5"/>
                </a:solidFill>
                <a:latin typeface="Calibri" pitchFamily="34" charset="0"/>
                <a:ea typeface="Calibri" pitchFamily="34" charset="-122"/>
                <a:cs typeface="Calibri" pitchFamily="34" charset="-120"/>
              </a:rPr>
              <a:t>$59,000,000</a:t>
            </a:r>
            <a:endParaRPr lang="en-US" sz="900" dirty="0"/>
          </a:p>
        </p:txBody>
      </p:sp>
      <p:sp>
        <p:nvSpPr>
          <p:cNvPr id="24" name="Shape 21"/>
          <p:cNvSpPr/>
          <p:nvPr/>
        </p:nvSpPr>
        <p:spPr>
          <a:xfrm>
            <a:off x="256032" y="3511296"/>
            <a:ext cx="8686800" cy="438912"/>
          </a:xfrm>
          <a:prstGeom prst="rect">
            <a:avLst/>
          </a:prstGeom>
          <a:solidFill>
            <a:srgbClr val="1A2E45"/>
          </a:solidFill>
          <a:ln w="12700">
            <a:solidFill>
              <a:srgbClr val="1A2E45"/>
            </a:solidFill>
            <a:prstDash val="solid"/>
          </a:ln>
        </p:spPr>
      </p:sp>
      <p:sp>
        <p:nvSpPr>
          <p:cNvPr id="25" name="Text 22"/>
          <p:cNvSpPr/>
          <p:nvPr/>
        </p:nvSpPr>
        <p:spPr>
          <a:xfrm>
            <a:off x="420624" y="3584448"/>
            <a:ext cx="5486400" cy="219456"/>
          </a:xfrm>
          <a:prstGeom prst="rect">
            <a:avLst/>
          </a:prstGeom>
          <a:noFill/>
          <a:ln/>
        </p:spPr>
        <p:txBody>
          <a:bodyPr wrap="square" lIns="0" tIns="0" rIns="0" bIns="0" rtlCol="0" anchor="ctr"/>
          <a:lstStyle/>
          <a:p>
            <a:pPr indent="0" marL="0">
              <a:buNone/>
            </a:pPr>
            <a:r>
              <a:rPr lang="en-US" sz="1100" dirty="0">
                <a:solidFill>
                  <a:srgbClr val="A0B4C8"/>
                </a:solidFill>
                <a:latin typeface="Calibri" pitchFamily="34" charset="0"/>
                <a:ea typeface="Calibri" pitchFamily="34" charset="-122"/>
                <a:cs typeface="Calibri" pitchFamily="34" charset="-120"/>
              </a:rPr>
              <a:t>Combined estate on second death</a:t>
            </a:r>
            <a:endParaRPr lang="en-US" sz="1100" dirty="0"/>
          </a:p>
        </p:txBody>
      </p:sp>
      <p:sp>
        <p:nvSpPr>
          <p:cNvPr id="26" name="Text 23"/>
          <p:cNvSpPr/>
          <p:nvPr/>
        </p:nvSpPr>
        <p:spPr>
          <a:xfrm>
            <a:off x="6400800" y="3547872"/>
            <a:ext cx="2377440" cy="329184"/>
          </a:xfrm>
          <a:prstGeom prst="rect">
            <a:avLst/>
          </a:prstGeom>
          <a:noFill/>
          <a:ln/>
        </p:spPr>
        <p:txBody>
          <a:bodyPr wrap="square" lIns="0" tIns="0" rIns="0" bIns="0" rtlCol="0" anchor="ctr"/>
          <a:lstStyle/>
          <a:p>
            <a:pPr algn="r" indent="0" marL="0">
              <a:buNone/>
            </a:pPr>
            <a:r>
              <a:rPr lang="en-US" sz="2000" b="1" dirty="0">
                <a:solidFill>
                  <a:srgbClr val="FFFFFF"/>
                </a:solidFill>
                <a:latin typeface="Garamond" pitchFamily="34" charset="0"/>
                <a:ea typeface="Garamond" pitchFamily="34" charset="-122"/>
                <a:cs typeface="Garamond" pitchFamily="34" charset="-120"/>
              </a:rPr>
              <a:t>$118,000,000</a:t>
            </a:r>
            <a:endParaRPr lang="en-US" sz="2000" dirty="0"/>
          </a:p>
        </p:txBody>
      </p:sp>
      <p:sp>
        <p:nvSpPr>
          <p:cNvPr id="27" name="Shape 24"/>
          <p:cNvSpPr/>
          <p:nvPr/>
        </p:nvSpPr>
        <p:spPr>
          <a:xfrm>
            <a:off x="256032" y="4078224"/>
            <a:ext cx="4251960" cy="786384"/>
          </a:xfrm>
          <a:prstGeom prst="rect">
            <a:avLst/>
          </a:prstGeom>
          <a:solidFill>
            <a:srgbClr val="FDF4F3"/>
          </a:solidFill>
          <a:ln w="9525">
            <a:solidFill>
              <a:srgbClr val="F4C5C0"/>
            </a:solidFill>
            <a:prstDash val="solid"/>
          </a:ln>
        </p:spPr>
      </p:sp>
      <p:sp>
        <p:nvSpPr>
          <p:cNvPr id="28" name="Text 25"/>
          <p:cNvSpPr/>
          <p:nvPr/>
        </p:nvSpPr>
        <p:spPr>
          <a:xfrm>
            <a:off x="420624" y="4151376"/>
            <a:ext cx="3840480" cy="182880"/>
          </a:xfrm>
          <a:prstGeom prst="rect">
            <a:avLst/>
          </a:prstGeom>
          <a:noFill/>
          <a:ln/>
        </p:spPr>
        <p:txBody>
          <a:bodyPr wrap="square" lIns="0" tIns="0" rIns="0" bIns="0" rtlCol="0" anchor="ctr"/>
          <a:lstStyle/>
          <a:p>
            <a:pPr indent="0" marL="0">
              <a:buNone/>
            </a:pPr>
            <a:r>
              <a:rPr lang="en-US" sz="850" b="1" spc="150" kern="0" dirty="0">
                <a:solidFill>
                  <a:srgbClr val="C0392B"/>
                </a:solidFill>
                <a:latin typeface="Calibri" pitchFamily="34" charset="0"/>
                <a:ea typeface="Calibri" pitchFamily="34" charset="-122"/>
                <a:cs typeface="Calibri" pitchFamily="34" charset="-120"/>
              </a:rPr>
              <a:t>ESTATE TAX TODAY</a:t>
            </a:r>
            <a:endParaRPr lang="en-US" sz="850" dirty="0"/>
          </a:p>
        </p:txBody>
      </p:sp>
      <p:sp>
        <p:nvSpPr>
          <p:cNvPr id="29" name="Text 26"/>
          <p:cNvSpPr/>
          <p:nvPr/>
        </p:nvSpPr>
        <p:spPr>
          <a:xfrm>
            <a:off x="420624" y="4334256"/>
            <a:ext cx="3840480" cy="329184"/>
          </a:xfrm>
          <a:prstGeom prst="rect">
            <a:avLst/>
          </a:prstGeom>
          <a:noFill/>
          <a:ln/>
        </p:spPr>
        <p:txBody>
          <a:bodyPr wrap="square" lIns="0" tIns="0" rIns="0" bIns="0" rtlCol="0" anchor="ctr"/>
          <a:lstStyle/>
          <a:p>
            <a:pPr indent="0" marL="0">
              <a:buNone/>
            </a:pPr>
            <a:r>
              <a:rPr lang="en-US" sz="2000" b="1" dirty="0">
                <a:solidFill>
                  <a:srgbClr val="7B2D26"/>
                </a:solidFill>
                <a:latin typeface="Garamond" pitchFamily="34" charset="0"/>
                <a:ea typeface="Garamond" pitchFamily="34" charset="-122"/>
                <a:cs typeface="Garamond" pitchFamily="34" charset="-120"/>
              </a:rPr>
              <a:t>($35,200,000)</a:t>
            </a:r>
            <a:endParaRPr lang="en-US" sz="2000" dirty="0"/>
          </a:p>
        </p:txBody>
      </p:sp>
      <p:sp>
        <p:nvSpPr>
          <p:cNvPr id="30" name="Text 27"/>
          <p:cNvSpPr/>
          <p:nvPr/>
        </p:nvSpPr>
        <p:spPr>
          <a:xfrm>
            <a:off x="420624" y="4663440"/>
            <a:ext cx="3840480" cy="164592"/>
          </a:xfrm>
          <a:prstGeom prst="rect">
            <a:avLst/>
          </a:prstGeom>
          <a:noFill/>
          <a:ln/>
        </p:spPr>
        <p:txBody>
          <a:bodyPr wrap="square" lIns="0" tIns="0" rIns="0" bIns="0" rtlCol="0" anchor="ctr"/>
          <a:lstStyle/>
          <a:p>
            <a:pPr indent="0" marL="0">
              <a:buNone/>
            </a:pPr>
            <a:r>
              <a:rPr lang="en-US" sz="900" dirty="0">
                <a:solidFill>
                  <a:srgbClr val="C0392B"/>
                </a:solidFill>
                <a:latin typeface="Calibri" pitchFamily="34" charset="0"/>
                <a:ea typeface="Calibri" pitchFamily="34" charset="-122"/>
                <a:cs typeface="Calibri" pitchFamily="34" charset="-120"/>
              </a:rPr>
              <a:t>40% on $88M taxable · 29.8% effective rate</a:t>
            </a:r>
            <a:endParaRPr lang="en-US" sz="900" dirty="0"/>
          </a:p>
        </p:txBody>
      </p:sp>
      <p:sp>
        <p:nvSpPr>
          <p:cNvPr id="31" name="Shape 28"/>
          <p:cNvSpPr/>
          <p:nvPr/>
        </p:nvSpPr>
        <p:spPr>
          <a:xfrm>
            <a:off x="4690872" y="4078224"/>
            <a:ext cx="4251960" cy="786384"/>
          </a:xfrm>
          <a:prstGeom prst="rect">
            <a:avLst/>
          </a:prstGeom>
          <a:solidFill>
            <a:srgbClr val="EFF7F2"/>
          </a:solidFill>
          <a:ln w="9525">
            <a:solidFill>
              <a:srgbClr val="1A6B45"/>
            </a:solidFill>
            <a:prstDash val="solid"/>
          </a:ln>
        </p:spPr>
      </p:sp>
      <p:sp>
        <p:nvSpPr>
          <p:cNvPr id="32" name="Text 29"/>
          <p:cNvSpPr/>
          <p:nvPr/>
        </p:nvSpPr>
        <p:spPr>
          <a:xfrm>
            <a:off x="4846320" y="4151376"/>
            <a:ext cx="3840480" cy="182880"/>
          </a:xfrm>
          <a:prstGeom prst="rect">
            <a:avLst/>
          </a:prstGeom>
          <a:noFill/>
          <a:ln/>
        </p:spPr>
        <p:txBody>
          <a:bodyPr wrap="square" lIns="0" tIns="0" rIns="0" bIns="0" rtlCol="0" anchor="ctr"/>
          <a:lstStyle/>
          <a:p>
            <a:pPr indent="0" marL="0">
              <a:buNone/>
            </a:pPr>
            <a:r>
              <a:rPr lang="en-US" sz="850" b="1" spc="150" kern="0" dirty="0">
                <a:solidFill>
                  <a:srgbClr val="1A6B45"/>
                </a:solidFill>
                <a:latin typeface="Calibri" pitchFamily="34" charset="0"/>
                <a:ea typeface="Calibri" pitchFamily="34" charset="-122"/>
                <a:cs typeface="Calibri" pitchFamily="34" charset="-120"/>
              </a:rPr>
              <a:t>NET TO HEIRS TODAY</a:t>
            </a:r>
            <a:endParaRPr lang="en-US" sz="850" dirty="0"/>
          </a:p>
        </p:txBody>
      </p:sp>
      <p:sp>
        <p:nvSpPr>
          <p:cNvPr id="33" name="Text 30"/>
          <p:cNvSpPr/>
          <p:nvPr/>
        </p:nvSpPr>
        <p:spPr>
          <a:xfrm>
            <a:off x="4846320" y="4334256"/>
            <a:ext cx="3840480" cy="329184"/>
          </a:xfrm>
          <a:prstGeom prst="rect">
            <a:avLst/>
          </a:prstGeom>
          <a:noFill/>
          <a:ln/>
        </p:spPr>
        <p:txBody>
          <a:bodyPr wrap="square" lIns="0" tIns="0" rIns="0" bIns="0" rtlCol="0" anchor="ctr"/>
          <a:lstStyle/>
          <a:p>
            <a:pPr indent="0" marL="0">
              <a:buNone/>
            </a:pPr>
            <a:r>
              <a:rPr lang="en-US" sz="2000" b="1" dirty="0">
                <a:solidFill>
                  <a:srgbClr val="1A5C38"/>
                </a:solidFill>
                <a:latin typeface="Garamond" pitchFamily="34" charset="0"/>
                <a:ea typeface="Garamond" pitchFamily="34" charset="-122"/>
                <a:cs typeface="Garamond" pitchFamily="34" charset="-120"/>
              </a:rPr>
              <a:t>$82,800,000</a:t>
            </a:r>
            <a:endParaRPr lang="en-US" sz="2000" dirty="0"/>
          </a:p>
        </p:txBody>
      </p:sp>
      <p:sp>
        <p:nvSpPr>
          <p:cNvPr id="34" name="Text 31"/>
          <p:cNvSpPr/>
          <p:nvPr/>
        </p:nvSpPr>
        <p:spPr>
          <a:xfrm>
            <a:off x="4846320" y="4663440"/>
            <a:ext cx="3840480" cy="164592"/>
          </a:xfrm>
          <a:prstGeom prst="rect">
            <a:avLst/>
          </a:prstGeom>
          <a:noFill/>
          <a:ln/>
        </p:spPr>
        <p:txBody>
          <a:bodyPr wrap="square" lIns="0" tIns="0" rIns="0" bIns="0" rtlCol="0" anchor="ctr"/>
          <a:lstStyle/>
          <a:p>
            <a:pPr indent="0" marL="0">
              <a:buNone/>
            </a:pPr>
            <a:r>
              <a:rPr lang="en-US" sz="900" dirty="0">
                <a:solidFill>
                  <a:srgbClr val="1A6B45"/>
                </a:solidFill>
                <a:latin typeface="Calibri" pitchFamily="34" charset="0"/>
                <a:ea typeface="Calibri" pitchFamily="34" charset="-122"/>
                <a:cs typeface="Calibri" pitchFamily="34" charset="-120"/>
              </a:rPr>
              <a:t>Olivia &amp; Ethan — without further planning</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1B2A"/>
          </a:solidFill>
          <a:ln w="12700">
            <a:solidFill>
              <a:srgbClr val="0D1B2A"/>
            </a:solidFill>
            <a:prstDash val="solid"/>
          </a:ln>
        </p:spPr>
      </p:sp>
      <p:sp>
        <p:nvSpPr>
          <p:cNvPr id="3" name="Text 1"/>
          <p:cNvSpPr/>
          <p:nvPr/>
        </p:nvSpPr>
        <p:spPr>
          <a:xfrm>
            <a:off x="256032" y="274320"/>
            <a:ext cx="7315200" cy="201168"/>
          </a:xfrm>
          <a:prstGeom prst="rect">
            <a:avLst/>
          </a:prstGeom>
          <a:noFill/>
          <a:ln/>
        </p:spPr>
        <p:txBody>
          <a:bodyPr wrap="square" lIns="0" tIns="0" rIns="0" bIns="0" rtlCol="0" anchor="ctr"/>
          <a:lstStyle/>
          <a:p>
            <a:pPr indent="0" marL="0">
              <a:buNone/>
            </a:pPr>
            <a:r>
              <a:rPr lang="en-US" sz="900" b="1" spc="300" kern="0" dirty="0">
                <a:solidFill>
                  <a:srgbClr val="B5922E"/>
                </a:solidFill>
                <a:latin typeface="Calibri" pitchFamily="34" charset="0"/>
                <a:ea typeface="Calibri" pitchFamily="34" charset="-122"/>
                <a:cs typeface="Calibri" pitchFamily="34" charset="-120"/>
              </a:rPr>
              <a:t>SECTION 06 · ESTATE PLANNING</a:t>
            </a:r>
            <a:endParaRPr lang="en-US" sz="900" dirty="0"/>
          </a:p>
        </p:txBody>
      </p:sp>
      <p:sp>
        <p:nvSpPr>
          <p:cNvPr id="4" name="Text 2"/>
          <p:cNvSpPr/>
          <p:nvPr/>
        </p:nvSpPr>
        <p:spPr>
          <a:xfrm>
            <a:off x="256032" y="493776"/>
            <a:ext cx="8686800" cy="502920"/>
          </a:xfrm>
          <a:prstGeom prst="rect">
            <a:avLst/>
          </a:prstGeom>
          <a:noFill/>
          <a:ln/>
        </p:spPr>
        <p:txBody>
          <a:bodyPr wrap="square" lIns="0" tIns="0" rIns="0" bIns="0" rtlCol="0" anchor="ctr"/>
          <a:lstStyle/>
          <a:p>
            <a:pPr indent="0" marL="0">
              <a:buNone/>
            </a:pPr>
            <a:r>
              <a:rPr lang="en-US" sz="2200" b="1" dirty="0">
                <a:solidFill>
                  <a:srgbClr val="0D1B2A"/>
                </a:solidFill>
                <a:latin typeface="Garamond" pitchFamily="34" charset="0"/>
                <a:ea typeface="Garamond" pitchFamily="34" charset="-122"/>
                <a:cs typeface="Garamond" pitchFamily="34" charset="-120"/>
              </a:rPr>
              <a:t>Estate Value — Projected at Death (Age 95)</a:t>
            </a:r>
            <a:endParaRPr lang="en-US" sz="2200" dirty="0"/>
          </a:p>
        </p:txBody>
      </p:sp>
      <p:graphicFrame>
        <p:nvGraphicFramePr>
          <p:cNvPr id="5" name="Chart 0" descr=""/>
          <p:cNvGraphicFramePr/>
          <p:nvPr/>
        </p:nvGraphicFramePr>
        <p:xfrm>
          <a:off x="256032" y="1005840"/>
          <a:ext cx="5486400" cy="30175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961888" y="1005840"/>
            <a:ext cx="2980944" cy="566928"/>
          </a:xfrm>
          <a:prstGeom prst="rect">
            <a:avLst/>
          </a:prstGeom>
          <a:solidFill>
            <a:srgbClr val="0D1B2A"/>
          </a:solidFill>
          <a:ln w="9525">
            <a:solidFill>
              <a:srgbClr val="DEDEDE"/>
            </a:solidFill>
            <a:prstDash val="solid"/>
          </a:ln>
        </p:spPr>
      </p:sp>
      <p:sp>
        <p:nvSpPr>
          <p:cNvPr id="7" name="Text 4"/>
          <p:cNvSpPr/>
          <p:nvPr/>
        </p:nvSpPr>
        <p:spPr>
          <a:xfrm>
            <a:off x="6108192" y="1060704"/>
            <a:ext cx="2743200" cy="164592"/>
          </a:xfrm>
          <a:prstGeom prst="rect">
            <a:avLst/>
          </a:prstGeom>
          <a:noFill/>
          <a:ln/>
        </p:spPr>
        <p:txBody>
          <a:bodyPr wrap="square" lIns="0" tIns="0" rIns="0" bIns="0" rtlCol="0" anchor="ctr"/>
          <a:lstStyle/>
          <a:p>
            <a:pPr indent="0" marL="0">
              <a:buNone/>
            </a:pPr>
            <a:r>
              <a:rPr lang="en-US" sz="750" b="1" spc="100" kern="0" dirty="0">
                <a:solidFill>
                  <a:srgbClr val="FFFFFF"/>
                </a:solidFill>
                <a:latin typeface="Calibri" pitchFamily="34" charset="0"/>
                <a:ea typeface="Calibri" pitchFamily="34" charset="-122"/>
                <a:cs typeface="Calibri" pitchFamily="34" charset="-120"/>
              </a:rPr>
              <a:t>DANIEL PROJECTED</a:t>
            </a:r>
            <a:endParaRPr lang="en-US" sz="750" dirty="0"/>
          </a:p>
        </p:txBody>
      </p:sp>
      <p:sp>
        <p:nvSpPr>
          <p:cNvPr id="8" name="Text 5"/>
          <p:cNvSpPr/>
          <p:nvPr/>
        </p:nvSpPr>
        <p:spPr>
          <a:xfrm>
            <a:off x="6108192" y="1243584"/>
            <a:ext cx="1828800" cy="256032"/>
          </a:xfrm>
          <a:prstGeom prst="rect">
            <a:avLst/>
          </a:prstGeom>
          <a:noFill/>
          <a:ln/>
        </p:spPr>
        <p:txBody>
          <a:bodyPr wrap="square" lIns="0" tIns="0" rIns="0" bIns="0" rtlCol="0" anchor="ctr"/>
          <a:lstStyle/>
          <a:p>
            <a:pPr indent="0" marL="0">
              <a:buNone/>
            </a:pPr>
            <a:r>
              <a:rPr lang="en-US" sz="1300" b="1" dirty="0">
                <a:solidFill>
                  <a:srgbClr val="FFFFFF"/>
                </a:solidFill>
                <a:latin typeface="Garamond" pitchFamily="34" charset="0"/>
                <a:ea typeface="Garamond" pitchFamily="34" charset="-122"/>
                <a:cs typeface="Garamond" pitchFamily="34" charset="-120"/>
              </a:rPr>
              <a:t>$721,193,470</a:t>
            </a:r>
            <a:endParaRPr lang="en-US" sz="1300" dirty="0"/>
          </a:p>
        </p:txBody>
      </p:sp>
      <p:sp>
        <p:nvSpPr>
          <p:cNvPr id="9" name="Text 6"/>
          <p:cNvSpPr/>
          <p:nvPr/>
        </p:nvSpPr>
        <p:spPr>
          <a:xfrm>
            <a:off x="7882128" y="1280160"/>
            <a:ext cx="914400" cy="201168"/>
          </a:xfrm>
          <a:prstGeom prst="rect">
            <a:avLst/>
          </a:prstGeom>
          <a:noFill/>
          <a:ln/>
        </p:spPr>
        <p:txBody>
          <a:bodyPr wrap="square" lIns="0" tIns="0" rIns="0" bIns="0" rtlCol="0" anchor="ctr"/>
          <a:lstStyle/>
          <a:p>
            <a:pPr algn="r" indent="0" marL="0">
              <a:buNone/>
            </a:pPr>
            <a:r>
              <a:rPr lang="en-US" sz="850" dirty="0">
                <a:solidFill>
                  <a:srgbClr val="A0B4C8"/>
                </a:solidFill>
                <a:latin typeface="Calibri" pitchFamily="34" charset="0"/>
                <a:ea typeface="Calibri" pitchFamily="34" charset="-122"/>
                <a:cs typeface="Calibri" pitchFamily="34" charset="-120"/>
              </a:rPr>
              <a:t>at age 95</a:t>
            </a:r>
            <a:endParaRPr lang="en-US" sz="850" dirty="0"/>
          </a:p>
        </p:txBody>
      </p:sp>
      <p:sp>
        <p:nvSpPr>
          <p:cNvPr id="10" name="Shape 7"/>
          <p:cNvSpPr/>
          <p:nvPr/>
        </p:nvSpPr>
        <p:spPr>
          <a:xfrm>
            <a:off x="5961888" y="1645920"/>
            <a:ext cx="2980944" cy="566928"/>
          </a:xfrm>
          <a:prstGeom prst="rect">
            <a:avLst/>
          </a:prstGeom>
          <a:solidFill>
            <a:srgbClr val="1A2E45"/>
          </a:solidFill>
          <a:ln w="9525">
            <a:solidFill>
              <a:srgbClr val="DEDEDE"/>
            </a:solidFill>
            <a:prstDash val="solid"/>
          </a:ln>
        </p:spPr>
      </p:sp>
      <p:sp>
        <p:nvSpPr>
          <p:cNvPr id="11" name="Text 8"/>
          <p:cNvSpPr/>
          <p:nvPr/>
        </p:nvSpPr>
        <p:spPr>
          <a:xfrm>
            <a:off x="6108192" y="1700784"/>
            <a:ext cx="2743200" cy="164592"/>
          </a:xfrm>
          <a:prstGeom prst="rect">
            <a:avLst/>
          </a:prstGeom>
          <a:noFill/>
          <a:ln/>
        </p:spPr>
        <p:txBody>
          <a:bodyPr wrap="square" lIns="0" tIns="0" rIns="0" bIns="0" rtlCol="0" anchor="ctr"/>
          <a:lstStyle/>
          <a:p>
            <a:pPr indent="0" marL="0">
              <a:buNone/>
            </a:pPr>
            <a:r>
              <a:rPr lang="en-US" sz="750" b="1" spc="100" kern="0" dirty="0">
                <a:solidFill>
                  <a:srgbClr val="FFFFFF"/>
                </a:solidFill>
                <a:latin typeface="Calibri" pitchFamily="34" charset="0"/>
                <a:ea typeface="Calibri" pitchFamily="34" charset="-122"/>
                <a:cs typeface="Calibri" pitchFamily="34" charset="-120"/>
              </a:rPr>
              <a:t>CLAIRE PROJECTED</a:t>
            </a:r>
            <a:endParaRPr lang="en-US" sz="750" dirty="0"/>
          </a:p>
        </p:txBody>
      </p:sp>
      <p:sp>
        <p:nvSpPr>
          <p:cNvPr id="12" name="Text 9"/>
          <p:cNvSpPr/>
          <p:nvPr/>
        </p:nvSpPr>
        <p:spPr>
          <a:xfrm>
            <a:off x="6108192" y="1883664"/>
            <a:ext cx="1828800" cy="256032"/>
          </a:xfrm>
          <a:prstGeom prst="rect">
            <a:avLst/>
          </a:prstGeom>
          <a:noFill/>
          <a:ln/>
        </p:spPr>
        <p:txBody>
          <a:bodyPr wrap="square" lIns="0" tIns="0" rIns="0" bIns="0" rtlCol="0" anchor="ctr"/>
          <a:lstStyle/>
          <a:p>
            <a:pPr indent="0" marL="0">
              <a:buNone/>
            </a:pPr>
            <a:r>
              <a:rPr lang="en-US" sz="1300" b="1" dirty="0">
                <a:solidFill>
                  <a:srgbClr val="FFFFFF"/>
                </a:solidFill>
                <a:latin typeface="Garamond" pitchFamily="34" charset="0"/>
                <a:ea typeface="Garamond" pitchFamily="34" charset="-122"/>
                <a:cs typeface="Garamond" pitchFamily="34" charset="-120"/>
              </a:rPr>
              <a:t>$721,193,470</a:t>
            </a:r>
            <a:endParaRPr lang="en-US" sz="1300" dirty="0"/>
          </a:p>
        </p:txBody>
      </p:sp>
      <p:sp>
        <p:nvSpPr>
          <p:cNvPr id="13" name="Text 10"/>
          <p:cNvSpPr/>
          <p:nvPr/>
        </p:nvSpPr>
        <p:spPr>
          <a:xfrm>
            <a:off x="7882128" y="1920240"/>
            <a:ext cx="914400" cy="201168"/>
          </a:xfrm>
          <a:prstGeom prst="rect">
            <a:avLst/>
          </a:prstGeom>
          <a:noFill/>
          <a:ln/>
        </p:spPr>
        <p:txBody>
          <a:bodyPr wrap="square" lIns="0" tIns="0" rIns="0" bIns="0" rtlCol="0" anchor="ctr"/>
          <a:lstStyle/>
          <a:p>
            <a:pPr algn="r" indent="0" marL="0">
              <a:buNone/>
            </a:pPr>
            <a:r>
              <a:rPr lang="en-US" sz="850" dirty="0">
                <a:solidFill>
                  <a:srgbClr val="A0B4C8"/>
                </a:solidFill>
                <a:latin typeface="Calibri" pitchFamily="34" charset="0"/>
                <a:ea typeface="Calibri" pitchFamily="34" charset="-122"/>
                <a:cs typeface="Calibri" pitchFamily="34" charset="-120"/>
              </a:rPr>
              <a:t>at age 95</a:t>
            </a:r>
            <a:endParaRPr lang="en-US" sz="850" dirty="0"/>
          </a:p>
        </p:txBody>
      </p:sp>
      <p:sp>
        <p:nvSpPr>
          <p:cNvPr id="14" name="Shape 11"/>
          <p:cNvSpPr/>
          <p:nvPr/>
        </p:nvSpPr>
        <p:spPr>
          <a:xfrm>
            <a:off x="5961888" y="2286000"/>
            <a:ext cx="2980944" cy="566928"/>
          </a:xfrm>
          <a:prstGeom prst="rect">
            <a:avLst/>
          </a:prstGeom>
          <a:solidFill>
            <a:srgbClr val="243D57"/>
          </a:solidFill>
          <a:ln w="9525">
            <a:solidFill>
              <a:srgbClr val="DEDEDE"/>
            </a:solidFill>
            <a:prstDash val="solid"/>
          </a:ln>
        </p:spPr>
      </p:sp>
      <p:sp>
        <p:nvSpPr>
          <p:cNvPr id="15" name="Text 12"/>
          <p:cNvSpPr/>
          <p:nvPr/>
        </p:nvSpPr>
        <p:spPr>
          <a:xfrm>
            <a:off x="6108192" y="2340864"/>
            <a:ext cx="2743200" cy="164592"/>
          </a:xfrm>
          <a:prstGeom prst="rect">
            <a:avLst/>
          </a:prstGeom>
          <a:noFill/>
          <a:ln/>
        </p:spPr>
        <p:txBody>
          <a:bodyPr wrap="square" lIns="0" tIns="0" rIns="0" bIns="0" rtlCol="0" anchor="ctr"/>
          <a:lstStyle/>
          <a:p>
            <a:pPr indent="0" marL="0">
              <a:buNone/>
            </a:pPr>
            <a:r>
              <a:rPr lang="en-US" sz="750" b="1" spc="100" kern="0" dirty="0">
                <a:solidFill>
                  <a:srgbClr val="FFFFFF"/>
                </a:solidFill>
                <a:latin typeface="Calibri" pitchFamily="34" charset="0"/>
                <a:ea typeface="Calibri" pitchFamily="34" charset="-122"/>
                <a:cs typeface="Calibri" pitchFamily="34" charset="-120"/>
              </a:rPr>
              <a:t>COMBINED ESTATE</a:t>
            </a:r>
            <a:endParaRPr lang="en-US" sz="750" dirty="0"/>
          </a:p>
        </p:txBody>
      </p:sp>
      <p:sp>
        <p:nvSpPr>
          <p:cNvPr id="16" name="Text 13"/>
          <p:cNvSpPr/>
          <p:nvPr/>
        </p:nvSpPr>
        <p:spPr>
          <a:xfrm>
            <a:off x="6108192" y="2523744"/>
            <a:ext cx="1828800" cy="256032"/>
          </a:xfrm>
          <a:prstGeom prst="rect">
            <a:avLst/>
          </a:prstGeom>
          <a:noFill/>
          <a:ln/>
        </p:spPr>
        <p:txBody>
          <a:bodyPr wrap="square" lIns="0" tIns="0" rIns="0" bIns="0" rtlCol="0" anchor="ctr"/>
          <a:lstStyle/>
          <a:p>
            <a:pPr indent="0" marL="0">
              <a:buNone/>
            </a:pPr>
            <a:r>
              <a:rPr lang="en-US" sz="1300" b="1" dirty="0">
                <a:solidFill>
                  <a:srgbClr val="FFFFFF"/>
                </a:solidFill>
                <a:latin typeface="Garamond" pitchFamily="34" charset="0"/>
                <a:ea typeface="Garamond" pitchFamily="34" charset="-122"/>
                <a:cs typeface="Garamond" pitchFamily="34" charset="-120"/>
              </a:rPr>
              <a:t>$1,442,386,941</a:t>
            </a:r>
            <a:endParaRPr lang="en-US" sz="1300" dirty="0"/>
          </a:p>
        </p:txBody>
      </p:sp>
      <p:sp>
        <p:nvSpPr>
          <p:cNvPr id="17" name="Text 14"/>
          <p:cNvSpPr/>
          <p:nvPr/>
        </p:nvSpPr>
        <p:spPr>
          <a:xfrm>
            <a:off x="7882128" y="2560320"/>
            <a:ext cx="914400" cy="201168"/>
          </a:xfrm>
          <a:prstGeom prst="rect">
            <a:avLst/>
          </a:prstGeom>
          <a:noFill/>
          <a:ln/>
        </p:spPr>
        <p:txBody>
          <a:bodyPr wrap="square" lIns="0" tIns="0" rIns="0" bIns="0" rtlCol="0" anchor="ctr"/>
          <a:lstStyle/>
          <a:p>
            <a:pPr algn="r" indent="0" marL="0">
              <a:buNone/>
            </a:pPr>
            <a:r>
              <a:rPr lang="en-US" sz="850" dirty="0">
                <a:solidFill>
                  <a:srgbClr val="B5922E"/>
                </a:solidFill>
                <a:latin typeface="Calibri" pitchFamily="34" charset="0"/>
                <a:ea typeface="Calibri" pitchFamily="34" charset="-122"/>
                <a:cs typeface="Calibri" pitchFamily="34" charset="-120"/>
              </a:rPr>
              <a:t>12.2× growth</a:t>
            </a:r>
            <a:endParaRPr lang="en-US" sz="850" dirty="0"/>
          </a:p>
        </p:txBody>
      </p:sp>
      <p:sp>
        <p:nvSpPr>
          <p:cNvPr id="18" name="Shape 15"/>
          <p:cNvSpPr/>
          <p:nvPr/>
        </p:nvSpPr>
        <p:spPr>
          <a:xfrm>
            <a:off x="5961888" y="2926080"/>
            <a:ext cx="2980944" cy="566928"/>
          </a:xfrm>
          <a:prstGeom prst="rect">
            <a:avLst/>
          </a:prstGeom>
          <a:solidFill>
            <a:srgbClr val="FDF4F3"/>
          </a:solidFill>
          <a:ln w="9525">
            <a:solidFill>
              <a:srgbClr val="DEDEDE"/>
            </a:solidFill>
            <a:prstDash val="solid"/>
          </a:ln>
        </p:spPr>
      </p:sp>
      <p:sp>
        <p:nvSpPr>
          <p:cNvPr id="19" name="Text 16"/>
          <p:cNvSpPr/>
          <p:nvPr/>
        </p:nvSpPr>
        <p:spPr>
          <a:xfrm>
            <a:off x="6108192" y="2980944"/>
            <a:ext cx="2743200" cy="164592"/>
          </a:xfrm>
          <a:prstGeom prst="rect">
            <a:avLst/>
          </a:prstGeom>
          <a:noFill/>
          <a:ln/>
        </p:spPr>
        <p:txBody>
          <a:bodyPr wrap="square" lIns="0" tIns="0" rIns="0" bIns="0" rtlCol="0" anchor="ctr"/>
          <a:lstStyle/>
          <a:p>
            <a:pPr indent="0" marL="0">
              <a:buNone/>
            </a:pPr>
            <a:r>
              <a:rPr lang="en-US" sz="750" b="1" spc="100" kern="0" dirty="0">
                <a:solidFill>
                  <a:srgbClr val="7B2D26"/>
                </a:solidFill>
                <a:latin typeface="Calibri" pitchFamily="34" charset="0"/>
                <a:ea typeface="Calibri" pitchFamily="34" charset="-122"/>
                <a:cs typeface="Calibri" pitchFamily="34" charset="-120"/>
              </a:rPr>
              <a:t>ESTATE TAX</a:t>
            </a:r>
            <a:endParaRPr lang="en-US" sz="750" dirty="0"/>
          </a:p>
        </p:txBody>
      </p:sp>
      <p:sp>
        <p:nvSpPr>
          <p:cNvPr id="20" name="Text 17"/>
          <p:cNvSpPr/>
          <p:nvPr/>
        </p:nvSpPr>
        <p:spPr>
          <a:xfrm>
            <a:off x="6108192" y="3163824"/>
            <a:ext cx="1828800" cy="256032"/>
          </a:xfrm>
          <a:prstGeom prst="rect">
            <a:avLst/>
          </a:prstGeom>
          <a:noFill/>
          <a:ln/>
        </p:spPr>
        <p:txBody>
          <a:bodyPr wrap="square" lIns="0" tIns="0" rIns="0" bIns="0" rtlCol="0" anchor="ctr"/>
          <a:lstStyle/>
          <a:p>
            <a:pPr indent="0" marL="0">
              <a:buNone/>
            </a:pPr>
            <a:r>
              <a:rPr lang="en-US" sz="1300" b="1" dirty="0">
                <a:solidFill>
                  <a:srgbClr val="7B2D26"/>
                </a:solidFill>
                <a:latin typeface="Garamond" pitchFamily="34" charset="0"/>
                <a:ea typeface="Garamond" pitchFamily="34" charset="-122"/>
                <a:cs typeface="Garamond" pitchFamily="34" charset="-120"/>
              </a:rPr>
              <a:t>($564,954,776)</a:t>
            </a:r>
            <a:endParaRPr lang="en-US" sz="1300" dirty="0"/>
          </a:p>
        </p:txBody>
      </p:sp>
      <p:sp>
        <p:nvSpPr>
          <p:cNvPr id="21" name="Text 18"/>
          <p:cNvSpPr/>
          <p:nvPr/>
        </p:nvSpPr>
        <p:spPr>
          <a:xfrm>
            <a:off x="7882128" y="3200400"/>
            <a:ext cx="914400" cy="201168"/>
          </a:xfrm>
          <a:prstGeom prst="rect">
            <a:avLst/>
          </a:prstGeom>
          <a:noFill/>
          <a:ln/>
        </p:spPr>
        <p:txBody>
          <a:bodyPr wrap="square" lIns="0" tIns="0" rIns="0" bIns="0" rtlCol="0" anchor="ctr"/>
          <a:lstStyle/>
          <a:p>
            <a:pPr algn="r" indent="0" marL="0">
              <a:buNone/>
            </a:pPr>
            <a:r>
              <a:rPr lang="en-US" sz="850" dirty="0">
                <a:solidFill>
                  <a:srgbClr val="C0392B"/>
                </a:solidFill>
                <a:latin typeface="Calibri" pitchFamily="34" charset="0"/>
                <a:ea typeface="Calibri" pitchFamily="34" charset="-122"/>
                <a:cs typeface="Calibri" pitchFamily="34" charset="-120"/>
              </a:rPr>
              <a:t>39.2% effective rate</a:t>
            </a:r>
            <a:endParaRPr lang="en-US" sz="850" dirty="0"/>
          </a:p>
        </p:txBody>
      </p:sp>
      <p:sp>
        <p:nvSpPr>
          <p:cNvPr id="22" name="Shape 19"/>
          <p:cNvSpPr/>
          <p:nvPr/>
        </p:nvSpPr>
        <p:spPr>
          <a:xfrm>
            <a:off x="5961888" y="3566160"/>
            <a:ext cx="2980944" cy="566928"/>
          </a:xfrm>
          <a:prstGeom prst="rect">
            <a:avLst/>
          </a:prstGeom>
          <a:solidFill>
            <a:srgbClr val="EFF7F2"/>
          </a:solidFill>
          <a:ln w="9525">
            <a:solidFill>
              <a:srgbClr val="DEDEDE"/>
            </a:solidFill>
            <a:prstDash val="solid"/>
          </a:ln>
        </p:spPr>
      </p:sp>
      <p:sp>
        <p:nvSpPr>
          <p:cNvPr id="23" name="Text 20"/>
          <p:cNvSpPr/>
          <p:nvPr/>
        </p:nvSpPr>
        <p:spPr>
          <a:xfrm>
            <a:off x="6108192" y="3621024"/>
            <a:ext cx="2743200" cy="164592"/>
          </a:xfrm>
          <a:prstGeom prst="rect">
            <a:avLst/>
          </a:prstGeom>
          <a:noFill/>
          <a:ln/>
        </p:spPr>
        <p:txBody>
          <a:bodyPr wrap="square" lIns="0" tIns="0" rIns="0" bIns="0" rtlCol="0" anchor="ctr"/>
          <a:lstStyle/>
          <a:p>
            <a:pPr indent="0" marL="0">
              <a:buNone/>
            </a:pPr>
            <a:r>
              <a:rPr lang="en-US" sz="750" b="1" spc="100" kern="0" dirty="0">
                <a:solidFill>
                  <a:srgbClr val="1A5C38"/>
                </a:solidFill>
                <a:latin typeface="Calibri" pitchFamily="34" charset="0"/>
                <a:ea typeface="Calibri" pitchFamily="34" charset="-122"/>
                <a:cs typeface="Calibri" pitchFamily="34" charset="-120"/>
              </a:rPr>
              <a:t>NET TO HEIRS</a:t>
            </a:r>
            <a:endParaRPr lang="en-US" sz="750" dirty="0"/>
          </a:p>
        </p:txBody>
      </p:sp>
      <p:sp>
        <p:nvSpPr>
          <p:cNvPr id="24" name="Text 21"/>
          <p:cNvSpPr/>
          <p:nvPr/>
        </p:nvSpPr>
        <p:spPr>
          <a:xfrm>
            <a:off x="6108192" y="3803904"/>
            <a:ext cx="1828800" cy="256032"/>
          </a:xfrm>
          <a:prstGeom prst="rect">
            <a:avLst/>
          </a:prstGeom>
          <a:noFill/>
          <a:ln/>
        </p:spPr>
        <p:txBody>
          <a:bodyPr wrap="square" lIns="0" tIns="0" rIns="0" bIns="0" rtlCol="0" anchor="ctr"/>
          <a:lstStyle/>
          <a:p>
            <a:pPr indent="0" marL="0">
              <a:buNone/>
            </a:pPr>
            <a:r>
              <a:rPr lang="en-US" sz="1300" b="1" dirty="0">
                <a:solidFill>
                  <a:srgbClr val="1A5C38"/>
                </a:solidFill>
                <a:latin typeface="Garamond" pitchFamily="34" charset="0"/>
                <a:ea typeface="Garamond" pitchFamily="34" charset="-122"/>
                <a:cs typeface="Garamond" pitchFamily="34" charset="-120"/>
              </a:rPr>
              <a:t>$877,432,164</a:t>
            </a:r>
            <a:endParaRPr lang="en-US" sz="1300" dirty="0"/>
          </a:p>
        </p:txBody>
      </p:sp>
      <p:sp>
        <p:nvSpPr>
          <p:cNvPr id="25" name="Text 22"/>
          <p:cNvSpPr/>
          <p:nvPr/>
        </p:nvSpPr>
        <p:spPr>
          <a:xfrm>
            <a:off x="7882128" y="3840480"/>
            <a:ext cx="914400" cy="201168"/>
          </a:xfrm>
          <a:prstGeom prst="rect">
            <a:avLst/>
          </a:prstGeom>
          <a:noFill/>
          <a:ln/>
        </p:spPr>
        <p:txBody>
          <a:bodyPr wrap="square" lIns="0" tIns="0" rIns="0" bIns="0" rtlCol="0" anchor="ctr"/>
          <a:lstStyle/>
          <a:p>
            <a:pPr algn="r" indent="0" marL="0">
              <a:buNone/>
            </a:pPr>
            <a:r>
              <a:rPr lang="en-US" sz="850" dirty="0">
                <a:solidFill>
                  <a:srgbClr val="1A6B45"/>
                </a:solidFill>
                <a:latin typeface="Calibri" pitchFamily="34" charset="0"/>
                <a:ea typeface="Calibri" pitchFamily="34" charset="-122"/>
                <a:cs typeface="Calibri" pitchFamily="34" charset="-120"/>
              </a:rPr>
              <a:t>without further planning</a:t>
            </a:r>
            <a:endParaRPr lang="en-US" sz="850" dirty="0"/>
          </a:p>
        </p:txBody>
      </p:sp>
      <p:sp>
        <p:nvSpPr>
          <p:cNvPr id="26" name="Shape 23"/>
          <p:cNvSpPr/>
          <p:nvPr/>
        </p:nvSpPr>
        <p:spPr>
          <a:xfrm>
            <a:off x="256032" y="4169664"/>
            <a:ext cx="8686800" cy="676656"/>
          </a:xfrm>
          <a:prstGeom prst="rect">
            <a:avLst/>
          </a:prstGeom>
          <a:solidFill>
            <a:srgbClr val="0D1B2A"/>
          </a:solidFill>
          <a:ln w="12700">
            <a:solidFill>
              <a:srgbClr val="0D1B2A"/>
            </a:solidFill>
            <a:prstDash val="solid"/>
          </a:ln>
        </p:spPr>
      </p:sp>
      <p:sp>
        <p:nvSpPr>
          <p:cNvPr id="27" name="Shape 24"/>
          <p:cNvSpPr/>
          <p:nvPr/>
        </p:nvSpPr>
        <p:spPr>
          <a:xfrm>
            <a:off x="256032" y="4169664"/>
            <a:ext cx="54864" cy="676656"/>
          </a:xfrm>
          <a:prstGeom prst="rect">
            <a:avLst/>
          </a:prstGeom>
          <a:solidFill>
            <a:srgbClr val="B5922E"/>
          </a:solidFill>
          <a:ln w="12700">
            <a:solidFill>
              <a:srgbClr val="B5922E"/>
            </a:solidFill>
            <a:prstDash val="solid"/>
          </a:ln>
        </p:spPr>
      </p:sp>
      <p:sp>
        <p:nvSpPr>
          <p:cNvPr id="28" name="Text 25"/>
          <p:cNvSpPr/>
          <p:nvPr/>
        </p:nvSpPr>
        <p:spPr>
          <a:xfrm>
            <a:off x="420624" y="4261104"/>
            <a:ext cx="1645920" cy="219456"/>
          </a:xfrm>
          <a:prstGeom prst="rect">
            <a:avLst/>
          </a:prstGeom>
          <a:noFill/>
          <a:ln/>
        </p:spPr>
        <p:txBody>
          <a:bodyPr wrap="square" lIns="0" tIns="0" rIns="0" bIns="0" rtlCol="0" anchor="ctr"/>
          <a:lstStyle/>
          <a:p>
            <a:pPr indent="0" marL="0">
              <a:buNone/>
            </a:pPr>
            <a:r>
              <a:rPr lang="en-US" sz="1000" b="1" dirty="0">
                <a:solidFill>
                  <a:srgbClr val="B5922E"/>
                </a:solidFill>
                <a:latin typeface="Calibri" pitchFamily="34" charset="0"/>
                <a:ea typeface="Calibri" pitchFamily="34" charset="-122"/>
                <a:cs typeface="Calibri" pitchFamily="34" charset="-120"/>
              </a:rPr>
              <a:t>Planning Opportunity:</a:t>
            </a:r>
            <a:endParaRPr lang="en-US" sz="1000" dirty="0"/>
          </a:p>
        </p:txBody>
      </p:sp>
      <p:sp>
        <p:nvSpPr>
          <p:cNvPr id="29" name="Text 26"/>
          <p:cNvSpPr/>
          <p:nvPr/>
        </p:nvSpPr>
        <p:spPr>
          <a:xfrm>
            <a:off x="2103120" y="4261104"/>
            <a:ext cx="6675120" cy="420624"/>
          </a:xfrm>
          <a:prstGeom prst="rect">
            <a:avLst/>
          </a:prstGeom>
          <a:noFill/>
          <a:ln/>
        </p:spPr>
        <p:txBody>
          <a:bodyPr wrap="square" lIns="0" tIns="0" rIns="0" bIns="0" rtlCol="0" anchor="ctr"/>
          <a:lstStyle/>
          <a:p>
            <a:pPr indent="0" marL="0">
              <a:buNone/>
            </a:pPr>
            <a:r>
              <a:rPr lang="en-US" sz="1000" dirty="0">
                <a:solidFill>
                  <a:srgbClr val="A0B4C8"/>
                </a:solidFill>
                <a:latin typeface="Calibri" pitchFamily="34" charset="0"/>
                <a:ea typeface="Calibri" pitchFamily="34" charset="-122"/>
                <a:cs typeface="Calibri" pitchFamily="34" charset="-120"/>
              </a:rPr>
              <a:t>An estimated $150–200M in estate tax liability may be mitigated through coordinated implementation of GRATs, irrevocable trust structures, and the proposed CRUT. Prompt action is critical — compounding materially increases the cost of inaction over the planning horizon.</a:t>
            </a:r>
            <a:endParaRPr lang="en-US" sz="1000" dirty="0"/>
          </a:p>
        </p:txBody>
      </p:sp>
      <p:sp>
        <p:nvSpPr>
          <p:cNvPr id="30" name="Text 27"/>
          <p:cNvSpPr/>
          <p:nvPr/>
        </p:nvSpPr>
        <p:spPr>
          <a:xfrm>
            <a:off x="256032" y="4901184"/>
            <a:ext cx="8686800" cy="164592"/>
          </a:xfrm>
          <a:prstGeom prst="rect">
            <a:avLst/>
          </a:prstGeom>
          <a:noFill/>
          <a:ln/>
        </p:spPr>
        <p:txBody>
          <a:bodyPr wrap="square" lIns="0" tIns="0" rIns="0" bIns="0" rtlCol="0" anchor="ctr"/>
          <a:lstStyle/>
          <a:p>
            <a:pPr indent="0" marL="0">
              <a:buNone/>
            </a:pPr>
            <a:r>
              <a:rPr lang="en-US" sz="800" i="1" dirty="0">
                <a:solidFill>
                  <a:srgbClr val="718096"/>
                </a:solidFill>
                <a:latin typeface="Calibri" pitchFamily="34" charset="0"/>
                <a:ea typeface="Calibri" pitchFamily="34" charset="-122"/>
                <a:cs typeface="Calibri" pitchFamily="34" charset="-120"/>
              </a:rPr>
              <a:t>Assumptions: $118M net worth split 50/50 · 7%/yr growth · $30M exemption · 40% estate tax on amounts above exemption.</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B5922E"/>
          </a:solidFill>
          <a:ln w="12700">
            <a:solidFill>
              <a:srgbClr val="B5922E"/>
            </a:solidFill>
            <a:prstDash val="solid"/>
          </a:ln>
        </p:spPr>
      </p:sp>
      <p:sp>
        <p:nvSpPr>
          <p:cNvPr id="3" name="Text 1"/>
          <p:cNvSpPr/>
          <p:nvPr/>
        </p:nvSpPr>
        <p:spPr>
          <a:xfrm>
            <a:off x="411480" y="1371600"/>
            <a:ext cx="2743200" cy="1097280"/>
          </a:xfrm>
          <a:prstGeom prst="rect">
            <a:avLst/>
          </a:prstGeom>
          <a:noFill/>
          <a:ln/>
        </p:spPr>
        <p:txBody>
          <a:bodyPr wrap="square" lIns="0" tIns="0" rIns="0" bIns="0" rtlCol="0" anchor="ctr"/>
          <a:lstStyle/>
          <a:p>
            <a:pPr indent="0" marL="0">
              <a:buNone/>
            </a:pPr>
            <a:r>
              <a:rPr lang="en-US" sz="9600" b="1" dirty="0">
                <a:solidFill>
                  <a:srgbClr val="1E3347"/>
                </a:solidFill>
                <a:latin typeface="Garamond" pitchFamily="34" charset="0"/>
                <a:ea typeface="Garamond" pitchFamily="34" charset="-122"/>
                <a:cs typeface="Garamond" pitchFamily="34" charset="-120"/>
              </a:rPr>
              <a:t>07</a:t>
            </a:r>
            <a:endParaRPr lang="en-US" sz="9600" dirty="0"/>
          </a:p>
        </p:txBody>
      </p:sp>
      <p:sp>
        <p:nvSpPr>
          <p:cNvPr id="4" name="Text 2"/>
          <p:cNvSpPr/>
          <p:nvPr/>
        </p:nvSpPr>
        <p:spPr>
          <a:xfrm>
            <a:off x="411480" y="1234440"/>
            <a:ext cx="7315200" cy="201168"/>
          </a:xfrm>
          <a:prstGeom prst="rect">
            <a:avLst/>
          </a:prstGeom>
          <a:noFill/>
          <a:ln/>
        </p:spPr>
        <p:txBody>
          <a:bodyPr wrap="square" lIns="0" tIns="0" rIns="0" bIns="0" rtlCol="0" anchor="ctr"/>
          <a:lstStyle/>
          <a:p>
            <a:pPr indent="0" marL="0">
              <a:buNone/>
            </a:pPr>
            <a:r>
              <a:rPr lang="en-US" sz="900" b="1" spc="300" kern="0" dirty="0">
                <a:solidFill>
                  <a:srgbClr val="B5922E"/>
                </a:solidFill>
                <a:latin typeface="Calibri" pitchFamily="34" charset="0"/>
                <a:ea typeface="Calibri" pitchFamily="34" charset="-122"/>
                <a:cs typeface="Calibri" pitchFamily="34" charset="-120"/>
              </a:rPr>
              <a:t>SECTION</a:t>
            </a:r>
            <a:endParaRPr lang="en-US" sz="900" dirty="0"/>
          </a:p>
        </p:txBody>
      </p:sp>
      <p:sp>
        <p:nvSpPr>
          <p:cNvPr id="5" name="Text 3"/>
          <p:cNvSpPr/>
          <p:nvPr/>
        </p:nvSpPr>
        <p:spPr>
          <a:xfrm>
            <a:off x="411480" y="2395728"/>
            <a:ext cx="6400800" cy="502920"/>
          </a:xfrm>
          <a:prstGeom prst="rect">
            <a:avLst/>
          </a:prstGeom>
          <a:noFill/>
          <a:ln/>
        </p:spPr>
        <p:txBody>
          <a:bodyPr wrap="square" lIns="0" tIns="0" rIns="0" bIns="0" rtlCol="0" anchor="ctr"/>
          <a:lstStyle/>
          <a:p>
            <a:pPr indent="0" marL="0">
              <a:buNone/>
            </a:pPr>
            <a:r>
              <a:rPr lang="en-US" sz="3600" b="1" dirty="0">
                <a:solidFill>
                  <a:srgbClr val="FFFFFF"/>
                </a:solidFill>
                <a:latin typeface="Garamond" pitchFamily="34" charset="0"/>
                <a:ea typeface="Garamond" pitchFamily="34" charset="-122"/>
                <a:cs typeface="Garamond" pitchFamily="34" charset="-120"/>
              </a:rPr>
              <a:t>Next Steps</a:t>
            </a:r>
            <a:endParaRPr lang="en-US" sz="3600" dirty="0"/>
          </a:p>
        </p:txBody>
      </p:sp>
      <p:sp>
        <p:nvSpPr>
          <p:cNvPr id="6" name="Text 4"/>
          <p:cNvSpPr/>
          <p:nvPr/>
        </p:nvSpPr>
        <p:spPr>
          <a:xfrm>
            <a:off x="411480" y="3364992"/>
            <a:ext cx="6400800" cy="365760"/>
          </a:xfrm>
          <a:prstGeom prst="rect">
            <a:avLst/>
          </a:prstGeom>
          <a:noFill/>
          <a:ln/>
        </p:spPr>
        <p:txBody>
          <a:bodyPr wrap="square" lIns="0" tIns="0" rIns="0" bIns="0" rtlCol="0" anchor="ctr"/>
          <a:lstStyle/>
          <a:p>
            <a:pPr indent="0" marL="0">
              <a:buNone/>
            </a:pPr>
            <a:r>
              <a:rPr lang="en-US" sz="1300" dirty="0">
                <a:solidFill>
                  <a:srgbClr val="A0B4C8"/>
                </a:solidFill>
                <a:latin typeface="Calibri" pitchFamily="34" charset="0"/>
                <a:ea typeface="Calibri" pitchFamily="34" charset="-122"/>
                <a:cs typeface="Calibri" pitchFamily="34" charset="-120"/>
              </a:rPr>
              <a:t>Phased implementation schedule — sequenced to optimize after-tax outcomes and coordinate across legal, tax, and investment disciplines.</a:t>
            </a:r>
            <a:endParaRPr lang="en-US" sz="1300" dirty="0"/>
          </a:p>
        </p:txBody>
      </p:sp>
      <p:pic>
        <p:nvPicPr>
          <p:cNvPr id="7" name="Image 0" descr="preencoded.png">    </p:cNvPr>
          <p:cNvPicPr>
            <a:picLocks noChangeAspect="1"/>
          </p:cNvPicPr>
          <p:nvPr/>
        </p:nvPicPr>
        <p:blipFill>
          <a:blip r:embed="rId1">
            <a:alphaModFix amt="40000"/>
          </a:blip>
          <a:stretch>
            <a:fillRect/>
          </a:stretch>
        </p:blipFill>
        <p:spPr>
          <a:xfrm>
            <a:off x="7132320" y="1645920"/>
            <a:ext cx="1371600" cy="13716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1B2A"/>
          </a:solidFill>
          <a:ln w="12700">
            <a:solidFill>
              <a:srgbClr val="0D1B2A"/>
            </a:solidFill>
            <a:prstDash val="solid"/>
          </a:ln>
        </p:spPr>
      </p:sp>
      <p:sp>
        <p:nvSpPr>
          <p:cNvPr id="3" name="Text 1"/>
          <p:cNvSpPr/>
          <p:nvPr/>
        </p:nvSpPr>
        <p:spPr>
          <a:xfrm>
            <a:off x="256032" y="274320"/>
            <a:ext cx="7315200" cy="201168"/>
          </a:xfrm>
          <a:prstGeom prst="rect">
            <a:avLst/>
          </a:prstGeom>
          <a:noFill/>
          <a:ln/>
        </p:spPr>
        <p:txBody>
          <a:bodyPr wrap="square" lIns="0" tIns="0" rIns="0" bIns="0" rtlCol="0" anchor="ctr"/>
          <a:lstStyle/>
          <a:p>
            <a:pPr indent="0" marL="0">
              <a:buNone/>
            </a:pPr>
            <a:r>
              <a:rPr lang="en-US" sz="900" b="1" spc="300" kern="0" dirty="0">
                <a:solidFill>
                  <a:srgbClr val="B5922E"/>
                </a:solidFill>
                <a:latin typeface="Calibri" pitchFamily="34" charset="0"/>
                <a:ea typeface="Calibri" pitchFamily="34" charset="-122"/>
                <a:cs typeface="Calibri" pitchFamily="34" charset="-120"/>
              </a:rPr>
              <a:t>SECTION 07 · NEXT STEPS</a:t>
            </a:r>
            <a:endParaRPr lang="en-US" sz="900" dirty="0"/>
          </a:p>
        </p:txBody>
      </p:sp>
      <p:sp>
        <p:nvSpPr>
          <p:cNvPr id="4" name="Text 2"/>
          <p:cNvSpPr/>
          <p:nvPr/>
        </p:nvSpPr>
        <p:spPr>
          <a:xfrm>
            <a:off x="256032" y="493776"/>
            <a:ext cx="8686800" cy="502920"/>
          </a:xfrm>
          <a:prstGeom prst="rect">
            <a:avLst/>
          </a:prstGeom>
          <a:noFill/>
          <a:ln/>
        </p:spPr>
        <p:txBody>
          <a:bodyPr wrap="square" lIns="0" tIns="0" rIns="0" bIns="0" rtlCol="0" anchor="ctr"/>
          <a:lstStyle/>
          <a:p>
            <a:pPr indent="0" marL="0">
              <a:buNone/>
            </a:pPr>
            <a:r>
              <a:rPr lang="en-US" sz="2400" b="1" dirty="0">
                <a:solidFill>
                  <a:srgbClr val="0D1B2A"/>
                </a:solidFill>
                <a:latin typeface="Garamond" pitchFamily="34" charset="0"/>
                <a:ea typeface="Garamond" pitchFamily="34" charset="-122"/>
                <a:cs typeface="Garamond" pitchFamily="34" charset="-120"/>
              </a:rPr>
              <a:t>Implementation Roadmap</a:t>
            </a:r>
            <a:endParaRPr lang="en-US" sz="2400" dirty="0"/>
          </a:p>
        </p:txBody>
      </p:sp>
      <p:sp>
        <p:nvSpPr>
          <p:cNvPr id="5" name="Shape 3"/>
          <p:cNvSpPr/>
          <p:nvPr/>
        </p:nvSpPr>
        <p:spPr>
          <a:xfrm>
            <a:off x="256032" y="1078992"/>
            <a:ext cx="4187952" cy="896112"/>
          </a:xfrm>
          <a:prstGeom prst="rect">
            <a:avLst/>
          </a:prstGeom>
          <a:solidFill>
            <a:srgbClr val="FFFFFF"/>
          </a:solidFill>
          <a:ln w="9525">
            <a:solidFill>
              <a:srgbClr val="DEDEDE"/>
            </a:solidFill>
            <a:prstDash val="solid"/>
          </a:ln>
        </p:spPr>
      </p:sp>
      <p:sp>
        <p:nvSpPr>
          <p:cNvPr id="6" name="Shape 4"/>
          <p:cNvSpPr/>
          <p:nvPr/>
        </p:nvSpPr>
        <p:spPr>
          <a:xfrm>
            <a:off x="365760" y="1280160"/>
            <a:ext cx="475488" cy="475488"/>
          </a:xfrm>
          <a:prstGeom prst="ellipse">
            <a:avLst/>
          </a:prstGeom>
          <a:solidFill>
            <a:srgbClr val="0D1B2A"/>
          </a:solidFill>
          <a:ln w="12700">
            <a:solidFill>
              <a:srgbClr val="0D1B2A"/>
            </a:solidFill>
            <a:prstDash val="solid"/>
          </a:ln>
        </p:spPr>
      </p:sp>
      <p:sp>
        <p:nvSpPr>
          <p:cNvPr id="7" name="Text 5"/>
          <p:cNvSpPr/>
          <p:nvPr/>
        </p:nvSpPr>
        <p:spPr>
          <a:xfrm>
            <a:off x="365760" y="1280160"/>
            <a:ext cx="475488" cy="475488"/>
          </a:xfrm>
          <a:prstGeom prst="rect">
            <a:avLst/>
          </a:prstGeom>
          <a:noFill/>
          <a:ln/>
        </p:spPr>
        <p:txBody>
          <a:bodyPr wrap="square" lIns="0" tIns="0" rIns="0" bIns="0" rtlCol="0" anchor="ctr"/>
          <a:lstStyle/>
          <a:p>
            <a:pPr algn="ctr" indent="0" marL="0">
              <a:buNone/>
            </a:pPr>
            <a:r>
              <a:rPr lang="en-US" sz="1300" b="1" dirty="0">
                <a:solidFill>
                  <a:srgbClr val="B5922E"/>
                </a:solidFill>
                <a:latin typeface="Garamond" pitchFamily="34" charset="0"/>
                <a:ea typeface="Garamond" pitchFamily="34" charset="-122"/>
                <a:cs typeface="Garamond" pitchFamily="34" charset="-120"/>
              </a:rPr>
              <a:t>1</a:t>
            </a:r>
            <a:endParaRPr lang="en-US" sz="1300" dirty="0"/>
          </a:p>
        </p:txBody>
      </p:sp>
      <p:sp>
        <p:nvSpPr>
          <p:cNvPr id="8" name="Text 6"/>
          <p:cNvSpPr/>
          <p:nvPr/>
        </p:nvSpPr>
        <p:spPr>
          <a:xfrm>
            <a:off x="950976" y="1170432"/>
            <a:ext cx="2560320" cy="219456"/>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Establish the CRUT</a:t>
            </a:r>
            <a:endParaRPr lang="en-US" sz="1050" dirty="0"/>
          </a:p>
        </p:txBody>
      </p:sp>
      <p:sp>
        <p:nvSpPr>
          <p:cNvPr id="9" name="Text 7"/>
          <p:cNvSpPr/>
          <p:nvPr/>
        </p:nvSpPr>
        <p:spPr>
          <a:xfrm>
            <a:off x="950976" y="1408176"/>
            <a:ext cx="2560320" cy="457200"/>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Engage estate attorney. Identify $15M lowest-basis NVDA shares. Transfer to trust and initiate diversified reinvestment.</a:t>
            </a:r>
            <a:endParaRPr lang="en-US" sz="850" dirty="0"/>
          </a:p>
        </p:txBody>
      </p:sp>
      <p:sp>
        <p:nvSpPr>
          <p:cNvPr id="10" name="Shape 8"/>
          <p:cNvSpPr/>
          <p:nvPr/>
        </p:nvSpPr>
        <p:spPr>
          <a:xfrm>
            <a:off x="3584448" y="1188720"/>
            <a:ext cx="768096" cy="658368"/>
          </a:xfrm>
          <a:prstGeom prst="rect">
            <a:avLst/>
          </a:prstGeom>
          <a:solidFill>
            <a:srgbClr val="F5F0E6"/>
          </a:solidFill>
          <a:ln w="9525">
            <a:solidFill>
              <a:srgbClr val="B5922E"/>
            </a:solidFill>
            <a:prstDash val="solid"/>
          </a:ln>
        </p:spPr>
      </p:sp>
      <p:sp>
        <p:nvSpPr>
          <p:cNvPr id="11" name="Text 9"/>
          <p:cNvSpPr/>
          <p:nvPr/>
        </p:nvSpPr>
        <p:spPr>
          <a:xfrm>
            <a:off x="3584448" y="1188720"/>
            <a:ext cx="768096" cy="658368"/>
          </a:xfrm>
          <a:prstGeom prst="rect">
            <a:avLst/>
          </a:prstGeom>
          <a:noFill/>
          <a:ln/>
        </p:spPr>
        <p:txBody>
          <a:bodyPr wrap="square" lIns="0" tIns="0" rIns="0" bIns="0" rtlCol="0" anchor="ctr"/>
          <a:lstStyle/>
          <a:p>
            <a:pPr algn="ctr" indent="0" marL="0">
              <a:buNone/>
            </a:pPr>
            <a:r>
              <a:rPr lang="en-US" sz="750" b="1" dirty="0">
                <a:solidFill>
                  <a:srgbClr val="7A5800"/>
                </a:solidFill>
                <a:latin typeface="Calibri" pitchFamily="34" charset="0"/>
                <a:ea typeface="Calibri" pitchFamily="34" charset="-122"/>
                <a:cs typeface="Calibri" pitchFamily="34" charset="-120"/>
              </a:rPr>
              <a:t>30–60 days</a:t>
            </a:r>
            <a:endParaRPr lang="en-US" sz="750" dirty="0"/>
          </a:p>
        </p:txBody>
      </p:sp>
      <p:sp>
        <p:nvSpPr>
          <p:cNvPr id="12" name="Shape 10"/>
          <p:cNvSpPr/>
          <p:nvPr/>
        </p:nvSpPr>
        <p:spPr>
          <a:xfrm>
            <a:off x="256032" y="2084832"/>
            <a:ext cx="4187952" cy="896112"/>
          </a:xfrm>
          <a:prstGeom prst="rect">
            <a:avLst/>
          </a:prstGeom>
          <a:solidFill>
            <a:srgbClr val="FFFFFF"/>
          </a:solidFill>
          <a:ln w="9525">
            <a:solidFill>
              <a:srgbClr val="DEDEDE"/>
            </a:solidFill>
            <a:prstDash val="solid"/>
          </a:ln>
        </p:spPr>
      </p:sp>
      <p:sp>
        <p:nvSpPr>
          <p:cNvPr id="13" name="Shape 11"/>
          <p:cNvSpPr/>
          <p:nvPr/>
        </p:nvSpPr>
        <p:spPr>
          <a:xfrm>
            <a:off x="365760" y="2286000"/>
            <a:ext cx="475488" cy="475488"/>
          </a:xfrm>
          <a:prstGeom prst="ellipse">
            <a:avLst/>
          </a:prstGeom>
          <a:solidFill>
            <a:srgbClr val="0D1B2A"/>
          </a:solidFill>
          <a:ln w="12700">
            <a:solidFill>
              <a:srgbClr val="0D1B2A"/>
            </a:solidFill>
            <a:prstDash val="solid"/>
          </a:ln>
        </p:spPr>
      </p:sp>
      <p:sp>
        <p:nvSpPr>
          <p:cNvPr id="14" name="Text 12"/>
          <p:cNvSpPr/>
          <p:nvPr/>
        </p:nvSpPr>
        <p:spPr>
          <a:xfrm>
            <a:off x="365760" y="2286000"/>
            <a:ext cx="475488" cy="475488"/>
          </a:xfrm>
          <a:prstGeom prst="rect">
            <a:avLst/>
          </a:prstGeom>
          <a:noFill/>
          <a:ln/>
        </p:spPr>
        <p:txBody>
          <a:bodyPr wrap="square" lIns="0" tIns="0" rIns="0" bIns="0" rtlCol="0" anchor="ctr"/>
          <a:lstStyle/>
          <a:p>
            <a:pPr algn="ctr" indent="0" marL="0">
              <a:buNone/>
            </a:pPr>
            <a:r>
              <a:rPr lang="en-US" sz="1300" b="1" dirty="0">
                <a:solidFill>
                  <a:srgbClr val="B5922E"/>
                </a:solidFill>
                <a:latin typeface="Garamond" pitchFamily="34" charset="0"/>
                <a:ea typeface="Garamond" pitchFamily="34" charset="-122"/>
                <a:cs typeface="Garamond" pitchFamily="34" charset="-120"/>
              </a:rPr>
              <a:t>2</a:t>
            </a:r>
            <a:endParaRPr lang="en-US" sz="1300" dirty="0"/>
          </a:p>
        </p:txBody>
      </p:sp>
      <p:sp>
        <p:nvSpPr>
          <p:cNvPr id="15" name="Text 13"/>
          <p:cNvSpPr/>
          <p:nvPr/>
        </p:nvSpPr>
        <p:spPr>
          <a:xfrm>
            <a:off x="950976" y="2176272"/>
            <a:ext cx="2560320" cy="219456"/>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Options Collar on Retained NVDA</a:t>
            </a:r>
            <a:endParaRPr lang="en-US" sz="1050" dirty="0"/>
          </a:p>
        </p:txBody>
      </p:sp>
      <p:sp>
        <p:nvSpPr>
          <p:cNvPr id="16" name="Text 14"/>
          <p:cNvSpPr/>
          <p:nvPr/>
        </p:nvSpPr>
        <p:spPr>
          <a:xfrm>
            <a:off x="950976" y="2414016"/>
            <a:ext cx="2560320" cy="457200"/>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Structure zero- or low-cost collar on ~$31.5M. Define put floor and call cap. Review quarterly.</a:t>
            </a:r>
            <a:endParaRPr lang="en-US" sz="850" dirty="0"/>
          </a:p>
        </p:txBody>
      </p:sp>
      <p:sp>
        <p:nvSpPr>
          <p:cNvPr id="17" name="Shape 15"/>
          <p:cNvSpPr/>
          <p:nvPr/>
        </p:nvSpPr>
        <p:spPr>
          <a:xfrm>
            <a:off x="3584448" y="2194560"/>
            <a:ext cx="768096" cy="658368"/>
          </a:xfrm>
          <a:prstGeom prst="rect">
            <a:avLst/>
          </a:prstGeom>
          <a:solidFill>
            <a:srgbClr val="F5F0E6"/>
          </a:solidFill>
          <a:ln w="9525">
            <a:solidFill>
              <a:srgbClr val="B5922E"/>
            </a:solidFill>
            <a:prstDash val="solid"/>
          </a:ln>
        </p:spPr>
      </p:sp>
      <p:sp>
        <p:nvSpPr>
          <p:cNvPr id="18" name="Text 16"/>
          <p:cNvSpPr/>
          <p:nvPr/>
        </p:nvSpPr>
        <p:spPr>
          <a:xfrm>
            <a:off x="3584448" y="2194560"/>
            <a:ext cx="768096" cy="658368"/>
          </a:xfrm>
          <a:prstGeom prst="rect">
            <a:avLst/>
          </a:prstGeom>
          <a:noFill/>
          <a:ln/>
        </p:spPr>
        <p:txBody>
          <a:bodyPr wrap="square" lIns="0" tIns="0" rIns="0" bIns="0" rtlCol="0" anchor="ctr"/>
          <a:lstStyle/>
          <a:p>
            <a:pPr algn="ctr" indent="0" marL="0">
              <a:buNone/>
            </a:pPr>
            <a:r>
              <a:rPr lang="en-US" sz="750" b="1" dirty="0">
                <a:solidFill>
                  <a:srgbClr val="7A5800"/>
                </a:solidFill>
                <a:latin typeface="Calibri" pitchFamily="34" charset="0"/>
                <a:ea typeface="Calibri" pitchFamily="34" charset="-122"/>
                <a:cs typeface="Calibri" pitchFamily="34" charset="-120"/>
              </a:rPr>
              <a:t>60–90 days</a:t>
            </a:r>
            <a:endParaRPr lang="en-US" sz="750" dirty="0"/>
          </a:p>
        </p:txBody>
      </p:sp>
      <p:sp>
        <p:nvSpPr>
          <p:cNvPr id="19" name="Shape 17"/>
          <p:cNvSpPr/>
          <p:nvPr/>
        </p:nvSpPr>
        <p:spPr>
          <a:xfrm>
            <a:off x="256032" y="3090672"/>
            <a:ext cx="4187952" cy="896112"/>
          </a:xfrm>
          <a:prstGeom prst="rect">
            <a:avLst/>
          </a:prstGeom>
          <a:solidFill>
            <a:srgbClr val="FFFFFF"/>
          </a:solidFill>
          <a:ln w="9525">
            <a:solidFill>
              <a:srgbClr val="DEDEDE"/>
            </a:solidFill>
            <a:prstDash val="solid"/>
          </a:ln>
        </p:spPr>
      </p:sp>
      <p:sp>
        <p:nvSpPr>
          <p:cNvPr id="20" name="Shape 18"/>
          <p:cNvSpPr/>
          <p:nvPr/>
        </p:nvSpPr>
        <p:spPr>
          <a:xfrm>
            <a:off x="365760" y="3291840"/>
            <a:ext cx="475488" cy="475488"/>
          </a:xfrm>
          <a:prstGeom prst="ellipse">
            <a:avLst/>
          </a:prstGeom>
          <a:solidFill>
            <a:srgbClr val="0D1B2A"/>
          </a:solidFill>
          <a:ln w="12700">
            <a:solidFill>
              <a:srgbClr val="0D1B2A"/>
            </a:solidFill>
            <a:prstDash val="solid"/>
          </a:ln>
        </p:spPr>
      </p:sp>
      <p:sp>
        <p:nvSpPr>
          <p:cNvPr id="21" name="Text 19"/>
          <p:cNvSpPr/>
          <p:nvPr/>
        </p:nvSpPr>
        <p:spPr>
          <a:xfrm>
            <a:off x="365760" y="3291840"/>
            <a:ext cx="475488" cy="475488"/>
          </a:xfrm>
          <a:prstGeom prst="rect">
            <a:avLst/>
          </a:prstGeom>
          <a:noFill/>
          <a:ln/>
        </p:spPr>
        <p:txBody>
          <a:bodyPr wrap="square" lIns="0" tIns="0" rIns="0" bIns="0" rtlCol="0" anchor="ctr"/>
          <a:lstStyle/>
          <a:p>
            <a:pPr algn="ctr" indent="0" marL="0">
              <a:buNone/>
            </a:pPr>
            <a:r>
              <a:rPr lang="en-US" sz="1300" b="1" dirty="0">
                <a:solidFill>
                  <a:srgbClr val="B5922E"/>
                </a:solidFill>
                <a:latin typeface="Garamond" pitchFamily="34" charset="0"/>
                <a:ea typeface="Garamond" pitchFamily="34" charset="-122"/>
                <a:cs typeface="Garamond" pitchFamily="34" charset="-120"/>
              </a:rPr>
              <a:t>3</a:t>
            </a:r>
            <a:endParaRPr lang="en-US" sz="1300" dirty="0"/>
          </a:p>
        </p:txBody>
      </p:sp>
      <p:sp>
        <p:nvSpPr>
          <p:cNvPr id="22" name="Text 20"/>
          <p:cNvSpPr/>
          <p:nvPr/>
        </p:nvSpPr>
        <p:spPr>
          <a:xfrm>
            <a:off x="950976" y="3182112"/>
            <a:ext cx="2560320" cy="219456"/>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Launch 130/30 TLH Sleeve</a:t>
            </a:r>
            <a:endParaRPr lang="en-US" sz="1050" dirty="0"/>
          </a:p>
        </p:txBody>
      </p:sp>
      <p:sp>
        <p:nvSpPr>
          <p:cNvPr id="23" name="Text 21"/>
          <p:cNvSpPr/>
          <p:nvPr/>
        </p:nvSpPr>
        <p:spPr>
          <a:xfrm>
            <a:off x="950976" y="3419856"/>
            <a:ext cx="2560320" cy="457200"/>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Allocate $10–15M. Begin building loss bank ahead of first NVDA staged sale.</a:t>
            </a:r>
            <a:endParaRPr lang="en-US" sz="850" dirty="0"/>
          </a:p>
        </p:txBody>
      </p:sp>
      <p:sp>
        <p:nvSpPr>
          <p:cNvPr id="24" name="Shape 22"/>
          <p:cNvSpPr/>
          <p:nvPr/>
        </p:nvSpPr>
        <p:spPr>
          <a:xfrm>
            <a:off x="3584448" y="3200400"/>
            <a:ext cx="768096" cy="658368"/>
          </a:xfrm>
          <a:prstGeom prst="rect">
            <a:avLst/>
          </a:prstGeom>
          <a:solidFill>
            <a:srgbClr val="F5F0E6"/>
          </a:solidFill>
          <a:ln w="9525">
            <a:solidFill>
              <a:srgbClr val="B5922E"/>
            </a:solidFill>
            <a:prstDash val="solid"/>
          </a:ln>
        </p:spPr>
      </p:sp>
      <p:sp>
        <p:nvSpPr>
          <p:cNvPr id="25" name="Text 23"/>
          <p:cNvSpPr/>
          <p:nvPr/>
        </p:nvSpPr>
        <p:spPr>
          <a:xfrm>
            <a:off x="3584448" y="3200400"/>
            <a:ext cx="768096" cy="658368"/>
          </a:xfrm>
          <a:prstGeom prst="rect">
            <a:avLst/>
          </a:prstGeom>
          <a:noFill/>
          <a:ln/>
        </p:spPr>
        <p:txBody>
          <a:bodyPr wrap="square" lIns="0" tIns="0" rIns="0" bIns="0" rtlCol="0" anchor="ctr"/>
          <a:lstStyle/>
          <a:p>
            <a:pPr algn="ctr" indent="0" marL="0">
              <a:buNone/>
            </a:pPr>
            <a:r>
              <a:rPr lang="en-US" sz="750" b="1" dirty="0">
                <a:solidFill>
                  <a:srgbClr val="7A5800"/>
                </a:solidFill>
                <a:latin typeface="Calibri" pitchFamily="34" charset="0"/>
                <a:ea typeface="Calibri" pitchFamily="34" charset="-122"/>
                <a:cs typeface="Calibri" pitchFamily="34" charset="-120"/>
              </a:rPr>
              <a:t>60–90 days</a:t>
            </a:r>
            <a:endParaRPr lang="en-US" sz="750" dirty="0"/>
          </a:p>
        </p:txBody>
      </p:sp>
      <p:sp>
        <p:nvSpPr>
          <p:cNvPr id="26" name="Shape 24"/>
          <p:cNvSpPr/>
          <p:nvPr/>
        </p:nvSpPr>
        <p:spPr>
          <a:xfrm>
            <a:off x="256032" y="4096512"/>
            <a:ext cx="4187952" cy="896112"/>
          </a:xfrm>
          <a:prstGeom prst="rect">
            <a:avLst/>
          </a:prstGeom>
          <a:solidFill>
            <a:srgbClr val="FFFFFF"/>
          </a:solidFill>
          <a:ln w="9525">
            <a:solidFill>
              <a:srgbClr val="DEDEDE"/>
            </a:solidFill>
            <a:prstDash val="solid"/>
          </a:ln>
        </p:spPr>
      </p:sp>
      <p:sp>
        <p:nvSpPr>
          <p:cNvPr id="27" name="Shape 25"/>
          <p:cNvSpPr/>
          <p:nvPr/>
        </p:nvSpPr>
        <p:spPr>
          <a:xfrm>
            <a:off x="365760" y="4297680"/>
            <a:ext cx="475488" cy="475488"/>
          </a:xfrm>
          <a:prstGeom prst="ellipse">
            <a:avLst/>
          </a:prstGeom>
          <a:solidFill>
            <a:srgbClr val="0D1B2A"/>
          </a:solidFill>
          <a:ln w="12700">
            <a:solidFill>
              <a:srgbClr val="0D1B2A"/>
            </a:solidFill>
            <a:prstDash val="solid"/>
          </a:ln>
        </p:spPr>
      </p:sp>
      <p:sp>
        <p:nvSpPr>
          <p:cNvPr id="28" name="Text 26"/>
          <p:cNvSpPr/>
          <p:nvPr/>
        </p:nvSpPr>
        <p:spPr>
          <a:xfrm>
            <a:off x="365760" y="4297680"/>
            <a:ext cx="475488" cy="475488"/>
          </a:xfrm>
          <a:prstGeom prst="rect">
            <a:avLst/>
          </a:prstGeom>
          <a:noFill/>
          <a:ln/>
        </p:spPr>
        <p:txBody>
          <a:bodyPr wrap="square" lIns="0" tIns="0" rIns="0" bIns="0" rtlCol="0" anchor="ctr"/>
          <a:lstStyle/>
          <a:p>
            <a:pPr algn="ctr" indent="0" marL="0">
              <a:buNone/>
            </a:pPr>
            <a:r>
              <a:rPr lang="en-US" sz="1300" b="1" dirty="0">
                <a:solidFill>
                  <a:srgbClr val="B5922E"/>
                </a:solidFill>
                <a:latin typeface="Garamond" pitchFamily="34" charset="0"/>
                <a:ea typeface="Garamond" pitchFamily="34" charset="-122"/>
                <a:cs typeface="Garamond" pitchFamily="34" charset="-120"/>
              </a:rPr>
              <a:t>4</a:t>
            </a:r>
            <a:endParaRPr lang="en-US" sz="1300" dirty="0"/>
          </a:p>
        </p:txBody>
      </p:sp>
      <p:sp>
        <p:nvSpPr>
          <p:cNvPr id="29" name="Text 27"/>
          <p:cNvSpPr/>
          <p:nvPr/>
        </p:nvSpPr>
        <p:spPr>
          <a:xfrm>
            <a:off x="950976" y="4187952"/>
            <a:ext cx="2560320" cy="219456"/>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Begin Staged NVDA Sales</a:t>
            </a:r>
            <a:endParaRPr lang="en-US" sz="1050" dirty="0"/>
          </a:p>
        </p:txBody>
      </p:sp>
      <p:sp>
        <p:nvSpPr>
          <p:cNvPr id="30" name="Text 28"/>
          <p:cNvSpPr/>
          <p:nvPr/>
        </p:nvSpPr>
        <p:spPr>
          <a:xfrm>
            <a:off x="950976" y="4425696"/>
            <a:ext cx="2560320" cy="457200"/>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Sell $3–5M per year via quarterly windows. Coordinate with CPA and 10b5-1 plan.</a:t>
            </a:r>
            <a:endParaRPr lang="en-US" sz="850" dirty="0"/>
          </a:p>
        </p:txBody>
      </p:sp>
      <p:sp>
        <p:nvSpPr>
          <p:cNvPr id="31" name="Shape 29"/>
          <p:cNvSpPr/>
          <p:nvPr/>
        </p:nvSpPr>
        <p:spPr>
          <a:xfrm>
            <a:off x="3584448" y="4206240"/>
            <a:ext cx="768096" cy="658368"/>
          </a:xfrm>
          <a:prstGeom prst="rect">
            <a:avLst/>
          </a:prstGeom>
          <a:solidFill>
            <a:srgbClr val="F5F0E6"/>
          </a:solidFill>
          <a:ln w="9525">
            <a:solidFill>
              <a:srgbClr val="B5922E"/>
            </a:solidFill>
            <a:prstDash val="solid"/>
          </a:ln>
        </p:spPr>
      </p:sp>
      <p:sp>
        <p:nvSpPr>
          <p:cNvPr id="32" name="Text 30"/>
          <p:cNvSpPr/>
          <p:nvPr/>
        </p:nvSpPr>
        <p:spPr>
          <a:xfrm>
            <a:off x="3584448" y="4206240"/>
            <a:ext cx="768096" cy="658368"/>
          </a:xfrm>
          <a:prstGeom prst="rect">
            <a:avLst/>
          </a:prstGeom>
          <a:noFill/>
          <a:ln/>
        </p:spPr>
        <p:txBody>
          <a:bodyPr wrap="square" lIns="0" tIns="0" rIns="0" bIns="0" rtlCol="0" anchor="ctr"/>
          <a:lstStyle/>
          <a:p>
            <a:pPr algn="ctr" indent="0" marL="0">
              <a:buNone/>
            </a:pPr>
            <a:r>
              <a:rPr lang="en-US" sz="750" b="1" dirty="0">
                <a:solidFill>
                  <a:srgbClr val="7A5800"/>
                </a:solidFill>
                <a:latin typeface="Calibri" pitchFamily="34" charset="0"/>
                <a:ea typeface="Calibri" pitchFamily="34" charset="-122"/>
                <a:cs typeface="Calibri" pitchFamily="34" charset="-120"/>
              </a:rPr>
              <a:t>Ongoing · Annual</a:t>
            </a:r>
            <a:endParaRPr lang="en-US" sz="750" dirty="0"/>
          </a:p>
        </p:txBody>
      </p:sp>
      <p:sp>
        <p:nvSpPr>
          <p:cNvPr id="33" name="Shape 31"/>
          <p:cNvSpPr/>
          <p:nvPr/>
        </p:nvSpPr>
        <p:spPr>
          <a:xfrm>
            <a:off x="4718304" y="1078992"/>
            <a:ext cx="4187952" cy="896112"/>
          </a:xfrm>
          <a:prstGeom prst="rect">
            <a:avLst/>
          </a:prstGeom>
          <a:solidFill>
            <a:srgbClr val="FFFFFF"/>
          </a:solidFill>
          <a:ln w="9525">
            <a:solidFill>
              <a:srgbClr val="DEDEDE"/>
            </a:solidFill>
            <a:prstDash val="solid"/>
          </a:ln>
        </p:spPr>
      </p:sp>
      <p:sp>
        <p:nvSpPr>
          <p:cNvPr id="34" name="Shape 32"/>
          <p:cNvSpPr/>
          <p:nvPr/>
        </p:nvSpPr>
        <p:spPr>
          <a:xfrm>
            <a:off x="4828032" y="1280160"/>
            <a:ext cx="475488" cy="475488"/>
          </a:xfrm>
          <a:prstGeom prst="ellipse">
            <a:avLst/>
          </a:prstGeom>
          <a:solidFill>
            <a:srgbClr val="0D1B2A"/>
          </a:solidFill>
          <a:ln w="12700">
            <a:solidFill>
              <a:srgbClr val="0D1B2A"/>
            </a:solidFill>
            <a:prstDash val="solid"/>
          </a:ln>
        </p:spPr>
      </p:sp>
      <p:sp>
        <p:nvSpPr>
          <p:cNvPr id="35" name="Text 33"/>
          <p:cNvSpPr/>
          <p:nvPr/>
        </p:nvSpPr>
        <p:spPr>
          <a:xfrm>
            <a:off x="4828032" y="1280160"/>
            <a:ext cx="475488" cy="475488"/>
          </a:xfrm>
          <a:prstGeom prst="rect">
            <a:avLst/>
          </a:prstGeom>
          <a:noFill/>
          <a:ln/>
        </p:spPr>
        <p:txBody>
          <a:bodyPr wrap="square" lIns="0" tIns="0" rIns="0" bIns="0" rtlCol="0" anchor="ctr"/>
          <a:lstStyle/>
          <a:p>
            <a:pPr algn="ctr" indent="0" marL="0">
              <a:buNone/>
            </a:pPr>
            <a:r>
              <a:rPr lang="en-US" sz="1300" b="1" dirty="0">
                <a:solidFill>
                  <a:srgbClr val="B5922E"/>
                </a:solidFill>
                <a:latin typeface="Garamond" pitchFamily="34" charset="0"/>
                <a:ea typeface="Garamond" pitchFamily="34" charset="-122"/>
                <a:cs typeface="Garamond" pitchFamily="34" charset="-120"/>
              </a:rPr>
              <a:t>5</a:t>
            </a:r>
            <a:endParaRPr lang="en-US" sz="1300" dirty="0"/>
          </a:p>
        </p:txBody>
      </p:sp>
      <p:sp>
        <p:nvSpPr>
          <p:cNvPr id="36" name="Text 34"/>
          <p:cNvSpPr/>
          <p:nvPr/>
        </p:nvSpPr>
        <p:spPr>
          <a:xfrm>
            <a:off x="5413248" y="1170432"/>
            <a:ext cx="2560320" cy="219456"/>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Transition to Select Liquidity · Balanced Plus</a:t>
            </a:r>
            <a:endParaRPr lang="en-US" sz="1050" dirty="0"/>
          </a:p>
        </p:txBody>
      </p:sp>
      <p:sp>
        <p:nvSpPr>
          <p:cNvPr id="37" name="Text 35"/>
          <p:cNvSpPr/>
          <p:nvPr/>
        </p:nvSpPr>
        <p:spPr>
          <a:xfrm>
            <a:off x="5413248" y="1408176"/>
            <a:ext cx="2560320" cy="457200"/>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Reposition 0007B and 0007C. Fund diversified alternatives sleeve via interval funds.</a:t>
            </a:r>
            <a:endParaRPr lang="en-US" sz="850" dirty="0"/>
          </a:p>
        </p:txBody>
      </p:sp>
      <p:sp>
        <p:nvSpPr>
          <p:cNvPr id="38" name="Shape 36"/>
          <p:cNvSpPr/>
          <p:nvPr/>
        </p:nvSpPr>
        <p:spPr>
          <a:xfrm>
            <a:off x="8046720" y="1188720"/>
            <a:ext cx="768096" cy="658368"/>
          </a:xfrm>
          <a:prstGeom prst="rect">
            <a:avLst/>
          </a:prstGeom>
          <a:solidFill>
            <a:srgbClr val="F5F0E6"/>
          </a:solidFill>
          <a:ln w="9525">
            <a:solidFill>
              <a:srgbClr val="B5922E"/>
            </a:solidFill>
            <a:prstDash val="solid"/>
          </a:ln>
        </p:spPr>
      </p:sp>
      <p:sp>
        <p:nvSpPr>
          <p:cNvPr id="39" name="Text 37"/>
          <p:cNvSpPr/>
          <p:nvPr/>
        </p:nvSpPr>
        <p:spPr>
          <a:xfrm>
            <a:off x="8046720" y="1188720"/>
            <a:ext cx="768096" cy="658368"/>
          </a:xfrm>
          <a:prstGeom prst="rect">
            <a:avLst/>
          </a:prstGeom>
          <a:noFill/>
          <a:ln/>
        </p:spPr>
        <p:txBody>
          <a:bodyPr wrap="square" lIns="0" tIns="0" rIns="0" bIns="0" rtlCol="0" anchor="ctr"/>
          <a:lstStyle/>
          <a:p>
            <a:pPr algn="ctr" indent="0" marL="0">
              <a:buNone/>
            </a:pPr>
            <a:r>
              <a:rPr lang="en-US" sz="750" b="1" dirty="0">
                <a:solidFill>
                  <a:srgbClr val="7A5800"/>
                </a:solidFill>
                <a:latin typeface="Calibri" pitchFamily="34" charset="0"/>
                <a:ea typeface="Calibri" pitchFamily="34" charset="-122"/>
                <a:cs typeface="Calibri" pitchFamily="34" charset="-120"/>
              </a:rPr>
              <a:t>90–180 days</a:t>
            </a:r>
            <a:endParaRPr lang="en-US" sz="750" dirty="0"/>
          </a:p>
        </p:txBody>
      </p:sp>
      <p:sp>
        <p:nvSpPr>
          <p:cNvPr id="40" name="Shape 38"/>
          <p:cNvSpPr/>
          <p:nvPr/>
        </p:nvSpPr>
        <p:spPr>
          <a:xfrm>
            <a:off x="4718304" y="2084832"/>
            <a:ext cx="4187952" cy="896112"/>
          </a:xfrm>
          <a:prstGeom prst="rect">
            <a:avLst/>
          </a:prstGeom>
          <a:solidFill>
            <a:srgbClr val="FFFFFF"/>
          </a:solidFill>
          <a:ln w="9525">
            <a:solidFill>
              <a:srgbClr val="DEDEDE"/>
            </a:solidFill>
            <a:prstDash val="solid"/>
          </a:ln>
        </p:spPr>
      </p:sp>
      <p:sp>
        <p:nvSpPr>
          <p:cNvPr id="41" name="Shape 39"/>
          <p:cNvSpPr/>
          <p:nvPr/>
        </p:nvSpPr>
        <p:spPr>
          <a:xfrm>
            <a:off x="4828032" y="2286000"/>
            <a:ext cx="475488" cy="475488"/>
          </a:xfrm>
          <a:prstGeom prst="ellipse">
            <a:avLst/>
          </a:prstGeom>
          <a:solidFill>
            <a:srgbClr val="0D1B2A"/>
          </a:solidFill>
          <a:ln w="12700">
            <a:solidFill>
              <a:srgbClr val="0D1B2A"/>
            </a:solidFill>
            <a:prstDash val="solid"/>
          </a:ln>
        </p:spPr>
      </p:sp>
      <p:sp>
        <p:nvSpPr>
          <p:cNvPr id="42" name="Text 40"/>
          <p:cNvSpPr/>
          <p:nvPr/>
        </p:nvSpPr>
        <p:spPr>
          <a:xfrm>
            <a:off x="4828032" y="2286000"/>
            <a:ext cx="475488" cy="475488"/>
          </a:xfrm>
          <a:prstGeom prst="rect">
            <a:avLst/>
          </a:prstGeom>
          <a:noFill/>
          <a:ln/>
        </p:spPr>
        <p:txBody>
          <a:bodyPr wrap="square" lIns="0" tIns="0" rIns="0" bIns="0" rtlCol="0" anchor="ctr"/>
          <a:lstStyle/>
          <a:p>
            <a:pPr algn="ctr" indent="0" marL="0">
              <a:buNone/>
            </a:pPr>
            <a:r>
              <a:rPr lang="en-US" sz="1300" b="1" dirty="0">
                <a:solidFill>
                  <a:srgbClr val="B5922E"/>
                </a:solidFill>
                <a:latin typeface="Garamond" pitchFamily="34" charset="0"/>
                <a:ea typeface="Garamond" pitchFamily="34" charset="-122"/>
                <a:cs typeface="Garamond" pitchFamily="34" charset="-120"/>
              </a:rPr>
              <a:t>6</a:t>
            </a:r>
            <a:endParaRPr lang="en-US" sz="1300" dirty="0"/>
          </a:p>
        </p:txBody>
      </p:sp>
      <p:sp>
        <p:nvSpPr>
          <p:cNvPr id="43" name="Text 41"/>
          <p:cNvSpPr/>
          <p:nvPr/>
        </p:nvSpPr>
        <p:spPr>
          <a:xfrm>
            <a:off x="5413248" y="2176272"/>
            <a:ext cx="2560320" cy="219456"/>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Estate Planning — Trusts &amp; Governance</a:t>
            </a:r>
            <a:endParaRPr lang="en-US" sz="1050" dirty="0"/>
          </a:p>
        </p:txBody>
      </p:sp>
      <p:sp>
        <p:nvSpPr>
          <p:cNvPr id="44" name="Text 42"/>
          <p:cNvSpPr/>
          <p:nvPr/>
        </p:nvSpPr>
        <p:spPr>
          <a:xfrm>
            <a:off x="5413248" y="2414016"/>
            <a:ext cx="2560320" cy="457200"/>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Review trust structures, update beneficiaries, define Olivia and Ethan's roles.</a:t>
            </a:r>
            <a:endParaRPr lang="en-US" sz="850" dirty="0"/>
          </a:p>
        </p:txBody>
      </p:sp>
      <p:sp>
        <p:nvSpPr>
          <p:cNvPr id="45" name="Shape 43"/>
          <p:cNvSpPr/>
          <p:nvPr/>
        </p:nvSpPr>
        <p:spPr>
          <a:xfrm>
            <a:off x="8046720" y="2194560"/>
            <a:ext cx="768096" cy="658368"/>
          </a:xfrm>
          <a:prstGeom prst="rect">
            <a:avLst/>
          </a:prstGeom>
          <a:solidFill>
            <a:srgbClr val="F5F0E6"/>
          </a:solidFill>
          <a:ln w="9525">
            <a:solidFill>
              <a:srgbClr val="B5922E"/>
            </a:solidFill>
            <a:prstDash val="solid"/>
          </a:ln>
        </p:spPr>
      </p:sp>
      <p:sp>
        <p:nvSpPr>
          <p:cNvPr id="46" name="Text 44"/>
          <p:cNvSpPr/>
          <p:nvPr/>
        </p:nvSpPr>
        <p:spPr>
          <a:xfrm>
            <a:off x="8046720" y="2194560"/>
            <a:ext cx="768096" cy="658368"/>
          </a:xfrm>
          <a:prstGeom prst="rect">
            <a:avLst/>
          </a:prstGeom>
          <a:noFill/>
          <a:ln/>
        </p:spPr>
        <p:txBody>
          <a:bodyPr wrap="square" lIns="0" tIns="0" rIns="0" bIns="0" rtlCol="0" anchor="ctr"/>
          <a:lstStyle/>
          <a:p>
            <a:pPr algn="ctr" indent="0" marL="0">
              <a:buNone/>
            </a:pPr>
            <a:r>
              <a:rPr lang="en-US" sz="750" b="1" dirty="0">
                <a:solidFill>
                  <a:srgbClr val="7A5800"/>
                </a:solidFill>
                <a:latin typeface="Calibri" pitchFamily="34" charset="0"/>
                <a:ea typeface="Calibri" pitchFamily="34" charset="-122"/>
                <a:cs typeface="Calibri" pitchFamily="34" charset="-120"/>
              </a:rPr>
              <a:t>90–120 days</a:t>
            </a:r>
            <a:endParaRPr lang="en-US" sz="750" dirty="0"/>
          </a:p>
        </p:txBody>
      </p:sp>
      <p:sp>
        <p:nvSpPr>
          <p:cNvPr id="47" name="Shape 45"/>
          <p:cNvSpPr/>
          <p:nvPr/>
        </p:nvSpPr>
        <p:spPr>
          <a:xfrm>
            <a:off x="4718304" y="3090672"/>
            <a:ext cx="4187952" cy="896112"/>
          </a:xfrm>
          <a:prstGeom prst="rect">
            <a:avLst/>
          </a:prstGeom>
          <a:solidFill>
            <a:srgbClr val="FFFFFF"/>
          </a:solidFill>
          <a:ln w="9525">
            <a:solidFill>
              <a:srgbClr val="DEDEDE"/>
            </a:solidFill>
            <a:prstDash val="solid"/>
          </a:ln>
        </p:spPr>
      </p:sp>
      <p:sp>
        <p:nvSpPr>
          <p:cNvPr id="48" name="Shape 46"/>
          <p:cNvSpPr/>
          <p:nvPr/>
        </p:nvSpPr>
        <p:spPr>
          <a:xfrm>
            <a:off x="4828032" y="3291840"/>
            <a:ext cx="475488" cy="475488"/>
          </a:xfrm>
          <a:prstGeom prst="ellipse">
            <a:avLst/>
          </a:prstGeom>
          <a:solidFill>
            <a:srgbClr val="0D1B2A"/>
          </a:solidFill>
          <a:ln w="12700">
            <a:solidFill>
              <a:srgbClr val="0D1B2A"/>
            </a:solidFill>
            <a:prstDash val="solid"/>
          </a:ln>
        </p:spPr>
      </p:sp>
      <p:sp>
        <p:nvSpPr>
          <p:cNvPr id="49" name="Text 47"/>
          <p:cNvSpPr/>
          <p:nvPr/>
        </p:nvSpPr>
        <p:spPr>
          <a:xfrm>
            <a:off x="4828032" y="3291840"/>
            <a:ext cx="475488" cy="475488"/>
          </a:xfrm>
          <a:prstGeom prst="rect">
            <a:avLst/>
          </a:prstGeom>
          <a:noFill/>
          <a:ln/>
        </p:spPr>
        <p:txBody>
          <a:bodyPr wrap="square" lIns="0" tIns="0" rIns="0" bIns="0" rtlCol="0" anchor="ctr"/>
          <a:lstStyle/>
          <a:p>
            <a:pPr algn="ctr" indent="0" marL="0">
              <a:buNone/>
            </a:pPr>
            <a:r>
              <a:rPr lang="en-US" sz="1300" b="1" dirty="0">
                <a:solidFill>
                  <a:srgbClr val="B5922E"/>
                </a:solidFill>
                <a:latin typeface="Garamond" pitchFamily="34" charset="0"/>
                <a:ea typeface="Garamond" pitchFamily="34" charset="-122"/>
                <a:cs typeface="Garamond" pitchFamily="34" charset="-120"/>
              </a:rPr>
              <a:t>7</a:t>
            </a:r>
            <a:endParaRPr lang="en-US" sz="1300" dirty="0"/>
          </a:p>
        </p:txBody>
      </p:sp>
      <p:sp>
        <p:nvSpPr>
          <p:cNvPr id="50" name="Text 48"/>
          <p:cNvSpPr/>
          <p:nvPr/>
        </p:nvSpPr>
        <p:spPr>
          <a:xfrm>
            <a:off x="5413248" y="3182112"/>
            <a:ext cx="2560320" cy="219456"/>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Grow Charitable Assets to $5M+</a:t>
            </a:r>
            <a:endParaRPr lang="en-US" sz="1050" dirty="0"/>
          </a:p>
        </p:txBody>
      </p:sp>
      <p:sp>
        <p:nvSpPr>
          <p:cNvPr id="51" name="Text 49"/>
          <p:cNvSpPr/>
          <p:nvPr/>
        </p:nvSpPr>
        <p:spPr>
          <a:xfrm>
            <a:off x="5413248" y="3419856"/>
            <a:ext cx="2560320" cy="457200"/>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Expand DAF, define grant strategy, involve Olivia and Ethan in foundation governance.</a:t>
            </a:r>
            <a:endParaRPr lang="en-US" sz="850" dirty="0"/>
          </a:p>
        </p:txBody>
      </p:sp>
      <p:sp>
        <p:nvSpPr>
          <p:cNvPr id="52" name="Shape 50"/>
          <p:cNvSpPr/>
          <p:nvPr/>
        </p:nvSpPr>
        <p:spPr>
          <a:xfrm>
            <a:off x="8046720" y="3200400"/>
            <a:ext cx="768096" cy="658368"/>
          </a:xfrm>
          <a:prstGeom prst="rect">
            <a:avLst/>
          </a:prstGeom>
          <a:solidFill>
            <a:srgbClr val="F5F0E6"/>
          </a:solidFill>
          <a:ln w="9525">
            <a:solidFill>
              <a:srgbClr val="B5922E"/>
            </a:solidFill>
            <a:prstDash val="solid"/>
          </a:ln>
        </p:spPr>
      </p:sp>
      <p:sp>
        <p:nvSpPr>
          <p:cNvPr id="53" name="Text 51"/>
          <p:cNvSpPr/>
          <p:nvPr/>
        </p:nvSpPr>
        <p:spPr>
          <a:xfrm>
            <a:off x="8046720" y="3200400"/>
            <a:ext cx="768096" cy="658368"/>
          </a:xfrm>
          <a:prstGeom prst="rect">
            <a:avLst/>
          </a:prstGeom>
          <a:noFill/>
          <a:ln/>
        </p:spPr>
        <p:txBody>
          <a:bodyPr wrap="square" lIns="0" tIns="0" rIns="0" bIns="0" rtlCol="0" anchor="ctr"/>
          <a:lstStyle/>
          <a:p>
            <a:pPr algn="ctr" indent="0" marL="0">
              <a:buNone/>
            </a:pPr>
            <a:r>
              <a:rPr lang="en-US" sz="750" b="1" dirty="0">
                <a:solidFill>
                  <a:srgbClr val="7A5800"/>
                </a:solidFill>
                <a:latin typeface="Calibri" pitchFamily="34" charset="0"/>
                <a:ea typeface="Calibri" pitchFamily="34" charset="-122"/>
                <a:cs typeface="Calibri" pitchFamily="34" charset="-120"/>
              </a:rPr>
              <a:t>Multi-year</a:t>
            </a:r>
            <a:endParaRPr lang="en-US" sz="7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B5922E"/>
          </a:solidFill>
          <a:ln w="12700">
            <a:solidFill>
              <a:srgbClr val="B5922E"/>
            </a:solidFill>
            <a:prstDash val="solid"/>
          </a:ln>
        </p:spPr>
      </p:sp>
      <p:sp>
        <p:nvSpPr>
          <p:cNvPr id="3" name="Text 1"/>
          <p:cNvSpPr/>
          <p:nvPr/>
        </p:nvSpPr>
        <p:spPr>
          <a:xfrm>
            <a:off x="411480" y="1005840"/>
            <a:ext cx="8412480" cy="256032"/>
          </a:xfrm>
          <a:prstGeom prst="rect">
            <a:avLst/>
          </a:prstGeom>
          <a:noFill/>
          <a:ln/>
        </p:spPr>
        <p:txBody>
          <a:bodyPr wrap="square" lIns="0" tIns="0" rIns="0" bIns="0" rtlCol="0" anchor="ctr"/>
          <a:lstStyle/>
          <a:p>
            <a:pPr indent="0" marL="0">
              <a:buNone/>
            </a:pPr>
            <a:r>
              <a:rPr lang="en-US" sz="1100" b="1" spc="400" kern="0" dirty="0">
                <a:solidFill>
                  <a:srgbClr val="B5922E"/>
                </a:solidFill>
                <a:latin typeface="Calibri" pitchFamily="34" charset="0"/>
                <a:ea typeface="Calibri" pitchFamily="34" charset="-122"/>
                <a:cs typeface="Calibri" pitchFamily="34" charset="-120"/>
              </a:rPr>
              <a:t>MERCER HOUSEHOLD</a:t>
            </a:r>
            <a:endParaRPr lang="en-US" sz="1100" dirty="0"/>
          </a:p>
        </p:txBody>
      </p:sp>
      <p:sp>
        <p:nvSpPr>
          <p:cNvPr id="4" name="Text 2"/>
          <p:cNvSpPr/>
          <p:nvPr/>
        </p:nvSpPr>
        <p:spPr>
          <a:xfrm>
            <a:off x="411480" y="1426464"/>
            <a:ext cx="8229600" cy="502920"/>
          </a:xfrm>
          <a:prstGeom prst="rect">
            <a:avLst/>
          </a:prstGeom>
          <a:noFill/>
          <a:ln/>
        </p:spPr>
        <p:txBody>
          <a:bodyPr wrap="square" lIns="0" tIns="0" rIns="0" bIns="0" rtlCol="0" anchor="ctr"/>
          <a:lstStyle/>
          <a:p>
            <a:pPr indent="0" marL="0">
              <a:buNone/>
            </a:pPr>
            <a:r>
              <a:rPr lang="en-US" sz="3600" b="1" dirty="0">
                <a:solidFill>
                  <a:srgbClr val="FFFFFF"/>
                </a:solidFill>
                <a:latin typeface="Garamond" pitchFamily="34" charset="0"/>
                <a:ea typeface="Garamond" pitchFamily="34" charset="-122"/>
                <a:cs typeface="Garamond" pitchFamily="34" charset="-120"/>
              </a:rPr>
              <a:t>A Coordinated Wealth</a:t>
            </a:r>
            <a:endParaRPr lang="en-US" sz="3600" dirty="0"/>
          </a:p>
          <a:p>
            <a:pPr indent="0" marL="0">
              <a:buNone/>
            </a:pPr>
            <a:r>
              <a:rPr lang="en-US" sz="3600" b="1" dirty="0">
                <a:solidFill>
                  <a:srgbClr val="FFFFFF"/>
                </a:solidFill>
                <a:latin typeface="Garamond" pitchFamily="34" charset="0"/>
                <a:ea typeface="Garamond" pitchFamily="34" charset="-122"/>
                <a:cs typeface="Garamond" pitchFamily="34" charset="-120"/>
              </a:rPr>
              <a:t>Management Proposal.</a:t>
            </a:r>
            <a:endParaRPr lang="en-US" sz="3600" dirty="0"/>
          </a:p>
        </p:txBody>
      </p:sp>
      <p:sp>
        <p:nvSpPr>
          <p:cNvPr id="5" name="Text 3"/>
          <p:cNvSpPr/>
          <p:nvPr/>
        </p:nvSpPr>
        <p:spPr>
          <a:xfrm>
            <a:off x="411480" y="2962656"/>
            <a:ext cx="6400800" cy="365760"/>
          </a:xfrm>
          <a:prstGeom prst="rect">
            <a:avLst/>
          </a:prstGeom>
          <a:noFill/>
          <a:ln/>
        </p:spPr>
        <p:txBody>
          <a:bodyPr wrap="square" lIns="0" tIns="0" rIns="0" bIns="0" rtlCol="0" anchor="ctr"/>
          <a:lstStyle/>
          <a:p>
            <a:pPr indent="0" marL="0">
              <a:buNone/>
            </a:pPr>
            <a:r>
              <a:rPr lang="en-US" sz="1400" dirty="0">
                <a:solidFill>
                  <a:srgbClr val="A0B4C8"/>
                </a:solidFill>
                <a:latin typeface="Calibri" pitchFamily="34" charset="0"/>
                <a:ea typeface="Calibri" pitchFamily="34" charset="-122"/>
                <a:cs typeface="Calibri" pitchFamily="34" charset="-120"/>
              </a:rPr>
              <a:t>Disciplined risk management. Tax-efficient diversification. Generational wealth preservation.</a:t>
            </a:r>
            <a:endParaRPr lang="en-US" sz="1400" dirty="0"/>
          </a:p>
        </p:txBody>
      </p:sp>
      <p:sp>
        <p:nvSpPr>
          <p:cNvPr id="6" name="Shape 4"/>
          <p:cNvSpPr/>
          <p:nvPr/>
        </p:nvSpPr>
        <p:spPr>
          <a:xfrm>
            <a:off x="411480" y="3529584"/>
            <a:ext cx="5943600" cy="10973"/>
          </a:xfrm>
          <a:prstGeom prst="rect">
            <a:avLst/>
          </a:prstGeom>
          <a:solidFill>
            <a:srgbClr val="2A3E54"/>
          </a:solidFill>
          <a:ln w="12700">
            <a:solidFill>
              <a:srgbClr val="2A3E54"/>
            </a:solidFill>
            <a:prstDash val="solid"/>
          </a:ln>
        </p:spPr>
      </p:sp>
      <p:pic>
        <p:nvPicPr>
          <p:cNvPr id="7" name="Image 0" descr="preencoded.png">    </p:cNvPr>
          <p:cNvPicPr>
            <a:picLocks noChangeAspect="1"/>
          </p:cNvPicPr>
          <p:nvPr/>
        </p:nvPicPr>
        <p:blipFill>
          <a:blip r:embed="rId1"/>
          <a:stretch>
            <a:fillRect/>
          </a:stretch>
        </p:blipFill>
        <p:spPr>
          <a:xfrm>
            <a:off x="411480" y="3712464"/>
            <a:ext cx="182880" cy="182880"/>
          </a:xfrm>
          <a:prstGeom prst="rect">
            <a:avLst/>
          </a:prstGeom>
        </p:spPr>
      </p:pic>
      <p:sp>
        <p:nvSpPr>
          <p:cNvPr id="8" name="Text 5"/>
          <p:cNvSpPr/>
          <p:nvPr/>
        </p:nvSpPr>
        <p:spPr>
          <a:xfrm>
            <a:off x="658368" y="3694176"/>
            <a:ext cx="8138160" cy="201168"/>
          </a:xfrm>
          <a:prstGeom prst="rect">
            <a:avLst/>
          </a:prstGeom>
          <a:noFill/>
          <a:ln/>
        </p:spPr>
        <p:txBody>
          <a:bodyPr wrap="square" lIns="0" tIns="0" rIns="0" bIns="0" rtlCol="0" anchor="ctr"/>
          <a:lstStyle/>
          <a:p>
            <a:pPr indent="0" marL="0">
              <a:buNone/>
            </a:pPr>
            <a:r>
              <a:rPr lang="en-US" sz="1000" dirty="0">
                <a:solidFill>
                  <a:srgbClr val="A0B4C8"/>
                </a:solidFill>
                <a:latin typeface="Calibri" pitchFamily="34" charset="0"/>
                <a:ea typeface="Calibri" pitchFamily="34" charset="-122"/>
                <a:cs typeface="Calibri" pitchFamily="34" charset="-120"/>
              </a:rPr>
              <a:t>$118M total net worth · $72M managed assets</a:t>
            </a:r>
            <a:endParaRPr lang="en-US" sz="1000" dirty="0"/>
          </a:p>
        </p:txBody>
      </p:sp>
      <p:pic>
        <p:nvPicPr>
          <p:cNvPr id="9" name="Image 1" descr="preencoded.png">    </p:cNvPr>
          <p:cNvPicPr>
            <a:picLocks noChangeAspect="1"/>
          </p:cNvPicPr>
          <p:nvPr/>
        </p:nvPicPr>
        <p:blipFill>
          <a:blip r:embed="rId2"/>
          <a:stretch>
            <a:fillRect/>
          </a:stretch>
        </p:blipFill>
        <p:spPr>
          <a:xfrm>
            <a:off x="411480" y="3950208"/>
            <a:ext cx="182880" cy="182880"/>
          </a:xfrm>
          <a:prstGeom prst="rect">
            <a:avLst/>
          </a:prstGeom>
        </p:spPr>
      </p:pic>
      <p:sp>
        <p:nvSpPr>
          <p:cNvPr id="10" name="Text 6"/>
          <p:cNvSpPr/>
          <p:nvPr/>
        </p:nvSpPr>
        <p:spPr>
          <a:xfrm>
            <a:off x="658368" y="3931920"/>
            <a:ext cx="8138160" cy="201168"/>
          </a:xfrm>
          <a:prstGeom prst="rect">
            <a:avLst/>
          </a:prstGeom>
          <a:noFill/>
          <a:ln/>
        </p:spPr>
        <p:txBody>
          <a:bodyPr wrap="square" lIns="0" tIns="0" rIns="0" bIns="0" rtlCol="0" anchor="ctr"/>
          <a:lstStyle/>
          <a:p>
            <a:pPr indent="0" marL="0">
              <a:buNone/>
            </a:pPr>
            <a:r>
              <a:rPr lang="en-US" sz="1000" dirty="0">
                <a:solidFill>
                  <a:srgbClr val="A0B4C8"/>
                </a:solidFill>
                <a:latin typeface="Calibri" pitchFamily="34" charset="0"/>
                <a:ea typeface="Calibri" pitchFamily="34" charset="-122"/>
                <a:cs typeface="Calibri" pitchFamily="34" charset="-120"/>
              </a:rPr>
              <a:t>$46.5M NVIDIA (64.6%) — structured reduction plan in place</a:t>
            </a:r>
            <a:endParaRPr lang="en-US" sz="1000" dirty="0"/>
          </a:p>
        </p:txBody>
      </p:sp>
      <p:pic>
        <p:nvPicPr>
          <p:cNvPr id="11" name="Image 2" descr="preencoded.png">    </p:cNvPr>
          <p:cNvPicPr>
            <a:picLocks noChangeAspect="1"/>
          </p:cNvPicPr>
          <p:nvPr/>
        </p:nvPicPr>
        <p:blipFill>
          <a:blip r:embed="rId3"/>
          <a:stretch>
            <a:fillRect/>
          </a:stretch>
        </p:blipFill>
        <p:spPr>
          <a:xfrm>
            <a:off x="411480" y="4187952"/>
            <a:ext cx="182880" cy="182880"/>
          </a:xfrm>
          <a:prstGeom prst="rect">
            <a:avLst/>
          </a:prstGeom>
        </p:spPr>
      </p:pic>
      <p:sp>
        <p:nvSpPr>
          <p:cNvPr id="12" name="Text 7"/>
          <p:cNvSpPr/>
          <p:nvPr/>
        </p:nvSpPr>
        <p:spPr>
          <a:xfrm>
            <a:off x="658368" y="4169664"/>
            <a:ext cx="8138160" cy="201168"/>
          </a:xfrm>
          <a:prstGeom prst="rect">
            <a:avLst/>
          </a:prstGeom>
          <a:noFill/>
          <a:ln/>
        </p:spPr>
        <p:txBody>
          <a:bodyPr wrap="square" lIns="0" tIns="0" rIns="0" bIns="0" rtlCol="0" anchor="ctr"/>
          <a:lstStyle/>
          <a:p>
            <a:pPr indent="0" marL="0">
              <a:buNone/>
            </a:pPr>
            <a:r>
              <a:rPr lang="en-US" sz="1000" dirty="0">
                <a:solidFill>
                  <a:srgbClr val="A0B4C8"/>
                </a:solidFill>
                <a:latin typeface="Calibri" pitchFamily="34" charset="0"/>
                <a:ea typeface="Calibri" pitchFamily="34" charset="-122"/>
                <a:cs typeface="Calibri" pitchFamily="34" charset="-120"/>
              </a:rPr>
              <a:t>Risk Number 64 · Select Liquidity · Balanced Plus 60/40</a:t>
            </a:r>
            <a:endParaRPr lang="en-US" sz="1000" dirty="0"/>
          </a:p>
        </p:txBody>
      </p:sp>
      <p:pic>
        <p:nvPicPr>
          <p:cNvPr id="13" name="Image 3" descr="preencoded.png">    </p:cNvPr>
          <p:cNvPicPr>
            <a:picLocks noChangeAspect="1"/>
          </p:cNvPicPr>
          <p:nvPr/>
        </p:nvPicPr>
        <p:blipFill>
          <a:blip r:embed="rId4"/>
          <a:stretch>
            <a:fillRect/>
          </a:stretch>
        </p:blipFill>
        <p:spPr>
          <a:xfrm>
            <a:off x="411480" y="4425696"/>
            <a:ext cx="182880" cy="182880"/>
          </a:xfrm>
          <a:prstGeom prst="rect">
            <a:avLst/>
          </a:prstGeom>
        </p:spPr>
      </p:pic>
      <p:sp>
        <p:nvSpPr>
          <p:cNvPr id="14" name="Text 8"/>
          <p:cNvSpPr/>
          <p:nvPr/>
        </p:nvSpPr>
        <p:spPr>
          <a:xfrm>
            <a:off x="658368" y="4407408"/>
            <a:ext cx="8138160" cy="201168"/>
          </a:xfrm>
          <a:prstGeom prst="rect">
            <a:avLst/>
          </a:prstGeom>
          <a:noFill/>
          <a:ln/>
        </p:spPr>
        <p:txBody>
          <a:bodyPr wrap="square" lIns="0" tIns="0" rIns="0" bIns="0" rtlCol="0" anchor="ctr"/>
          <a:lstStyle/>
          <a:p>
            <a:pPr indent="0" marL="0">
              <a:buNone/>
            </a:pPr>
            <a:r>
              <a:rPr lang="en-US" sz="1000" dirty="0">
                <a:solidFill>
                  <a:srgbClr val="A0B4C8"/>
                </a:solidFill>
                <a:latin typeface="Calibri" pitchFamily="34" charset="0"/>
                <a:ea typeface="Calibri" pitchFamily="34" charset="-122"/>
                <a:cs typeface="Calibri" pitchFamily="34" charset="-120"/>
              </a:rPr>
              <a:t>CRT + 130/30 TLH + Options Collar + Staged Sales</a:t>
            </a:r>
            <a:endParaRPr lang="en-US" sz="1000" dirty="0"/>
          </a:p>
        </p:txBody>
      </p:sp>
      <p:pic>
        <p:nvPicPr>
          <p:cNvPr id="15" name="Image 4" descr="preencoded.png">    </p:cNvPr>
          <p:cNvPicPr>
            <a:picLocks noChangeAspect="1"/>
          </p:cNvPicPr>
          <p:nvPr/>
        </p:nvPicPr>
        <p:blipFill>
          <a:blip r:embed="rId5"/>
          <a:stretch>
            <a:fillRect/>
          </a:stretch>
        </p:blipFill>
        <p:spPr>
          <a:xfrm>
            <a:off x="411480" y="4663440"/>
            <a:ext cx="182880" cy="182880"/>
          </a:xfrm>
          <a:prstGeom prst="rect">
            <a:avLst/>
          </a:prstGeom>
        </p:spPr>
      </p:pic>
      <p:sp>
        <p:nvSpPr>
          <p:cNvPr id="16" name="Text 9"/>
          <p:cNvSpPr/>
          <p:nvPr/>
        </p:nvSpPr>
        <p:spPr>
          <a:xfrm>
            <a:off x="658368" y="4645152"/>
            <a:ext cx="8138160" cy="201168"/>
          </a:xfrm>
          <a:prstGeom prst="rect">
            <a:avLst/>
          </a:prstGeom>
          <a:noFill/>
          <a:ln/>
        </p:spPr>
        <p:txBody>
          <a:bodyPr wrap="square" lIns="0" tIns="0" rIns="0" bIns="0" rtlCol="0" anchor="ctr"/>
          <a:lstStyle/>
          <a:p>
            <a:pPr indent="0" marL="0">
              <a:buNone/>
            </a:pPr>
            <a:r>
              <a:rPr lang="en-US" sz="1000" dirty="0">
                <a:solidFill>
                  <a:srgbClr val="A0B4C8"/>
                </a:solidFill>
                <a:latin typeface="Calibri" pitchFamily="34" charset="0"/>
                <a:ea typeface="Calibri" pitchFamily="34" charset="-122"/>
                <a:cs typeface="Calibri" pitchFamily="34" charset="-120"/>
              </a:rPr>
              <a:t>Estate: $1.44B projected · $565M tax exposure · Act now</a:t>
            </a:r>
            <a:endParaRPr lang="en-US" sz="1000" dirty="0"/>
          </a:p>
        </p:txBody>
      </p:sp>
      <p:sp>
        <p:nvSpPr>
          <p:cNvPr id="17" name="Text 10"/>
          <p:cNvSpPr/>
          <p:nvPr/>
        </p:nvSpPr>
        <p:spPr>
          <a:xfrm>
            <a:off x="411480" y="4864608"/>
            <a:ext cx="8503920" cy="219456"/>
          </a:xfrm>
          <a:prstGeom prst="rect">
            <a:avLst/>
          </a:prstGeom>
          <a:noFill/>
          <a:ln/>
        </p:spPr>
        <p:txBody>
          <a:bodyPr wrap="square" lIns="0" tIns="0" rIns="0" bIns="0" rtlCol="0" anchor="ctr"/>
          <a:lstStyle/>
          <a:p>
            <a:pPr indent="0" marL="0">
              <a:buNone/>
            </a:pPr>
            <a:r>
              <a:rPr lang="en-US" sz="750" i="1" dirty="0">
                <a:solidFill>
                  <a:srgbClr val="3A5166"/>
                </a:solidFill>
                <a:latin typeface="Calibri" pitchFamily="34" charset="0"/>
                <a:ea typeface="Calibri" pitchFamily="34" charset="-122"/>
                <a:cs typeface="Calibri" pitchFamily="34" charset="-120"/>
              </a:rPr>
              <a:t>This proposal has been prepared for discussion purposes only and does not constitute investment advice, legal counsel, or tax guidance. All projections are illustrative. Recipients should consult qualified legal, tax, and investment professionals prior to implementing any strategy referenced herein.</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Mercer Household — Investment Proposal 2026</dc:title>
  <dc:subject>PptxGenJS Presentation</dc:subject>
  <dc:creator>PptxGenJS</dc:creator>
  <cp:lastModifiedBy>PptxGenJS</cp:lastModifiedBy>
  <cp:revision>1</cp:revision>
  <dcterms:created xsi:type="dcterms:W3CDTF">2026-06-03T22:33:09Z</dcterms:created>
  <dcterms:modified xsi:type="dcterms:W3CDTF">2026-06-03T22:33:09Z</dcterms:modified>
</cp:coreProperties>
</file>